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Open Sans Bold" charset="1" panose="00000000000000000000"/>
      <p:regular r:id="rId24"/>
    </p:embeddedFont>
    <p:embeddedFont>
      <p:font typeface="Open Sans" charset="1" panose="00000000000000000000"/>
      <p:regular r:id="rId25"/>
    </p:embeddedFont>
    <p:embeddedFont>
      <p:font typeface="DM Sans" charset="1" panose="00000000000000000000"/>
      <p:regular r:id="rId26"/>
    </p:embeddedFont>
    <p:embeddedFont>
      <p:font typeface="Times New Roman MT Bold" charset="1" panose="02030802070405020303"/>
      <p:regular r:id="rId27"/>
    </p:embeddedFont>
    <p:embeddedFont>
      <p:font typeface="Times New Roman MT" charset="1" panose="02030502070405020303"/>
      <p:regular r:id="rId28"/>
    </p:embeddedFont>
    <p:embeddedFont>
      <p:font typeface="Times New Roman MT Italics" charset="1" panose="02030502070405090303"/>
      <p:regular r:id="rId29"/>
    </p:embeddedFont>
    <p:embeddedFont>
      <p:font typeface="Times New Roman MT Bold Italics" charset="1" panose="02030802070405090303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800960">
            <a:off x="13825118" y="2733675"/>
            <a:ext cx="2250653" cy="0"/>
          </a:xfrm>
          <a:prstGeom prst="line">
            <a:avLst/>
          </a:prstGeom>
          <a:ln cap="rnd" w="19050">
            <a:solidFill>
              <a:srgbClr val="2B429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-3365100">
            <a:off x="14353022" y="4105275"/>
            <a:ext cx="2017795" cy="0"/>
          </a:xfrm>
          <a:prstGeom prst="line">
            <a:avLst/>
          </a:prstGeom>
          <a:ln cap="rnd" w="19050">
            <a:solidFill>
              <a:srgbClr val="2B429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1416180">
            <a:off x="14710029" y="5339715"/>
            <a:ext cx="2126732" cy="0"/>
          </a:xfrm>
          <a:prstGeom prst="line">
            <a:avLst/>
          </a:prstGeom>
          <a:ln cap="rnd" w="19050">
            <a:solidFill>
              <a:srgbClr val="2B429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-418740">
            <a:off x="13139652" y="5956935"/>
            <a:ext cx="3621567" cy="0"/>
          </a:xfrm>
          <a:prstGeom prst="line">
            <a:avLst/>
          </a:prstGeom>
          <a:ln cap="rnd" w="19050">
            <a:solidFill>
              <a:srgbClr val="2B429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1932240">
            <a:off x="12950981" y="6848475"/>
            <a:ext cx="2627319" cy="0"/>
          </a:xfrm>
          <a:prstGeom prst="line">
            <a:avLst/>
          </a:prstGeom>
          <a:ln cap="rnd" w="19050">
            <a:solidFill>
              <a:srgbClr val="2B429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-4507680">
            <a:off x="13121335" y="4653915"/>
            <a:ext cx="5989939" cy="0"/>
          </a:xfrm>
          <a:prstGeom prst="line">
            <a:avLst/>
          </a:prstGeom>
          <a:ln cap="rnd" w="19050">
            <a:solidFill>
              <a:srgbClr val="2B429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3716000" y="1920240"/>
            <a:ext cx="548640" cy="548640"/>
            <a:chOff x="0" y="0"/>
            <a:chExt cx="73152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7FA2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636240" y="3017520"/>
            <a:ext cx="548640" cy="548640"/>
            <a:chOff x="0" y="0"/>
            <a:chExt cx="73152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4FD1C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538960" y="4663440"/>
            <a:ext cx="548640" cy="548640"/>
            <a:chOff x="0" y="0"/>
            <a:chExt cx="73152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FB7185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59200" y="5486400"/>
            <a:ext cx="548640" cy="548640"/>
            <a:chOff x="0" y="0"/>
            <a:chExt cx="73152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FBBF24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893040" y="5897880"/>
            <a:ext cx="548640" cy="548640"/>
            <a:chOff x="0" y="0"/>
            <a:chExt cx="73152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4FD1C5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087600" y="7269480"/>
            <a:ext cx="548640" cy="548640"/>
            <a:chOff x="0" y="0"/>
            <a:chExt cx="73152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7FA2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6596360" y="1508760"/>
            <a:ext cx="548640" cy="548640"/>
            <a:chOff x="0" y="0"/>
            <a:chExt cx="73152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FB7185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03910" y="611505"/>
            <a:ext cx="3036570" cy="567690"/>
            <a:chOff x="0" y="0"/>
            <a:chExt cx="4048760" cy="7569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048760" cy="756920"/>
            </a:xfrm>
            <a:custGeom>
              <a:avLst/>
              <a:gdLst/>
              <a:ahLst/>
              <a:cxnLst/>
              <a:rect r="r" b="b" t="t" l="l"/>
              <a:pathLst>
                <a:path h="756920" w="404876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lnTo>
                    <a:pt x="3670300" y="0"/>
                  </a:lnTo>
                  <a:cubicBezTo>
                    <a:pt x="3879342" y="0"/>
                    <a:pt x="4048760" y="169418"/>
                    <a:pt x="4048760" y="378460"/>
                  </a:cubicBezTo>
                  <a:cubicBezTo>
                    <a:pt x="4048760" y="587502"/>
                    <a:pt x="3879342" y="756920"/>
                    <a:pt x="3670300" y="756920"/>
                  </a:cubicBezTo>
                  <a:lnTo>
                    <a:pt x="378460" y="756920"/>
                  </a:ln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solidFill>
              <a:srgbClr val="12286B"/>
            </a:solidFill>
            <a:ln w="19050" cap="sq">
              <a:solidFill>
                <a:srgbClr val="7FA2FF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822960" y="611505"/>
            <a:ext cx="3017520" cy="548640"/>
            <a:chOff x="0" y="0"/>
            <a:chExt cx="402336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23360" cy="731520"/>
            </a:xfrm>
            <a:custGeom>
              <a:avLst/>
              <a:gdLst/>
              <a:ahLst/>
              <a:cxnLst/>
              <a:rect r="r" b="b" t="t" l="l"/>
              <a:pathLst>
                <a:path h="73152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9525"/>
              <a:ext cx="4023360" cy="721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 spc="45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SAMSUNG PRISM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822960" y="1655445"/>
            <a:ext cx="109728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300">
                <a:solidFill>
                  <a:srgbClr val="4FD1C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GENERATIVE AI HACKATHON  ·  3RD EDITION  ·  2026–27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22960" y="2400300"/>
            <a:ext cx="5878592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9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Streaming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22960" y="3703320"/>
            <a:ext cx="4987886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9000" b="true">
                <a:solidFill>
                  <a:srgbClr val="7FA2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Live RAG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22960" y="5280660"/>
            <a:ext cx="116586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4FD1C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Retrieve before the user finishes speaking.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22960" y="5966460"/>
            <a:ext cx="1138428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C9C4C4"/>
                </a:solidFill>
                <a:latin typeface="Open Sans"/>
                <a:ea typeface="Open Sans"/>
                <a:cs typeface="Open Sans"/>
                <a:sym typeface="Open Sans"/>
              </a:rPr>
              <a:t>A latency-aware, multi-intent, session-refining RAG pipeline for conversational AI.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22960" y="7269480"/>
            <a:ext cx="12344400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44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Theme 04 · Streaming Live RAG</a:t>
            </a:r>
          </a:p>
          <a:p>
            <a:pPr algn="l">
              <a:lnSpc>
                <a:spcPts val="2939"/>
              </a:lnSpc>
            </a:pPr>
            <a:r>
              <a:rPr lang="en-US" sz="244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Team Cracked Code  ·  VIT Vellore</a:t>
            </a:r>
          </a:p>
          <a:p>
            <a:pPr algn="l">
              <a:lnSpc>
                <a:spcPts val="2939"/>
              </a:lnSpc>
            </a:pPr>
            <a:r>
              <a:rPr lang="en-US" sz="244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Pallavi Yadav  ·  Merril Baiju  ·  Abdur Rahuman  ·  Gowdham B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22960" y="9052560"/>
            <a:ext cx="1234440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 b="true">
                <a:solidFill>
                  <a:srgbClr val="FBBF2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73 tests passing  ·  100% Recall@10  ·  0% fabricated citations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48640"/>
            <a:ext cx="12344400" cy="411480"/>
            <a:chOff x="0" y="0"/>
            <a:chExt cx="164592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459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b="true" sz="1899" spc="474">
                  <a:solidFill>
                    <a:srgbClr val="0F766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01 · THE PROBLEM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596360" cy="965200"/>
            <a:chOff x="0" y="0"/>
            <a:chExt cx="22128480" cy="1286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286933"/>
            </a:xfrm>
            <a:custGeom>
              <a:avLst/>
              <a:gdLst/>
              <a:ahLst/>
              <a:cxnLst/>
              <a:rect r="r" b="b" t="t" l="l"/>
              <a:pathLst>
                <a:path h="1286933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286933"/>
                  </a:lnTo>
                  <a:lnTo>
                    <a:pt x="0" y="128693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5303" r="0" b="-28477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22128480" cy="13821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99"/>
                </a:lnSpc>
              </a:pPr>
              <a:r>
                <a:rPr lang="en-US" sz="4999" b="true">
                  <a:solidFill>
                    <a:srgbClr val="0F1B3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Conversation is continuous. Retrieval is not.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1988820"/>
            <a:ext cx="16596360" cy="548640"/>
            <a:chOff x="0" y="0"/>
            <a:chExt cx="2212848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212848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9"/>
                </a:lnSpc>
              </a:pPr>
              <a:r>
                <a:rPr lang="en-US" sz="2349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A real user speaks one natural request, not a tidy query. Details arrive mid-flow and every answer must stay grounded.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9669780"/>
            <a:ext cx="13716000" cy="342900"/>
            <a:chOff x="0" y="0"/>
            <a:chExt cx="18288000" cy="457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88000" cy="457200"/>
            </a:xfrm>
            <a:custGeom>
              <a:avLst/>
              <a:gdLst/>
              <a:ahLst/>
              <a:cxnLst/>
              <a:rect r="r" b="b" t="t" l="l"/>
              <a:pathLst>
                <a:path h="457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9401" r="0" b="-72940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8288000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699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SAMSUNG PRISM GenAI Hackathon  ·  Theme 04 Streaming Live RAG  ·  Team Cracked Code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596360" y="9669780"/>
            <a:ext cx="864108" cy="342900"/>
            <a:chOff x="0" y="0"/>
            <a:chExt cx="1152144" cy="457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52144" cy="457200"/>
            </a:xfrm>
            <a:custGeom>
              <a:avLst/>
              <a:gdLst/>
              <a:ahLst/>
              <a:cxnLst/>
              <a:rect r="r" b="b" t="t" l="l"/>
              <a:pathLst>
                <a:path h="457200" w="1152144">
                  <a:moveTo>
                    <a:pt x="0" y="0"/>
                  </a:moveTo>
                  <a:lnTo>
                    <a:pt x="1152144" y="0"/>
                  </a:lnTo>
                  <a:lnTo>
                    <a:pt x="115214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14" t="0" r="-914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152144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19"/>
                </a:lnSpc>
              </a:pPr>
              <a:r>
                <a:rPr lang="en-US" sz="1599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2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822960" y="2773680"/>
            <a:ext cx="274320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749" spc="318">
                <a:solidFill>
                  <a:srgbClr val="C2334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ORDINARY RAG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22960" y="3223260"/>
            <a:ext cx="7406640" cy="685800"/>
            <a:chOff x="0" y="0"/>
            <a:chExt cx="9875520" cy="914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875520" cy="914400"/>
            </a:xfrm>
            <a:custGeom>
              <a:avLst/>
              <a:gdLst/>
              <a:ahLst/>
              <a:cxnLst/>
              <a:rect r="r" b="b" t="t" l="l"/>
              <a:pathLst>
                <a:path h="914400" w="9875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9729216" y="0"/>
                  </a:lnTo>
                  <a:cubicBezTo>
                    <a:pt x="9809988" y="0"/>
                    <a:pt x="9875520" y="65532"/>
                    <a:pt x="9875520" y="146304"/>
                  </a:cubicBezTo>
                  <a:lnTo>
                    <a:pt x="9875520" y="768096"/>
                  </a:lnTo>
                  <a:cubicBezTo>
                    <a:pt x="9875520" y="848868"/>
                    <a:pt x="9809988" y="914400"/>
                    <a:pt x="9729216" y="914400"/>
                  </a:cubicBezTo>
                  <a:lnTo>
                    <a:pt x="146304" y="914400"/>
                  </a:lnTo>
                  <a:cubicBezTo>
                    <a:pt x="65532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D5DDEB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22960" y="3223260"/>
            <a:ext cx="7406640" cy="685800"/>
            <a:chOff x="0" y="0"/>
            <a:chExt cx="9875520" cy="91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875520" cy="914400"/>
            </a:xfrm>
            <a:custGeom>
              <a:avLst/>
              <a:gdLst/>
              <a:ahLst/>
              <a:cxnLst/>
              <a:rect r="r" b="b" t="t" l="l"/>
              <a:pathLst>
                <a:path h="91440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0438" r="0" b="-16043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87552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user speaking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3223260"/>
            <a:ext cx="7406640" cy="685800"/>
            <a:chOff x="0" y="0"/>
            <a:chExt cx="9875520" cy="914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875520" cy="914400"/>
            </a:xfrm>
            <a:custGeom>
              <a:avLst/>
              <a:gdLst/>
              <a:ahLst/>
              <a:cxnLst/>
              <a:rect r="r" b="b" t="t" l="l"/>
              <a:pathLst>
                <a:path h="91440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6DA7A3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87552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0F1B3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user speaking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229600" y="3223260"/>
            <a:ext cx="4114800" cy="685800"/>
            <a:chOff x="0" y="0"/>
            <a:chExt cx="5486400" cy="914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914400"/>
            </a:xfrm>
            <a:custGeom>
              <a:avLst/>
              <a:gdLst/>
              <a:ahLst/>
              <a:cxnLst/>
              <a:rect r="r" b="b" t="t" l="l"/>
              <a:pathLst>
                <a:path h="914400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768096"/>
                  </a:lnTo>
                  <a:cubicBezTo>
                    <a:pt x="5486400" y="848868"/>
                    <a:pt x="5420868" y="914400"/>
                    <a:pt x="5340096" y="914400"/>
                  </a:cubicBezTo>
                  <a:lnTo>
                    <a:pt x="146304" y="914400"/>
                  </a:lnTo>
                  <a:cubicBezTo>
                    <a:pt x="65532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C2334D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229600" y="3223260"/>
            <a:ext cx="4114800" cy="685800"/>
            <a:chOff x="0" y="0"/>
            <a:chExt cx="5486400" cy="914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486400" cy="914400"/>
            </a:xfrm>
            <a:custGeom>
              <a:avLst/>
              <a:gdLst/>
              <a:ahLst/>
              <a:cxnLst/>
              <a:rect r="r" b="b" t="t" l="l"/>
              <a:pathLst>
                <a:path h="914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54864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retrieve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344400" y="3223260"/>
            <a:ext cx="5074920" cy="685800"/>
            <a:chOff x="0" y="0"/>
            <a:chExt cx="6766560" cy="914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766561" cy="914400"/>
            </a:xfrm>
            <a:custGeom>
              <a:avLst/>
              <a:gdLst/>
              <a:ahLst/>
              <a:cxnLst/>
              <a:rect r="r" b="b" t="t" l="l"/>
              <a:pathLst>
                <a:path h="914400" w="676656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620256" y="0"/>
                  </a:lnTo>
                  <a:cubicBezTo>
                    <a:pt x="6701028" y="0"/>
                    <a:pt x="6766561" y="65532"/>
                    <a:pt x="6766561" y="146304"/>
                  </a:cubicBezTo>
                  <a:lnTo>
                    <a:pt x="6766561" y="768096"/>
                  </a:lnTo>
                  <a:cubicBezTo>
                    <a:pt x="6766561" y="848868"/>
                    <a:pt x="6701028" y="914400"/>
                    <a:pt x="6620256" y="914400"/>
                  </a:cubicBezTo>
                  <a:lnTo>
                    <a:pt x="146304" y="914400"/>
                  </a:lnTo>
                  <a:cubicBezTo>
                    <a:pt x="65532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1428A0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605381" y="3223260"/>
            <a:ext cx="4813939" cy="685800"/>
            <a:chOff x="0" y="0"/>
            <a:chExt cx="6418585" cy="914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418585" cy="914400"/>
            </a:xfrm>
            <a:custGeom>
              <a:avLst/>
              <a:gdLst/>
              <a:ahLst/>
              <a:cxnLst/>
              <a:rect r="r" b="b" t="t" l="l"/>
              <a:pathLst>
                <a:path h="914400" w="6418585">
                  <a:moveTo>
                    <a:pt x="0" y="0"/>
                  </a:moveTo>
                  <a:lnTo>
                    <a:pt x="6418585" y="0"/>
                  </a:lnTo>
                  <a:lnTo>
                    <a:pt x="6418585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4189" r="-5421" b="-94189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6418585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generate + answer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822960" y="4145280"/>
            <a:ext cx="274320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749" spc="318">
                <a:solidFill>
                  <a:srgbClr val="0F766E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OUR SYSTEM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822960" y="4594860"/>
            <a:ext cx="7406640" cy="685800"/>
            <a:chOff x="0" y="0"/>
            <a:chExt cx="9875520" cy="914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875520" cy="914400"/>
            </a:xfrm>
            <a:custGeom>
              <a:avLst/>
              <a:gdLst/>
              <a:ahLst/>
              <a:cxnLst/>
              <a:rect r="r" b="b" t="t" l="l"/>
              <a:pathLst>
                <a:path h="914400" w="9875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9729216" y="0"/>
                  </a:lnTo>
                  <a:cubicBezTo>
                    <a:pt x="9809988" y="0"/>
                    <a:pt x="9875520" y="65532"/>
                    <a:pt x="9875520" y="146304"/>
                  </a:cubicBezTo>
                  <a:lnTo>
                    <a:pt x="9875520" y="768096"/>
                  </a:lnTo>
                  <a:cubicBezTo>
                    <a:pt x="9875520" y="848868"/>
                    <a:pt x="9809988" y="914400"/>
                    <a:pt x="9729216" y="914400"/>
                  </a:cubicBezTo>
                  <a:lnTo>
                    <a:pt x="146304" y="914400"/>
                  </a:lnTo>
                  <a:cubicBezTo>
                    <a:pt x="65532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D5DDEB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822960" y="4594860"/>
            <a:ext cx="7406640" cy="685800"/>
            <a:chOff x="0" y="0"/>
            <a:chExt cx="9875520" cy="914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875520" cy="914400"/>
            </a:xfrm>
            <a:custGeom>
              <a:avLst/>
              <a:gdLst/>
              <a:ahLst/>
              <a:cxnLst/>
              <a:rect r="r" b="b" t="t" l="l"/>
              <a:pathLst>
                <a:path h="91440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6DA7A3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987552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0F1B3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user speaking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4114800" y="5349240"/>
            <a:ext cx="4114800" cy="685800"/>
            <a:chOff x="0" y="0"/>
            <a:chExt cx="5486400" cy="914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486400" cy="914400"/>
            </a:xfrm>
            <a:custGeom>
              <a:avLst/>
              <a:gdLst/>
              <a:ahLst/>
              <a:cxnLst/>
              <a:rect r="r" b="b" t="t" l="l"/>
              <a:pathLst>
                <a:path h="914400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768096"/>
                  </a:lnTo>
                  <a:cubicBezTo>
                    <a:pt x="5486400" y="848868"/>
                    <a:pt x="5420868" y="914400"/>
                    <a:pt x="5340096" y="914400"/>
                  </a:cubicBezTo>
                  <a:lnTo>
                    <a:pt x="146304" y="914400"/>
                  </a:lnTo>
                  <a:cubicBezTo>
                    <a:pt x="65532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0F766E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4114800" y="5349240"/>
            <a:ext cx="4114800" cy="685800"/>
            <a:chOff x="0" y="0"/>
            <a:chExt cx="5486400" cy="914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486400" cy="914400"/>
            </a:xfrm>
            <a:custGeom>
              <a:avLst/>
              <a:gdLst/>
              <a:ahLst/>
              <a:cxnLst/>
              <a:rect r="r" b="b" t="t" l="l"/>
              <a:pathLst>
                <a:path h="914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54864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retrieving while speaking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229600" y="4594860"/>
            <a:ext cx="4114800" cy="685800"/>
            <a:chOff x="0" y="0"/>
            <a:chExt cx="5486400" cy="914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486400" cy="914400"/>
            </a:xfrm>
            <a:custGeom>
              <a:avLst/>
              <a:gdLst/>
              <a:ahLst/>
              <a:cxnLst/>
              <a:rect r="r" b="b" t="t" l="l"/>
              <a:pathLst>
                <a:path h="914400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768096"/>
                  </a:lnTo>
                  <a:cubicBezTo>
                    <a:pt x="5486400" y="848868"/>
                    <a:pt x="5420868" y="914400"/>
                    <a:pt x="5340096" y="914400"/>
                  </a:cubicBezTo>
                  <a:lnTo>
                    <a:pt x="146304" y="914400"/>
                  </a:lnTo>
                  <a:cubicBezTo>
                    <a:pt x="65532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1428A0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8229600" y="4594860"/>
            <a:ext cx="4114800" cy="685800"/>
            <a:chOff x="0" y="0"/>
            <a:chExt cx="5486400" cy="9144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486400" cy="914400"/>
            </a:xfrm>
            <a:custGeom>
              <a:avLst/>
              <a:gdLst/>
              <a:ahLst/>
              <a:cxnLst/>
              <a:rect r="r" b="b" t="t" l="l"/>
              <a:pathLst>
                <a:path h="914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54864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answer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822960" y="6124575"/>
            <a:ext cx="164592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9"/>
              </a:lnSpc>
            </a:pPr>
            <a:r>
              <a:rPr lang="en-US" sz="1949" i="true">
                <a:solidFill>
                  <a:srgbClr val="242936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Illustrative timeline. Speculative retrieval fires once intent is stable (7.9 ms in a logged run), so synthesis starts the moment speech ends.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815816" y="6850856"/>
            <a:ext cx="3991928" cy="2551748"/>
            <a:chOff x="0" y="0"/>
            <a:chExt cx="5322570" cy="340233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322570" cy="3402330"/>
            </a:xfrm>
            <a:custGeom>
              <a:avLst/>
              <a:gdLst/>
              <a:ahLst/>
              <a:cxnLst/>
              <a:rect r="r" b="b" t="t" l="l"/>
              <a:pathLst>
                <a:path h="3402330" w="532257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5101844" y="0"/>
                  </a:lnTo>
                  <a:cubicBezTo>
                    <a:pt x="5223764" y="0"/>
                    <a:pt x="5322570" y="98806"/>
                    <a:pt x="5322570" y="220726"/>
                  </a:cubicBezTo>
                  <a:lnTo>
                    <a:pt x="5322570" y="3181604"/>
                  </a:lnTo>
                  <a:cubicBezTo>
                    <a:pt x="5322570" y="3303524"/>
                    <a:pt x="5223764" y="3402330"/>
                    <a:pt x="5101844" y="3402330"/>
                  </a:cubicBezTo>
                  <a:lnTo>
                    <a:pt x="220726" y="3402330"/>
                  </a:lnTo>
                  <a:cubicBezTo>
                    <a:pt x="98806" y="3402330"/>
                    <a:pt x="0" y="3303524"/>
                    <a:pt x="0" y="318160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097280" y="7132320"/>
            <a:ext cx="576072" cy="576072"/>
            <a:chOff x="0" y="0"/>
            <a:chExt cx="768096" cy="76809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C2334D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097280" y="7132320"/>
            <a:ext cx="576072" cy="576072"/>
            <a:chOff x="0" y="0"/>
            <a:chExt cx="768096" cy="76809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1</a:t>
              </a: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1097280" y="7829550"/>
            <a:ext cx="342900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9"/>
              </a:lnSpc>
            </a:pPr>
            <a:r>
              <a:rPr lang="en-US" sz="2349" b="true">
                <a:solidFill>
                  <a:srgbClr val="0F1B3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High latency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097280" y="8424672"/>
            <a:ext cx="342900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9"/>
              </a:lnSpc>
            </a:pPr>
            <a:r>
              <a:rPr lang="en-US" sz="1974">
                <a:solidFill>
                  <a:srgbClr val="55627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Search, ranking and generation all begin only after the user stops speaking.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4999196" y="6850856"/>
            <a:ext cx="3991928" cy="2551748"/>
            <a:chOff x="0" y="0"/>
            <a:chExt cx="5322570" cy="340233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322570" cy="3402330"/>
            </a:xfrm>
            <a:custGeom>
              <a:avLst/>
              <a:gdLst/>
              <a:ahLst/>
              <a:cxnLst/>
              <a:rect r="r" b="b" t="t" l="l"/>
              <a:pathLst>
                <a:path h="3402330" w="532257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5101844" y="0"/>
                  </a:lnTo>
                  <a:cubicBezTo>
                    <a:pt x="5223764" y="0"/>
                    <a:pt x="5322570" y="98806"/>
                    <a:pt x="5322570" y="220726"/>
                  </a:cubicBezTo>
                  <a:lnTo>
                    <a:pt x="5322570" y="3181604"/>
                  </a:lnTo>
                  <a:cubicBezTo>
                    <a:pt x="5322570" y="3303524"/>
                    <a:pt x="5223764" y="3402330"/>
                    <a:pt x="5101844" y="3402330"/>
                  </a:cubicBezTo>
                  <a:lnTo>
                    <a:pt x="220726" y="3402330"/>
                  </a:lnTo>
                  <a:cubicBezTo>
                    <a:pt x="98806" y="3402330"/>
                    <a:pt x="0" y="3303524"/>
                    <a:pt x="0" y="318160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5280660" y="7132320"/>
            <a:ext cx="576072" cy="576072"/>
            <a:chOff x="0" y="0"/>
            <a:chExt cx="768096" cy="76809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B45309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5280660" y="7132320"/>
            <a:ext cx="576072" cy="576072"/>
            <a:chOff x="0" y="0"/>
            <a:chExt cx="768096" cy="76809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2</a:t>
              </a:r>
            </a:p>
          </p:txBody>
        </p:sp>
      </p:grpSp>
      <p:sp>
        <p:nvSpPr>
          <p:cNvPr name="TextBox 69" id="69"/>
          <p:cNvSpPr txBox="true"/>
          <p:nvPr/>
        </p:nvSpPr>
        <p:spPr>
          <a:xfrm rot="0">
            <a:off x="5280660" y="7829550"/>
            <a:ext cx="342900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9"/>
              </a:lnSpc>
            </a:pPr>
            <a:r>
              <a:rPr lang="en-US" sz="2349" b="true">
                <a:solidFill>
                  <a:srgbClr val="0F1B3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Compound intents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5280660" y="8424672"/>
            <a:ext cx="342900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9"/>
              </a:lnSpc>
            </a:pPr>
            <a:r>
              <a:rPr lang="en-US" sz="1974">
                <a:solidFill>
                  <a:srgbClr val="55627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Venue, cancellation and catering in one breath; a single query flattens them.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9182576" y="6850856"/>
            <a:ext cx="3991928" cy="2551748"/>
            <a:chOff x="0" y="0"/>
            <a:chExt cx="5322570" cy="340233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322570" cy="3402330"/>
            </a:xfrm>
            <a:custGeom>
              <a:avLst/>
              <a:gdLst/>
              <a:ahLst/>
              <a:cxnLst/>
              <a:rect r="r" b="b" t="t" l="l"/>
              <a:pathLst>
                <a:path h="3402330" w="532257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5101844" y="0"/>
                  </a:lnTo>
                  <a:cubicBezTo>
                    <a:pt x="5223764" y="0"/>
                    <a:pt x="5322570" y="98806"/>
                    <a:pt x="5322570" y="220726"/>
                  </a:cubicBezTo>
                  <a:lnTo>
                    <a:pt x="5322570" y="3181604"/>
                  </a:lnTo>
                  <a:cubicBezTo>
                    <a:pt x="5322570" y="3303524"/>
                    <a:pt x="5223764" y="3402330"/>
                    <a:pt x="5101844" y="3402330"/>
                  </a:cubicBezTo>
                  <a:lnTo>
                    <a:pt x="220726" y="3402330"/>
                  </a:lnTo>
                  <a:cubicBezTo>
                    <a:pt x="98806" y="3402330"/>
                    <a:pt x="0" y="3303524"/>
                    <a:pt x="0" y="318160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9464040" y="7132320"/>
            <a:ext cx="576072" cy="576072"/>
            <a:chOff x="0" y="0"/>
            <a:chExt cx="768096" cy="76809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0F766E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9464040" y="7132320"/>
            <a:ext cx="576072" cy="576072"/>
            <a:chOff x="0" y="0"/>
            <a:chExt cx="768096" cy="76809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3</a:t>
              </a:r>
            </a:p>
          </p:txBody>
        </p:sp>
      </p:grpSp>
      <p:sp>
        <p:nvSpPr>
          <p:cNvPr name="TextBox 78" id="78"/>
          <p:cNvSpPr txBox="true"/>
          <p:nvPr/>
        </p:nvSpPr>
        <p:spPr>
          <a:xfrm rot="0">
            <a:off x="9464040" y="7829550"/>
            <a:ext cx="342900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9"/>
              </a:lnSpc>
            </a:pPr>
            <a:r>
              <a:rPr lang="en-US" sz="2349" b="true">
                <a:solidFill>
                  <a:srgbClr val="0F1B3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Late constraints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9464040" y="8424672"/>
            <a:ext cx="342900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9"/>
              </a:lnSpc>
            </a:pPr>
            <a:r>
              <a:rPr lang="en-US" sz="1974">
                <a:solidFill>
                  <a:srgbClr val="55627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"Actually, the trip was international": refine the answer or restart?</a:t>
            </a:r>
          </a:p>
        </p:txBody>
      </p:sp>
      <p:grpSp>
        <p:nvGrpSpPr>
          <p:cNvPr name="Group 80" id="80"/>
          <p:cNvGrpSpPr/>
          <p:nvPr/>
        </p:nvGrpSpPr>
        <p:grpSpPr>
          <a:xfrm rot="0">
            <a:off x="13365956" y="6850856"/>
            <a:ext cx="3991928" cy="2551748"/>
            <a:chOff x="0" y="0"/>
            <a:chExt cx="5322570" cy="340233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322570" cy="3402330"/>
            </a:xfrm>
            <a:custGeom>
              <a:avLst/>
              <a:gdLst/>
              <a:ahLst/>
              <a:cxnLst/>
              <a:rect r="r" b="b" t="t" l="l"/>
              <a:pathLst>
                <a:path h="3402330" w="532257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5101844" y="0"/>
                  </a:lnTo>
                  <a:cubicBezTo>
                    <a:pt x="5223764" y="0"/>
                    <a:pt x="5322570" y="98806"/>
                    <a:pt x="5322570" y="220726"/>
                  </a:cubicBezTo>
                  <a:lnTo>
                    <a:pt x="5322570" y="3181604"/>
                  </a:lnTo>
                  <a:cubicBezTo>
                    <a:pt x="5322570" y="3303524"/>
                    <a:pt x="5223764" y="3402330"/>
                    <a:pt x="5101844" y="3402330"/>
                  </a:cubicBezTo>
                  <a:lnTo>
                    <a:pt x="220726" y="3402330"/>
                  </a:lnTo>
                  <a:cubicBezTo>
                    <a:pt x="98806" y="3402330"/>
                    <a:pt x="0" y="3303524"/>
                    <a:pt x="0" y="318160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13647420" y="7132320"/>
            <a:ext cx="576072" cy="576072"/>
            <a:chOff x="0" y="0"/>
            <a:chExt cx="768096" cy="76809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1428A0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3647420" y="7132320"/>
            <a:ext cx="576072" cy="576072"/>
            <a:chOff x="0" y="0"/>
            <a:chExt cx="768096" cy="768096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4</a:t>
              </a:r>
            </a:p>
          </p:txBody>
        </p:sp>
      </p:grpSp>
      <p:sp>
        <p:nvSpPr>
          <p:cNvPr name="TextBox 87" id="87"/>
          <p:cNvSpPr txBox="true"/>
          <p:nvPr/>
        </p:nvSpPr>
        <p:spPr>
          <a:xfrm rot="0">
            <a:off x="13647420" y="7829550"/>
            <a:ext cx="342900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9"/>
              </a:lnSpc>
            </a:pPr>
            <a:r>
              <a:rPr lang="en-US" sz="2349" b="true">
                <a:solidFill>
                  <a:srgbClr val="0F1B3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Grounding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3647420" y="8424672"/>
            <a:ext cx="342900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9"/>
              </a:lnSpc>
            </a:pPr>
            <a:r>
              <a:rPr lang="en-US" sz="1974">
                <a:solidFill>
                  <a:srgbClr val="55627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Every claim needs a corpus citation or an explicit uncertainty flag.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48640"/>
            <a:ext cx="12344400" cy="411480"/>
            <a:chOff x="0" y="0"/>
            <a:chExt cx="164592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459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b="true" sz="1899" spc="474">
                  <a:solidFill>
                    <a:srgbClr val="0F766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02 · EXISTING SOLUTIONS &amp; GAPS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596360" cy="988504"/>
            <a:chOff x="0" y="0"/>
            <a:chExt cx="22128480" cy="13180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318006"/>
            </a:xfrm>
            <a:custGeom>
              <a:avLst/>
              <a:gdLst/>
              <a:ahLst/>
              <a:cxnLst/>
              <a:rect r="r" b="b" t="t" l="l"/>
              <a:pathLst>
                <a:path h="1318006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318006"/>
                  </a:lnTo>
                  <a:lnTo>
                    <a:pt x="0" y="131800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577" r="0" b="-27570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22128480" cy="14227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19"/>
                </a:lnSpc>
              </a:pPr>
              <a:r>
                <a:rPr lang="en-US" sz="5099" b="true">
                  <a:solidFill>
                    <a:srgbClr val="0F1B3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Where today's approaches break, and our answer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1988820"/>
            <a:ext cx="16596360" cy="548640"/>
            <a:chOff x="0" y="0"/>
            <a:chExt cx="2212848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212848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9"/>
                </a:lnSpc>
              </a:pPr>
              <a:r>
                <a:rPr lang="en-US" sz="2349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Each gap maps to a concrete mechanism in the pipeline.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9669780"/>
            <a:ext cx="13716000" cy="342900"/>
            <a:chOff x="0" y="0"/>
            <a:chExt cx="18288000" cy="457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88000" cy="457200"/>
            </a:xfrm>
            <a:custGeom>
              <a:avLst/>
              <a:gdLst/>
              <a:ahLst/>
              <a:cxnLst/>
              <a:rect r="r" b="b" t="t" l="l"/>
              <a:pathLst>
                <a:path h="457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9401" r="0" b="-72940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8288000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699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SAMSUNG PRISM GenAI Hackathon  ·  Theme 04 Streaming Live RAG  ·  Team Cracked Code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596360" y="9669780"/>
            <a:ext cx="864108" cy="343281"/>
            <a:chOff x="0" y="0"/>
            <a:chExt cx="1152144" cy="45770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52144" cy="457708"/>
            </a:xfrm>
            <a:custGeom>
              <a:avLst/>
              <a:gdLst/>
              <a:ahLst/>
              <a:cxnLst/>
              <a:rect r="r" b="b" t="t" l="l"/>
              <a:pathLst>
                <a:path h="457708" w="1152144">
                  <a:moveTo>
                    <a:pt x="0" y="0"/>
                  </a:moveTo>
                  <a:lnTo>
                    <a:pt x="1152144" y="0"/>
                  </a:lnTo>
                  <a:lnTo>
                    <a:pt x="1152144" y="457708"/>
                  </a:lnTo>
                  <a:lnTo>
                    <a:pt x="0" y="4577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14" t="0" r="-914" b="11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152144" cy="4958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59"/>
                </a:lnSpc>
              </a:pPr>
              <a:r>
                <a:rPr lang="en-US" sz="1799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3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822960" y="2764155"/>
            <a:ext cx="493776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9"/>
              </a:lnSpc>
            </a:pPr>
            <a:r>
              <a:rPr lang="en-US" b="true" sz="1949" spc="354">
                <a:solidFill>
                  <a:srgbClr val="55627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EXISTING APPROACH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172200" y="2764155"/>
            <a:ext cx="493776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9"/>
              </a:lnSpc>
            </a:pPr>
            <a:r>
              <a:rPr lang="en-US" b="true" sz="1949" spc="354">
                <a:solidFill>
                  <a:srgbClr val="C2334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WHERE IT BREAKS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795760" y="2764155"/>
            <a:ext cx="493776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9"/>
              </a:lnSpc>
            </a:pPr>
            <a:r>
              <a:rPr lang="en-US" b="true" sz="1949" spc="354">
                <a:solidFill>
                  <a:srgbClr val="0F766E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OUR ANSWER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15816" y="3284696"/>
            <a:ext cx="5089208" cy="1042988"/>
            <a:chOff x="0" y="0"/>
            <a:chExt cx="6785610" cy="13906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785611" cy="1390650"/>
            </a:xfrm>
            <a:custGeom>
              <a:avLst/>
              <a:gdLst/>
              <a:ahLst/>
              <a:cxnLst/>
              <a:rect r="r" b="b" t="t" l="l"/>
              <a:pathLst>
                <a:path h="1390650" w="6785611">
                  <a:moveTo>
                    <a:pt x="0" y="222504"/>
                  </a:moveTo>
                  <a:cubicBezTo>
                    <a:pt x="0" y="99568"/>
                    <a:pt x="99568" y="0"/>
                    <a:pt x="222504" y="0"/>
                  </a:cubicBezTo>
                  <a:lnTo>
                    <a:pt x="6563106" y="0"/>
                  </a:lnTo>
                  <a:cubicBezTo>
                    <a:pt x="6686042" y="0"/>
                    <a:pt x="6785611" y="99568"/>
                    <a:pt x="6785611" y="222504"/>
                  </a:cubicBezTo>
                  <a:lnTo>
                    <a:pt x="6785611" y="1168146"/>
                  </a:lnTo>
                  <a:cubicBezTo>
                    <a:pt x="6785611" y="1291082"/>
                    <a:pt x="6686042" y="1390650"/>
                    <a:pt x="6563106" y="1390650"/>
                  </a:cubicBezTo>
                  <a:lnTo>
                    <a:pt x="222504" y="1390650"/>
                  </a:lnTo>
                  <a:cubicBezTo>
                    <a:pt x="99568" y="1390650"/>
                    <a:pt x="0" y="1291082"/>
                    <a:pt x="0" y="116814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097280" y="3291840"/>
            <a:ext cx="4663440" cy="1028700"/>
            <a:chOff x="0" y="0"/>
            <a:chExt cx="6217920" cy="1371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2179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332" r="0" b="-3833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621792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 b="true">
                  <a:solidFill>
                    <a:srgbClr val="0F1B3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Batch, turn-based RAG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165056" y="3284696"/>
            <a:ext cx="5363528" cy="1042988"/>
            <a:chOff x="0" y="0"/>
            <a:chExt cx="7151370" cy="13906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151370" cy="1390650"/>
            </a:xfrm>
            <a:custGeom>
              <a:avLst/>
              <a:gdLst/>
              <a:ahLst/>
              <a:cxnLst/>
              <a:rect r="r" b="b" t="t" l="l"/>
              <a:pathLst>
                <a:path h="1390650" w="7151370">
                  <a:moveTo>
                    <a:pt x="0" y="222504"/>
                  </a:moveTo>
                  <a:cubicBezTo>
                    <a:pt x="0" y="99568"/>
                    <a:pt x="99568" y="0"/>
                    <a:pt x="222504" y="0"/>
                  </a:cubicBezTo>
                  <a:lnTo>
                    <a:pt x="6928866" y="0"/>
                  </a:lnTo>
                  <a:cubicBezTo>
                    <a:pt x="7051802" y="0"/>
                    <a:pt x="7151370" y="99568"/>
                    <a:pt x="7151370" y="222504"/>
                  </a:cubicBezTo>
                  <a:lnTo>
                    <a:pt x="7151370" y="1168146"/>
                  </a:lnTo>
                  <a:cubicBezTo>
                    <a:pt x="7151370" y="1291082"/>
                    <a:pt x="7051802" y="1390650"/>
                    <a:pt x="6928866" y="1390650"/>
                  </a:cubicBezTo>
                  <a:lnTo>
                    <a:pt x="222504" y="1390650"/>
                  </a:lnTo>
                  <a:cubicBezTo>
                    <a:pt x="99568" y="1390650"/>
                    <a:pt x="0" y="1291082"/>
                    <a:pt x="0" y="116814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6446520" y="3291840"/>
            <a:ext cx="4800600" cy="1028700"/>
            <a:chOff x="0" y="0"/>
            <a:chExt cx="6400800" cy="1371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4008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640080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lang="en-US" sz="2174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Waits for end of speech: seconds of dead air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788616" y="3284696"/>
            <a:ext cx="5678996" cy="1042988"/>
            <a:chOff x="0" y="0"/>
            <a:chExt cx="7571994" cy="13906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571994" cy="1390650"/>
            </a:xfrm>
            <a:custGeom>
              <a:avLst/>
              <a:gdLst/>
              <a:ahLst/>
              <a:cxnLst/>
              <a:rect r="r" b="b" t="t" l="l"/>
              <a:pathLst>
                <a:path h="1390650" w="7571994">
                  <a:moveTo>
                    <a:pt x="0" y="222504"/>
                  </a:moveTo>
                  <a:cubicBezTo>
                    <a:pt x="0" y="99568"/>
                    <a:pt x="99568" y="0"/>
                    <a:pt x="222504" y="0"/>
                  </a:cubicBezTo>
                  <a:lnTo>
                    <a:pt x="7349490" y="0"/>
                  </a:lnTo>
                  <a:cubicBezTo>
                    <a:pt x="7472426" y="0"/>
                    <a:pt x="7571994" y="99568"/>
                    <a:pt x="7571994" y="222504"/>
                  </a:cubicBezTo>
                  <a:lnTo>
                    <a:pt x="7571994" y="1168146"/>
                  </a:lnTo>
                  <a:cubicBezTo>
                    <a:pt x="7571994" y="1291082"/>
                    <a:pt x="7472426" y="1390650"/>
                    <a:pt x="7349490" y="1390650"/>
                  </a:cubicBezTo>
                  <a:lnTo>
                    <a:pt x="222504" y="1390650"/>
                  </a:lnTo>
                  <a:cubicBezTo>
                    <a:pt x="99568" y="1390650"/>
                    <a:pt x="0" y="1291082"/>
                    <a:pt x="0" y="1168146"/>
                  </a:cubicBezTo>
                  <a:close/>
                </a:path>
              </a:pathLst>
            </a:custGeom>
            <a:solidFill>
              <a:srgbClr val="EAF0FB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2070080" y="3291840"/>
            <a:ext cx="5212080" cy="1028700"/>
            <a:chOff x="0" y="0"/>
            <a:chExt cx="6949440" cy="13716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949440" cy="1371600"/>
            </a:xfrm>
            <a:custGeom>
              <a:avLst/>
              <a:gdLst/>
              <a:ahLst/>
              <a:cxnLst/>
              <a:rect r="r" b="b" t="t" l="l"/>
              <a:pathLst>
                <a:path h="137160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724" r="0" b="-4872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694944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lang="en-US" sz="2174">
                  <a:solidFill>
                    <a:srgbClr val="0F1B3D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Controller: Wait / Retrieve / Suppress on partial transcripts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15816" y="4519136"/>
            <a:ext cx="5089208" cy="1042988"/>
            <a:chOff x="0" y="0"/>
            <a:chExt cx="6785610" cy="139065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785611" cy="1390650"/>
            </a:xfrm>
            <a:custGeom>
              <a:avLst/>
              <a:gdLst/>
              <a:ahLst/>
              <a:cxnLst/>
              <a:rect r="r" b="b" t="t" l="l"/>
              <a:pathLst>
                <a:path h="1390650" w="6785611">
                  <a:moveTo>
                    <a:pt x="0" y="222504"/>
                  </a:moveTo>
                  <a:cubicBezTo>
                    <a:pt x="0" y="99568"/>
                    <a:pt x="99568" y="0"/>
                    <a:pt x="222504" y="0"/>
                  </a:cubicBezTo>
                  <a:lnTo>
                    <a:pt x="6563106" y="0"/>
                  </a:lnTo>
                  <a:cubicBezTo>
                    <a:pt x="6686042" y="0"/>
                    <a:pt x="6785611" y="99568"/>
                    <a:pt x="6785611" y="222504"/>
                  </a:cubicBezTo>
                  <a:lnTo>
                    <a:pt x="6785611" y="1168146"/>
                  </a:lnTo>
                  <a:cubicBezTo>
                    <a:pt x="6785611" y="1291082"/>
                    <a:pt x="6686042" y="1390650"/>
                    <a:pt x="6563106" y="1390650"/>
                  </a:cubicBezTo>
                  <a:lnTo>
                    <a:pt x="222504" y="1390650"/>
                  </a:lnTo>
                  <a:cubicBezTo>
                    <a:pt x="99568" y="1390650"/>
                    <a:pt x="0" y="1291082"/>
                    <a:pt x="0" y="116814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097280" y="4526280"/>
            <a:ext cx="4663440" cy="1028700"/>
            <a:chOff x="0" y="0"/>
            <a:chExt cx="6217920" cy="13716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179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332" r="0" b="-3833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621792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 b="true">
                  <a:solidFill>
                    <a:srgbClr val="0F1B3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Single-query retrieval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165056" y="4519136"/>
            <a:ext cx="5363528" cy="1042988"/>
            <a:chOff x="0" y="0"/>
            <a:chExt cx="7151370" cy="139065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151370" cy="1390650"/>
            </a:xfrm>
            <a:custGeom>
              <a:avLst/>
              <a:gdLst/>
              <a:ahLst/>
              <a:cxnLst/>
              <a:rect r="r" b="b" t="t" l="l"/>
              <a:pathLst>
                <a:path h="1390650" w="7151370">
                  <a:moveTo>
                    <a:pt x="0" y="222504"/>
                  </a:moveTo>
                  <a:cubicBezTo>
                    <a:pt x="0" y="99568"/>
                    <a:pt x="99568" y="0"/>
                    <a:pt x="222504" y="0"/>
                  </a:cubicBezTo>
                  <a:lnTo>
                    <a:pt x="6928866" y="0"/>
                  </a:lnTo>
                  <a:cubicBezTo>
                    <a:pt x="7051802" y="0"/>
                    <a:pt x="7151370" y="99568"/>
                    <a:pt x="7151370" y="222504"/>
                  </a:cubicBezTo>
                  <a:lnTo>
                    <a:pt x="7151370" y="1168146"/>
                  </a:lnTo>
                  <a:cubicBezTo>
                    <a:pt x="7151370" y="1291082"/>
                    <a:pt x="7051802" y="1390650"/>
                    <a:pt x="6928866" y="1390650"/>
                  </a:cubicBezTo>
                  <a:lnTo>
                    <a:pt x="222504" y="1390650"/>
                  </a:lnTo>
                  <a:cubicBezTo>
                    <a:pt x="99568" y="1390650"/>
                    <a:pt x="0" y="1291082"/>
                    <a:pt x="0" y="116814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6446520" y="4526280"/>
            <a:ext cx="4800600" cy="1028700"/>
            <a:chOff x="0" y="0"/>
            <a:chExt cx="6400800" cy="13716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4008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640080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lang="en-US" sz="2174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Implied intents are diluted or dropped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788616" y="4519136"/>
            <a:ext cx="5678996" cy="1042988"/>
            <a:chOff x="0" y="0"/>
            <a:chExt cx="7571994" cy="139065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571994" cy="1390650"/>
            </a:xfrm>
            <a:custGeom>
              <a:avLst/>
              <a:gdLst/>
              <a:ahLst/>
              <a:cxnLst/>
              <a:rect r="r" b="b" t="t" l="l"/>
              <a:pathLst>
                <a:path h="1390650" w="7571994">
                  <a:moveTo>
                    <a:pt x="0" y="222504"/>
                  </a:moveTo>
                  <a:cubicBezTo>
                    <a:pt x="0" y="99568"/>
                    <a:pt x="99568" y="0"/>
                    <a:pt x="222504" y="0"/>
                  </a:cubicBezTo>
                  <a:lnTo>
                    <a:pt x="7349490" y="0"/>
                  </a:lnTo>
                  <a:cubicBezTo>
                    <a:pt x="7472426" y="0"/>
                    <a:pt x="7571994" y="99568"/>
                    <a:pt x="7571994" y="222504"/>
                  </a:cubicBezTo>
                  <a:lnTo>
                    <a:pt x="7571994" y="1168146"/>
                  </a:lnTo>
                  <a:cubicBezTo>
                    <a:pt x="7571994" y="1291082"/>
                    <a:pt x="7472426" y="1390650"/>
                    <a:pt x="7349490" y="1390650"/>
                  </a:cubicBezTo>
                  <a:lnTo>
                    <a:pt x="222504" y="1390650"/>
                  </a:lnTo>
                  <a:cubicBezTo>
                    <a:pt x="99568" y="1390650"/>
                    <a:pt x="0" y="1291082"/>
                    <a:pt x="0" y="1168146"/>
                  </a:cubicBezTo>
                  <a:close/>
                </a:path>
              </a:pathLst>
            </a:custGeom>
            <a:solidFill>
              <a:srgbClr val="EAF0FB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2070080" y="4526280"/>
            <a:ext cx="5212080" cy="1028700"/>
            <a:chOff x="0" y="0"/>
            <a:chExt cx="6949440" cy="13716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949440" cy="1371600"/>
            </a:xfrm>
            <a:custGeom>
              <a:avLst/>
              <a:gdLst/>
              <a:ahLst/>
              <a:cxnLst/>
              <a:rect r="r" b="b" t="t" l="l"/>
              <a:pathLst>
                <a:path h="137160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724" r="0" b="-4872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694944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lang="en-US" sz="2174">
                  <a:solidFill>
                    <a:srgbClr val="0F1B3D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Multi-intent decomposer + parallel retrieval + RRF fusion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15816" y="5753576"/>
            <a:ext cx="5089208" cy="1042988"/>
            <a:chOff x="0" y="0"/>
            <a:chExt cx="6785610" cy="139065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785611" cy="1390650"/>
            </a:xfrm>
            <a:custGeom>
              <a:avLst/>
              <a:gdLst/>
              <a:ahLst/>
              <a:cxnLst/>
              <a:rect r="r" b="b" t="t" l="l"/>
              <a:pathLst>
                <a:path h="1390650" w="6785611">
                  <a:moveTo>
                    <a:pt x="0" y="222504"/>
                  </a:moveTo>
                  <a:cubicBezTo>
                    <a:pt x="0" y="99568"/>
                    <a:pt x="99568" y="0"/>
                    <a:pt x="222504" y="0"/>
                  </a:cubicBezTo>
                  <a:lnTo>
                    <a:pt x="6563106" y="0"/>
                  </a:lnTo>
                  <a:cubicBezTo>
                    <a:pt x="6686042" y="0"/>
                    <a:pt x="6785611" y="99568"/>
                    <a:pt x="6785611" y="222504"/>
                  </a:cubicBezTo>
                  <a:lnTo>
                    <a:pt x="6785611" y="1168146"/>
                  </a:lnTo>
                  <a:cubicBezTo>
                    <a:pt x="6785611" y="1291082"/>
                    <a:pt x="6686042" y="1390650"/>
                    <a:pt x="6563106" y="1390650"/>
                  </a:cubicBezTo>
                  <a:lnTo>
                    <a:pt x="222504" y="1390650"/>
                  </a:lnTo>
                  <a:cubicBezTo>
                    <a:pt x="99568" y="1390650"/>
                    <a:pt x="0" y="1291082"/>
                    <a:pt x="0" y="116814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097280" y="5760720"/>
            <a:ext cx="4663440" cy="1028700"/>
            <a:chOff x="0" y="0"/>
            <a:chExt cx="6217920" cy="13716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2179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332" r="0" b="-3833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621792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 b="true">
                  <a:solidFill>
                    <a:srgbClr val="0F1B3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Restart on clarification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6165056" y="5753576"/>
            <a:ext cx="5363528" cy="1042988"/>
            <a:chOff x="0" y="0"/>
            <a:chExt cx="7151370" cy="139065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151370" cy="1390650"/>
            </a:xfrm>
            <a:custGeom>
              <a:avLst/>
              <a:gdLst/>
              <a:ahLst/>
              <a:cxnLst/>
              <a:rect r="r" b="b" t="t" l="l"/>
              <a:pathLst>
                <a:path h="1390650" w="7151370">
                  <a:moveTo>
                    <a:pt x="0" y="222504"/>
                  </a:moveTo>
                  <a:cubicBezTo>
                    <a:pt x="0" y="99568"/>
                    <a:pt x="99568" y="0"/>
                    <a:pt x="222504" y="0"/>
                  </a:cubicBezTo>
                  <a:lnTo>
                    <a:pt x="6928866" y="0"/>
                  </a:lnTo>
                  <a:cubicBezTo>
                    <a:pt x="7051802" y="0"/>
                    <a:pt x="7151370" y="99568"/>
                    <a:pt x="7151370" y="222504"/>
                  </a:cubicBezTo>
                  <a:lnTo>
                    <a:pt x="7151370" y="1168146"/>
                  </a:lnTo>
                  <a:cubicBezTo>
                    <a:pt x="7151370" y="1291082"/>
                    <a:pt x="7051802" y="1390650"/>
                    <a:pt x="6928866" y="1390650"/>
                  </a:cubicBezTo>
                  <a:lnTo>
                    <a:pt x="222504" y="1390650"/>
                  </a:lnTo>
                  <a:cubicBezTo>
                    <a:pt x="99568" y="1390650"/>
                    <a:pt x="0" y="1291082"/>
                    <a:pt x="0" y="116814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6446520" y="5760720"/>
            <a:ext cx="4800600" cy="1028700"/>
            <a:chOff x="0" y="0"/>
            <a:chExt cx="6400800" cy="13716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4008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640080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lang="en-US" sz="2174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Late detail discards context and doubles latency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1788616" y="5753576"/>
            <a:ext cx="5678996" cy="1042988"/>
            <a:chOff x="0" y="0"/>
            <a:chExt cx="7571994" cy="139065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571994" cy="1390650"/>
            </a:xfrm>
            <a:custGeom>
              <a:avLst/>
              <a:gdLst/>
              <a:ahLst/>
              <a:cxnLst/>
              <a:rect r="r" b="b" t="t" l="l"/>
              <a:pathLst>
                <a:path h="1390650" w="7571994">
                  <a:moveTo>
                    <a:pt x="0" y="222504"/>
                  </a:moveTo>
                  <a:cubicBezTo>
                    <a:pt x="0" y="99568"/>
                    <a:pt x="99568" y="0"/>
                    <a:pt x="222504" y="0"/>
                  </a:cubicBezTo>
                  <a:lnTo>
                    <a:pt x="7349490" y="0"/>
                  </a:lnTo>
                  <a:cubicBezTo>
                    <a:pt x="7472426" y="0"/>
                    <a:pt x="7571994" y="99568"/>
                    <a:pt x="7571994" y="222504"/>
                  </a:cubicBezTo>
                  <a:lnTo>
                    <a:pt x="7571994" y="1168146"/>
                  </a:lnTo>
                  <a:cubicBezTo>
                    <a:pt x="7571994" y="1291082"/>
                    <a:pt x="7472426" y="1390650"/>
                    <a:pt x="7349490" y="1390650"/>
                  </a:cubicBezTo>
                  <a:lnTo>
                    <a:pt x="222504" y="1390650"/>
                  </a:lnTo>
                  <a:cubicBezTo>
                    <a:pt x="99568" y="1390650"/>
                    <a:pt x="0" y="1291082"/>
                    <a:pt x="0" y="1168146"/>
                  </a:cubicBezTo>
                  <a:close/>
                </a:path>
              </a:pathLst>
            </a:custGeom>
            <a:solidFill>
              <a:srgbClr val="EAF0FB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2070080" y="5760720"/>
            <a:ext cx="5212080" cy="1028700"/>
            <a:chOff x="0" y="0"/>
            <a:chExt cx="6949440" cy="13716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949440" cy="1371600"/>
            </a:xfrm>
            <a:custGeom>
              <a:avLst/>
              <a:gdLst/>
              <a:ahLst/>
              <a:cxnLst/>
              <a:rect r="r" b="b" t="t" l="l"/>
              <a:pathLst>
                <a:path h="137160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724" r="0" b="-4872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694944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lang="en-US" sz="2174">
                  <a:solidFill>
                    <a:srgbClr val="0F1B3D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Delta retrieval; ledger supersedes only affected claims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815816" y="6988016"/>
            <a:ext cx="5089208" cy="1042988"/>
            <a:chOff x="0" y="0"/>
            <a:chExt cx="6785610" cy="139065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785611" cy="1390650"/>
            </a:xfrm>
            <a:custGeom>
              <a:avLst/>
              <a:gdLst/>
              <a:ahLst/>
              <a:cxnLst/>
              <a:rect r="r" b="b" t="t" l="l"/>
              <a:pathLst>
                <a:path h="1390650" w="6785611">
                  <a:moveTo>
                    <a:pt x="0" y="222504"/>
                  </a:moveTo>
                  <a:cubicBezTo>
                    <a:pt x="0" y="99568"/>
                    <a:pt x="99568" y="0"/>
                    <a:pt x="222504" y="0"/>
                  </a:cubicBezTo>
                  <a:lnTo>
                    <a:pt x="6563106" y="0"/>
                  </a:lnTo>
                  <a:cubicBezTo>
                    <a:pt x="6686042" y="0"/>
                    <a:pt x="6785611" y="99568"/>
                    <a:pt x="6785611" y="222504"/>
                  </a:cubicBezTo>
                  <a:lnTo>
                    <a:pt x="6785611" y="1168146"/>
                  </a:lnTo>
                  <a:cubicBezTo>
                    <a:pt x="6785611" y="1291082"/>
                    <a:pt x="6686042" y="1390650"/>
                    <a:pt x="6563106" y="1390650"/>
                  </a:cubicBezTo>
                  <a:lnTo>
                    <a:pt x="222504" y="1390650"/>
                  </a:lnTo>
                  <a:cubicBezTo>
                    <a:pt x="99568" y="1390650"/>
                    <a:pt x="0" y="1291082"/>
                    <a:pt x="0" y="116814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1097280" y="6995160"/>
            <a:ext cx="4663440" cy="1028700"/>
            <a:chOff x="0" y="0"/>
            <a:chExt cx="6217920" cy="13716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2179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332" r="0" b="-38332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621792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 b="true">
                  <a:solidFill>
                    <a:srgbClr val="0F1B3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Trusted citations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6165056" y="6988016"/>
            <a:ext cx="5363528" cy="1042988"/>
            <a:chOff x="0" y="0"/>
            <a:chExt cx="7151370" cy="139065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151370" cy="1390650"/>
            </a:xfrm>
            <a:custGeom>
              <a:avLst/>
              <a:gdLst/>
              <a:ahLst/>
              <a:cxnLst/>
              <a:rect r="r" b="b" t="t" l="l"/>
              <a:pathLst>
                <a:path h="1390650" w="7151370">
                  <a:moveTo>
                    <a:pt x="0" y="222504"/>
                  </a:moveTo>
                  <a:cubicBezTo>
                    <a:pt x="0" y="99568"/>
                    <a:pt x="99568" y="0"/>
                    <a:pt x="222504" y="0"/>
                  </a:cubicBezTo>
                  <a:lnTo>
                    <a:pt x="6928866" y="0"/>
                  </a:lnTo>
                  <a:cubicBezTo>
                    <a:pt x="7051802" y="0"/>
                    <a:pt x="7151370" y="99568"/>
                    <a:pt x="7151370" y="222504"/>
                  </a:cubicBezTo>
                  <a:lnTo>
                    <a:pt x="7151370" y="1168146"/>
                  </a:lnTo>
                  <a:cubicBezTo>
                    <a:pt x="7151370" y="1291082"/>
                    <a:pt x="7051802" y="1390650"/>
                    <a:pt x="6928866" y="1390650"/>
                  </a:cubicBezTo>
                  <a:lnTo>
                    <a:pt x="222504" y="1390650"/>
                  </a:lnTo>
                  <a:cubicBezTo>
                    <a:pt x="99568" y="1390650"/>
                    <a:pt x="0" y="1291082"/>
                    <a:pt x="0" y="116814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6446520" y="6995160"/>
            <a:ext cx="4800600" cy="1028700"/>
            <a:chOff x="0" y="0"/>
            <a:chExt cx="6400800" cy="13716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4008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640080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lang="en-US" sz="2174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Fabricated or irrelevant doc IDs slip through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1788616" y="6988016"/>
            <a:ext cx="5678996" cy="1042988"/>
            <a:chOff x="0" y="0"/>
            <a:chExt cx="7571994" cy="139065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571994" cy="1390650"/>
            </a:xfrm>
            <a:custGeom>
              <a:avLst/>
              <a:gdLst/>
              <a:ahLst/>
              <a:cxnLst/>
              <a:rect r="r" b="b" t="t" l="l"/>
              <a:pathLst>
                <a:path h="1390650" w="7571994">
                  <a:moveTo>
                    <a:pt x="0" y="222504"/>
                  </a:moveTo>
                  <a:cubicBezTo>
                    <a:pt x="0" y="99568"/>
                    <a:pt x="99568" y="0"/>
                    <a:pt x="222504" y="0"/>
                  </a:cubicBezTo>
                  <a:lnTo>
                    <a:pt x="7349490" y="0"/>
                  </a:lnTo>
                  <a:cubicBezTo>
                    <a:pt x="7472426" y="0"/>
                    <a:pt x="7571994" y="99568"/>
                    <a:pt x="7571994" y="222504"/>
                  </a:cubicBezTo>
                  <a:lnTo>
                    <a:pt x="7571994" y="1168146"/>
                  </a:lnTo>
                  <a:cubicBezTo>
                    <a:pt x="7571994" y="1291082"/>
                    <a:pt x="7472426" y="1390650"/>
                    <a:pt x="7349490" y="1390650"/>
                  </a:cubicBezTo>
                  <a:lnTo>
                    <a:pt x="222504" y="1390650"/>
                  </a:lnTo>
                  <a:cubicBezTo>
                    <a:pt x="99568" y="1390650"/>
                    <a:pt x="0" y="1291082"/>
                    <a:pt x="0" y="1168146"/>
                  </a:cubicBezTo>
                  <a:close/>
                </a:path>
              </a:pathLst>
            </a:custGeom>
            <a:solidFill>
              <a:srgbClr val="EAF0FB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12070080" y="6995160"/>
            <a:ext cx="5212080" cy="1028700"/>
            <a:chOff x="0" y="0"/>
            <a:chExt cx="6949440" cy="13716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949440" cy="1371600"/>
            </a:xfrm>
            <a:custGeom>
              <a:avLst/>
              <a:gdLst/>
              <a:ahLst/>
              <a:cxnLst/>
              <a:rect r="r" b="b" t="t" l="l"/>
              <a:pathLst>
                <a:path h="137160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724" r="0" b="-48724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694944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lang="en-US" sz="2174">
                  <a:solidFill>
                    <a:srgbClr val="0F1B3D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Fail-closed verifier; 0% fabricated citations measured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815816" y="8222456"/>
            <a:ext cx="5089208" cy="1042988"/>
            <a:chOff x="0" y="0"/>
            <a:chExt cx="6785610" cy="139065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785611" cy="1390650"/>
            </a:xfrm>
            <a:custGeom>
              <a:avLst/>
              <a:gdLst/>
              <a:ahLst/>
              <a:cxnLst/>
              <a:rect r="r" b="b" t="t" l="l"/>
              <a:pathLst>
                <a:path h="1390650" w="6785611">
                  <a:moveTo>
                    <a:pt x="0" y="222504"/>
                  </a:moveTo>
                  <a:cubicBezTo>
                    <a:pt x="0" y="99568"/>
                    <a:pt x="99568" y="0"/>
                    <a:pt x="222504" y="0"/>
                  </a:cubicBezTo>
                  <a:lnTo>
                    <a:pt x="6563106" y="0"/>
                  </a:lnTo>
                  <a:cubicBezTo>
                    <a:pt x="6686042" y="0"/>
                    <a:pt x="6785611" y="99568"/>
                    <a:pt x="6785611" y="222504"/>
                  </a:cubicBezTo>
                  <a:lnTo>
                    <a:pt x="6785611" y="1168146"/>
                  </a:lnTo>
                  <a:cubicBezTo>
                    <a:pt x="6785611" y="1291082"/>
                    <a:pt x="6686042" y="1390650"/>
                    <a:pt x="6563106" y="1390650"/>
                  </a:cubicBezTo>
                  <a:lnTo>
                    <a:pt x="222504" y="1390650"/>
                  </a:lnTo>
                  <a:cubicBezTo>
                    <a:pt x="99568" y="1390650"/>
                    <a:pt x="0" y="1291082"/>
                    <a:pt x="0" y="116814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1097280" y="8229600"/>
            <a:ext cx="4663440" cy="1028700"/>
            <a:chOff x="0" y="0"/>
            <a:chExt cx="6217920" cy="13716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2179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332" r="0" b="-38332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621792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 b="true">
                  <a:solidFill>
                    <a:srgbClr val="0F1B3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Heavy agent stacks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165056" y="8222456"/>
            <a:ext cx="5363528" cy="1042988"/>
            <a:chOff x="0" y="0"/>
            <a:chExt cx="7151370" cy="139065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7151370" cy="1390650"/>
            </a:xfrm>
            <a:custGeom>
              <a:avLst/>
              <a:gdLst/>
              <a:ahLst/>
              <a:cxnLst/>
              <a:rect r="r" b="b" t="t" l="l"/>
              <a:pathLst>
                <a:path h="1390650" w="7151370">
                  <a:moveTo>
                    <a:pt x="0" y="222504"/>
                  </a:moveTo>
                  <a:cubicBezTo>
                    <a:pt x="0" y="99568"/>
                    <a:pt x="99568" y="0"/>
                    <a:pt x="222504" y="0"/>
                  </a:cubicBezTo>
                  <a:lnTo>
                    <a:pt x="6928866" y="0"/>
                  </a:lnTo>
                  <a:cubicBezTo>
                    <a:pt x="7051802" y="0"/>
                    <a:pt x="7151370" y="99568"/>
                    <a:pt x="7151370" y="222504"/>
                  </a:cubicBezTo>
                  <a:lnTo>
                    <a:pt x="7151370" y="1168146"/>
                  </a:lnTo>
                  <a:cubicBezTo>
                    <a:pt x="7151370" y="1291082"/>
                    <a:pt x="7051802" y="1390650"/>
                    <a:pt x="6928866" y="1390650"/>
                  </a:cubicBezTo>
                  <a:lnTo>
                    <a:pt x="222504" y="1390650"/>
                  </a:lnTo>
                  <a:cubicBezTo>
                    <a:pt x="99568" y="1390650"/>
                    <a:pt x="0" y="1291082"/>
                    <a:pt x="0" y="116814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6446520" y="8229600"/>
            <a:ext cx="4800600" cy="1028700"/>
            <a:chOff x="0" y="0"/>
            <a:chExt cx="6400800" cy="13716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64008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47625"/>
              <a:ext cx="640080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lang="en-US" sz="2174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High cost and latency per turn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1788616" y="8222456"/>
            <a:ext cx="5678996" cy="1042988"/>
            <a:chOff x="0" y="0"/>
            <a:chExt cx="7571994" cy="139065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7571994" cy="1390650"/>
            </a:xfrm>
            <a:custGeom>
              <a:avLst/>
              <a:gdLst/>
              <a:ahLst/>
              <a:cxnLst/>
              <a:rect r="r" b="b" t="t" l="l"/>
              <a:pathLst>
                <a:path h="1390650" w="7571994">
                  <a:moveTo>
                    <a:pt x="0" y="222504"/>
                  </a:moveTo>
                  <a:cubicBezTo>
                    <a:pt x="0" y="99568"/>
                    <a:pt x="99568" y="0"/>
                    <a:pt x="222504" y="0"/>
                  </a:cubicBezTo>
                  <a:lnTo>
                    <a:pt x="7349490" y="0"/>
                  </a:lnTo>
                  <a:cubicBezTo>
                    <a:pt x="7472426" y="0"/>
                    <a:pt x="7571994" y="99568"/>
                    <a:pt x="7571994" y="222504"/>
                  </a:cubicBezTo>
                  <a:lnTo>
                    <a:pt x="7571994" y="1168146"/>
                  </a:lnTo>
                  <a:cubicBezTo>
                    <a:pt x="7571994" y="1291082"/>
                    <a:pt x="7472426" y="1390650"/>
                    <a:pt x="7349490" y="1390650"/>
                  </a:cubicBezTo>
                  <a:lnTo>
                    <a:pt x="222504" y="1390650"/>
                  </a:lnTo>
                  <a:cubicBezTo>
                    <a:pt x="99568" y="1390650"/>
                    <a:pt x="0" y="1291082"/>
                    <a:pt x="0" y="1168146"/>
                  </a:cubicBezTo>
                  <a:close/>
                </a:path>
              </a:pathLst>
            </a:custGeom>
            <a:solidFill>
              <a:srgbClr val="EAF0FB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12070080" y="8229600"/>
            <a:ext cx="5212080" cy="1028700"/>
            <a:chOff x="0" y="0"/>
            <a:chExt cx="6949440" cy="13716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6949440" cy="1371600"/>
            </a:xfrm>
            <a:custGeom>
              <a:avLst/>
              <a:gdLst/>
              <a:ahLst/>
              <a:cxnLst/>
              <a:rect r="r" b="b" t="t" l="l"/>
              <a:pathLst>
                <a:path h="137160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724" r="0" b="-48724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694944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lang="en-US" sz="2174">
                  <a:solidFill>
                    <a:srgbClr val="0F1B3D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Lean pipeline, ~$0.006 modelled cost per turn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48640"/>
            <a:ext cx="12344400" cy="411480"/>
            <a:chOff x="0" y="0"/>
            <a:chExt cx="164592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459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0F766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03 · THE INSIGHT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596360" cy="965200"/>
            <a:chOff x="0" y="0"/>
            <a:chExt cx="22128480" cy="1286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286933"/>
            </a:xfrm>
            <a:custGeom>
              <a:avLst/>
              <a:gdLst/>
              <a:ahLst/>
              <a:cxnLst/>
              <a:rect r="r" b="b" t="t" l="l"/>
              <a:pathLst>
                <a:path h="1286933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286933"/>
                  </a:lnTo>
                  <a:lnTo>
                    <a:pt x="0" y="128693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5303" r="0" b="-28477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22128480" cy="13821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99"/>
                </a:lnSpc>
              </a:pPr>
              <a:r>
                <a:rPr lang="en-US" sz="4999" b="true">
                  <a:solidFill>
                    <a:srgbClr val="0F1B3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Turn the utterance into a retrieval stream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1988820"/>
            <a:ext cx="16596360" cy="548640"/>
            <a:chOff x="0" y="0"/>
            <a:chExt cx="2212848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1284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We treat partial speech as progressively useful evidence, not as an incomplete query to ignore.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9669780"/>
            <a:ext cx="13716000" cy="342900"/>
            <a:chOff x="0" y="0"/>
            <a:chExt cx="18288000" cy="457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88000" cy="457200"/>
            </a:xfrm>
            <a:custGeom>
              <a:avLst/>
              <a:gdLst/>
              <a:ahLst/>
              <a:cxnLst/>
              <a:rect r="r" b="b" t="t" l="l"/>
              <a:pathLst>
                <a:path h="457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9401" r="0" b="-72940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8288000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SAMSUNG PRISM GenAI Hackathon  ·  Theme 04 Streaming Live RAG  ·  Team Cracked Code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596360" y="9669780"/>
            <a:ext cx="864108" cy="342900"/>
            <a:chOff x="0" y="0"/>
            <a:chExt cx="1152144" cy="457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52144" cy="457200"/>
            </a:xfrm>
            <a:custGeom>
              <a:avLst/>
              <a:gdLst/>
              <a:ahLst/>
              <a:cxnLst/>
              <a:rect r="r" b="b" t="t" l="l"/>
              <a:pathLst>
                <a:path h="457200" w="1152144">
                  <a:moveTo>
                    <a:pt x="0" y="0"/>
                  </a:moveTo>
                  <a:lnTo>
                    <a:pt x="1152144" y="0"/>
                  </a:lnTo>
                  <a:lnTo>
                    <a:pt x="115214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14" t="0" r="-914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152144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4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15816" y="2873216"/>
            <a:ext cx="8106728" cy="6323647"/>
            <a:chOff x="0" y="0"/>
            <a:chExt cx="10808970" cy="843153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808970" cy="8431530"/>
            </a:xfrm>
            <a:custGeom>
              <a:avLst/>
              <a:gdLst/>
              <a:ahLst/>
              <a:cxnLst/>
              <a:rect r="r" b="b" t="t" l="l"/>
              <a:pathLst>
                <a:path h="8431530" w="10808970">
                  <a:moveTo>
                    <a:pt x="0" y="219964"/>
                  </a:moveTo>
                  <a:cubicBezTo>
                    <a:pt x="0" y="98425"/>
                    <a:pt x="98425" y="0"/>
                    <a:pt x="219964" y="0"/>
                  </a:cubicBezTo>
                  <a:lnTo>
                    <a:pt x="10589006" y="0"/>
                  </a:lnTo>
                  <a:cubicBezTo>
                    <a:pt x="10710545" y="0"/>
                    <a:pt x="10808970" y="98425"/>
                    <a:pt x="10808970" y="219964"/>
                  </a:cubicBezTo>
                  <a:lnTo>
                    <a:pt x="10808970" y="8211566"/>
                  </a:lnTo>
                  <a:cubicBezTo>
                    <a:pt x="10808970" y="8333105"/>
                    <a:pt x="10710545" y="8431530"/>
                    <a:pt x="10589006" y="8431530"/>
                  </a:cubicBezTo>
                  <a:lnTo>
                    <a:pt x="219964" y="8431530"/>
                  </a:lnTo>
                  <a:cubicBezTo>
                    <a:pt x="98425" y="8431530"/>
                    <a:pt x="0" y="8333105"/>
                    <a:pt x="0" y="821156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9388316" y="2873216"/>
            <a:ext cx="8106728" cy="6323647"/>
            <a:chOff x="0" y="0"/>
            <a:chExt cx="10808970" cy="843153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808970" cy="8431530"/>
            </a:xfrm>
            <a:custGeom>
              <a:avLst/>
              <a:gdLst/>
              <a:ahLst/>
              <a:cxnLst/>
              <a:rect r="r" b="b" t="t" l="l"/>
              <a:pathLst>
                <a:path h="8431530" w="10808970">
                  <a:moveTo>
                    <a:pt x="0" y="219964"/>
                  </a:moveTo>
                  <a:cubicBezTo>
                    <a:pt x="0" y="98425"/>
                    <a:pt x="98425" y="0"/>
                    <a:pt x="219964" y="0"/>
                  </a:cubicBezTo>
                  <a:lnTo>
                    <a:pt x="10589006" y="0"/>
                  </a:lnTo>
                  <a:cubicBezTo>
                    <a:pt x="10710545" y="0"/>
                    <a:pt x="10808970" y="98425"/>
                    <a:pt x="10808970" y="219964"/>
                  </a:cubicBezTo>
                  <a:lnTo>
                    <a:pt x="10808970" y="8211566"/>
                  </a:lnTo>
                  <a:cubicBezTo>
                    <a:pt x="10808970" y="8333105"/>
                    <a:pt x="10710545" y="8431530"/>
                    <a:pt x="10589006" y="8431530"/>
                  </a:cubicBezTo>
                  <a:lnTo>
                    <a:pt x="219964" y="8431530"/>
                  </a:lnTo>
                  <a:cubicBezTo>
                    <a:pt x="98425" y="8431530"/>
                    <a:pt x="0" y="8333105"/>
                    <a:pt x="0" y="8211566"/>
                  </a:cubicBezTo>
                  <a:close/>
                </a:path>
              </a:pathLst>
            </a:custGeom>
            <a:solidFill>
              <a:srgbClr val="EAF0FB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234440" y="3116580"/>
            <a:ext cx="54864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99">
                <a:solidFill>
                  <a:srgbClr val="C2334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ORDINARY RAG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4440" y="3568065"/>
            <a:ext cx="726948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3499" b="true">
                <a:solidFill>
                  <a:srgbClr val="0F1B3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Wait → Retrieve → Answer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34440" y="4606290"/>
            <a:ext cx="7269480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3388" indent="-221694" lvl="1">
              <a:lnSpc>
                <a:spcPts val="2939"/>
              </a:lnSpc>
              <a:buFont typeface="Arial"/>
              <a:buChar char="•"/>
            </a:pPr>
            <a:r>
              <a:rPr lang="en-US" sz="2449">
                <a:solidFill>
                  <a:srgbClr val="55627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One query after the utterance ends</a:t>
            </a:r>
          </a:p>
          <a:p>
            <a:pPr algn="l" marL="443388" indent="-221694" lvl="1">
              <a:lnSpc>
                <a:spcPts val="2939"/>
              </a:lnSpc>
              <a:buFont typeface="Arial"/>
              <a:buChar char="•"/>
            </a:pPr>
            <a:r>
              <a:rPr lang="en-US" sz="2449">
                <a:solidFill>
                  <a:srgbClr val="55627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Compound intent is flattened</a:t>
            </a:r>
          </a:p>
          <a:p>
            <a:pPr algn="l" marL="443388" indent="-221694" lvl="1">
              <a:lnSpc>
                <a:spcPts val="2939"/>
              </a:lnSpc>
              <a:buFont typeface="Arial"/>
              <a:buChar char="•"/>
            </a:pPr>
            <a:r>
              <a:rPr lang="en-US" sz="2449">
                <a:solidFill>
                  <a:srgbClr val="55627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No useful work happens during speech</a:t>
            </a:r>
          </a:p>
          <a:p>
            <a:pPr algn="l" marL="443388" indent="-221694" lvl="1">
              <a:lnSpc>
                <a:spcPts val="2939"/>
              </a:lnSpc>
              <a:buFont typeface="Arial"/>
              <a:buChar char="•"/>
            </a:pPr>
            <a:r>
              <a:rPr lang="en-US" sz="2449">
                <a:solidFill>
                  <a:srgbClr val="55627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Late detail triggers a fresh search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34440" y="7885793"/>
            <a:ext cx="4954009" cy="892447"/>
            <a:chOff x="0" y="0"/>
            <a:chExt cx="4657164" cy="83897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657163" cy="838971"/>
            </a:xfrm>
            <a:custGeom>
              <a:avLst/>
              <a:gdLst/>
              <a:ahLst/>
              <a:cxnLst/>
              <a:rect r="r" b="b" t="t" l="l"/>
              <a:pathLst>
                <a:path h="838971" w="4657163">
                  <a:moveTo>
                    <a:pt x="0" y="419486"/>
                  </a:moveTo>
                  <a:cubicBezTo>
                    <a:pt x="0" y="187749"/>
                    <a:pt x="189491" y="0"/>
                    <a:pt x="423379" y="0"/>
                  </a:cubicBezTo>
                  <a:lnTo>
                    <a:pt x="4233785" y="0"/>
                  </a:lnTo>
                  <a:cubicBezTo>
                    <a:pt x="4467672" y="0"/>
                    <a:pt x="4657163" y="187749"/>
                    <a:pt x="4657163" y="419486"/>
                  </a:cubicBezTo>
                  <a:cubicBezTo>
                    <a:pt x="4657163" y="651222"/>
                    <a:pt x="4467672" y="838971"/>
                    <a:pt x="4233785" y="838971"/>
                  </a:cubicBezTo>
                  <a:lnTo>
                    <a:pt x="423379" y="838971"/>
                  </a:lnTo>
                  <a:cubicBezTo>
                    <a:pt x="189491" y="838971"/>
                    <a:pt x="0" y="651222"/>
                    <a:pt x="0" y="419486"/>
                  </a:cubicBezTo>
                  <a:close/>
                </a:path>
              </a:pathLst>
            </a:custGeom>
            <a:solidFill>
              <a:srgbClr val="C2334D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517170" y="8012846"/>
            <a:ext cx="3997418" cy="726803"/>
            <a:chOff x="0" y="0"/>
            <a:chExt cx="402336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023360" cy="731520"/>
            </a:xfrm>
            <a:custGeom>
              <a:avLst/>
              <a:gdLst/>
              <a:ahLst/>
              <a:cxnLst/>
              <a:rect r="r" b="b" t="t" l="l"/>
              <a:pathLst>
                <a:path h="73152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40233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39"/>
                </a:lnSpc>
              </a:pPr>
              <a:r>
                <a:rPr lang="en-US" sz="1949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POST-UTTERANCE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9806940" y="3116580"/>
            <a:ext cx="54864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99">
                <a:solidFill>
                  <a:srgbClr val="0F766E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OUR APPROACH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806940" y="3568065"/>
            <a:ext cx="7406640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0F1B3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Listen → Prefetch → Refine → Answer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806940" y="4606290"/>
            <a:ext cx="7406640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3388" indent="-221694" lvl="1">
              <a:lnSpc>
                <a:spcPts val="2939"/>
              </a:lnSpc>
              <a:buFont typeface="Arial"/>
              <a:buChar char="•"/>
            </a:pPr>
            <a:r>
              <a:rPr lang="en-US" sz="2449">
                <a:solidFill>
                  <a:srgbClr val="0F1B3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Controller decides WAIT / RETRIEVE / SUPPRESS</a:t>
            </a:r>
          </a:p>
          <a:p>
            <a:pPr algn="l" marL="443388" indent="-221694" lvl="1">
              <a:lnSpc>
                <a:spcPts val="2939"/>
              </a:lnSpc>
              <a:buFont typeface="Arial"/>
              <a:buChar char="•"/>
            </a:pPr>
            <a:r>
              <a:rPr lang="en-US" sz="2449">
                <a:solidFill>
                  <a:srgbClr val="0F1B3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Speculative retrieval starts before utterance end</a:t>
            </a:r>
          </a:p>
          <a:p>
            <a:pPr algn="l" marL="443388" indent="-221694" lvl="1">
              <a:lnSpc>
                <a:spcPts val="2939"/>
              </a:lnSpc>
              <a:buFont typeface="Arial"/>
              <a:buChar char="•"/>
            </a:pPr>
            <a:r>
              <a:rPr lang="en-US" sz="2449">
                <a:solidFill>
                  <a:srgbClr val="0F1B3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Multi-intent queries decomposed and fused</a:t>
            </a:r>
          </a:p>
          <a:p>
            <a:pPr algn="l" marL="443388" indent="-221694" lvl="1">
              <a:lnSpc>
                <a:spcPts val="2939"/>
              </a:lnSpc>
              <a:buFont typeface="Arial"/>
              <a:buChar char="•"/>
            </a:pPr>
            <a:r>
              <a:rPr lang="en-US" sz="2449">
                <a:solidFill>
                  <a:srgbClr val="0F1B3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Late details refine the existing answer state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806940" y="7957408"/>
            <a:ext cx="5066090" cy="820832"/>
            <a:chOff x="0" y="0"/>
            <a:chExt cx="6217920" cy="100745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217920" cy="1007457"/>
            </a:xfrm>
            <a:custGeom>
              <a:avLst/>
              <a:gdLst/>
              <a:ahLst/>
              <a:cxnLst/>
              <a:rect r="r" b="b" t="t" l="l"/>
              <a:pathLst>
                <a:path h="1007457" w="6217920">
                  <a:moveTo>
                    <a:pt x="0" y="503729"/>
                  </a:moveTo>
                  <a:cubicBezTo>
                    <a:pt x="0" y="225454"/>
                    <a:pt x="163703" y="0"/>
                    <a:pt x="365760" y="0"/>
                  </a:cubicBezTo>
                  <a:lnTo>
                    <a:pt x="5852160" y="0"/>
                  </a:lnTo>
                  <a:cubicBezTo>
                    <a:pt x="6054217" y="0"/>
                    <a:pt x="6217920" y="225454"/>
                    <a:pt x="6217920" y="503729"/>
                  </a:cubicBezTo>
                  <a:cubicBezTo>
                    <a:pt x="6217920" y="782004"/>
                    <a:pt x="6054217" y="1007457"/>
                    <a:pt x="5852160" y="1007457"/>
                  </a:cubicBezTo>
                  <a:lnTo>
                    <a:pt x="365760" y="1007457"/>
                  </a:lnTo>
                  <a:cubicBezTo>
                    <a:pt x="163703" y="1007457"/>
                    <a:pt x="0" y="782004"/>
                    <a:pt x="0" y="503729"/>
                  </a:cubicBezTo>
                  <a:close/>
                </a:path>
              </a:pathLst>
            </a:custGeom>
            <a:solidFill>
              <a:srgbClr val="0F766E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704158" y="7957408"/>
            <a:ext cx="5271654" cy="837679"/>
            <a:chOff x="0" y="0"/>
            <a:chExt cx="6217920" cy="98804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217920" cy="988043"/>
            </a:xfrm>
            <a:custGeom>
              <a:avLst/>
              <a:gdLst/>
              <a:ahLst/>
              <a:cxnLst/>
              <a:rect r="r" b="b" t="t" l="l"/>
              <a:pathLst>
                <a:path h="988043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988043"/>
                  </a:lnTo>
                  <a:lnTo>
                    <a:pt x="0" y="9880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5603" r="0" b="-5964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6217920" cy="10356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39"/>
                </a:lnSpc>
              </a:pPr>
              <a:r>
                <a:rPr lang="en-US" sz="1949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WHILE USER IS STILL SPEAKING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48640"/>
            <a:ext cx="12344400" cy="411480"/>
            <a:chOff x="0" y="0"/>
            <a:chExt cx="164592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459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0F766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04 · SOLUTION &amp; ARCHITECTURE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596360" cy="960120"/>
            <a:chOff x="0" y="0"/>
            <a:chExt cx="2212848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6812" r="0" b="-28681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22128480" cy="1375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F1B3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A controller-driven Streaming Live RAG pipeline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1988820"/>
            <a:ext cx="16596360" cy="548640"/>
            <a:chOff x="0" y="0"/>
            <a:chExt cx="2212848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1284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Do useful work early, but commit only after verification.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9669780"/>
            <a:ext cx="13716000" cy="342900"/>
            <a:chOff x="0" y="0"/>
            <a:chExt cx="18288000" cy="457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88000" cy="457200"/>
            </a:xfrm>
            <a:custGeom>
              <a:avLst/>
              <a:gdLst/>
              <a:ahLst/>
              <a:cxnLst/>
              <a:rect r="r" b="b" t="t" l="l"/>
              <a:pathLst>
                <a:path h="457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9401" r="0" b="-72940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8288000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SAMSUNG PRISM GenAI Hackathon  ·  Theme 04 Streaming Live RAG  ·  Team Cracked Code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596360" y="9669780"/>
            <a:ext cx="864108" cy="342900"/>
            <a:chOff x="0" y="0"/>
            <a:chExt cx="1152144" cy="457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52144" cy="457200"/>
            </a:xfrm>
            <a:custGeom>
              <a:avLst/>
              <a:gdLst/>
              <a:ahLst/>
              <a:cxnLst/>
              <a:rect r="r" b="b" t="t" l="l"/>
              <a:pathLst>
                <a:path h="457200" w="1152144">
                  <a:moveTo>
                    <a:pt x="0" y="0"/>
                  </a:moveTo>
                  <a:lnTo>
                    <a:pt x="1152144" y="0"/>
                  </a:lnTo>
                  <a:lnTo>
                    <a:pt x="115214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14" t="0" r="-914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152144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5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2743200"/>
            <a:ext cx="3977640" cy="521208"/>
            <a:chOff x="0" y="0"/>
            <a:chExt cx="5303520" cy="69494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303520" cy="694944"/>
            </a:xfrm>
            <a:custGeom>
              <a:avLst/>
              <a:gdLst/>
              <a:ahLst/>
              <a:cxnLst/>
              <a:rect r="r" b="b" t="t" l="l"/>
              <a:pathLst>
                <a:path h="694944" w="5303520">
                  <a:moveTo>
                    <a:pt x="0" y="347472"/>
                  </a:moveTo>
                  <a:cubicBezTo>
                    <a:pt x="0" y="155575"/>
                    <a:pt x="155575" y="0"/>
                    <a:pt x="347472" y="0"/>
                  </a:cubicBezTo>
                  <a:lnTo>
                    <a:pt x="4956048" y="0"/>
                  </a:lnTo>
                  <a:cubicBezTo>
                    <a:pt x="5147945" y="0"/>
                    <a:pt x="5303520" y="155575"/>
                    <a:pt x="5303520" y="347472"/>
                  </a:cubicBezTo>
                  <a:cubicBezTo>
                    <a:pt x="5303520" y="539369"/>
                    <a:pt x="5147945" y="694944"/>
                    <a:pt x="4956048" y="694944"/>
                  </a:cubicBezTo>
                  <a:lnTo>
                    <a:pt x="347472" y="694944"/>
                  </a:lnTo>
                  <a:cubicBezTo>
                    <a:pt x="155575" y="694944"/>
                    <a:pt x="0" y="539369"/>
                    <a:pt x="0" y="347472"/>
                  </a:cubicBezTo>
                  <a:close/>
                </a:path>
              </a:pathLst>
            </a:custGeom>
            <a:solidFill>
              <a:srgbClr val="1428A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2743200"/>
            <a:ext cx="3977640" cy="521208"/>
            <a:chOff x="0" y="0"/>
            <a:chExt cx="5303520" cy="69494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303520" cy="694944"/>
            </a:xfrm>
            <a:custGeom>
              <a:avLst/>
              <a:gdLst/>
              <a:ahLst/>
              <a:cxnLst/>
              <a:rect r="r" b="b" t="t" l="l"/>
              <a:pathLst>
                <a:path h="694944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8701" r="0" b="-9870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5303520" cy="7520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09"/>
                </a:lnSpc>
              </a:pPr>
              <a:r>
                <a:rPr lang="en-US" sz="2424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0.0 s · chunk 1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006340" y="2743200"/>
            <a:ext cx="3977640" cy="521208"/>
            <a:chOff x="0" y="0"/>
            <a:chExt cx="5303520" cy="69494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03520" cy="694944"/>
            </a:xfrm>
            <a:custGeom>
              <a:avLst/>
              <a:gdLst/>
              <a:ahLst/>
              <a:cxnLst/>
              <a:rect r="r" b="b" t="t" l="l"/>
              <a:pathLst>
                <a:path h="694944" w="5303520">
                  <a:moveTo>
                    <a:pt x="0" y="347472"/>
                  </a:moveTo>
                  <a:cubicBezTo>
                    <a:pt x="0" y="155575"/>
                    <a:pt x="155575" y="0"/>
                    <a:pt x="347472" y="0"/>
                  </a:cubicBezTo>
                  <a:lnTo>
                    <a:pt x="4956048" y="0"/>
                  </a:lnTo>
                  <a:cubicBezTo>
                    <a:pt x="5147945" y="0"/>
                    <a:pt x="5303520" y="155575"/>
                    <a:pt x="5303520" y="347472"/>
                  </a:cubicBezTo>
                  <a:cubicBezTo>
                    <a:pt x="5303520" y="539369"/>
                    <a:pt x="5147945" y="694944"/>
                    <a:pt x="4956048" y="694944"/>
                  </a:cubicBezTo>
                  <a:lnTo>
                    <a:pt x="347472" y="694944"/>
                  </a:lnTo>
                  <a:cubicBezTo>
                    <a:pt x="155575" y="694944"/>
                    <a:pt x="0" y="539369"/>
                    <a:pt x="0" y="347472"/>
                  </a:cubicBezTo>
                  <a:close/>
                </a:path>
              </a:pathLst>
            </a:custGeom>
            <a:solidFill>
              <a:srgbClr val="1428A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006340" y="2743200"/>
            <a:ext cx="3977640" cy="521208"/>
            <a:chOff x="0" y="0"/>
            <a:chExt cx="5303520" cy="69494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303520" cy="694944"/>
            </a:xfrm>
            <a:custGeom>
              <a:avLst/>
              <a:gdLst/>
              <a:ahLst/>
              <a:cxnLst/>
              <a:rect r="r" b="b" t="t" l="l"/>
              <a:pathLst>
                <a:path h="694944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8701" r="0" b="-98701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5303520" cy="7520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09"/>
                </a:lnSpc>
              </a:pPr>
              <a:r>
                <a:rPr lang="en-US" sz="2424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0.5 s · chunk 2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189720" y="2743200"/>
            <a:ext cx="3977640" cy="521208"/>
            <a:chOff x="0" y="0"/>
            <a:chExt cx="5303520" cy="69494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303520" cy="694944"/>
            </a:xfrm>
            <a:custGeom>
              <a:avLst/>
              <a:gdLst/>
              <a:ahLst/>
              <a:cxnLst/>
              <a:rect r="r" b="b" t="t" l="l"/>
              <a:pathLst>
                <a:path h="694944" w="5303520">
                  <a:moveTo>
                    <a:pt x="0" y="347472"/>
                  </a:moveTo>
                  <a:cubicBezTo>
                    <a:pt x="0" y="155575"/>
                    <a:pt x="155575" y="0"/>
                    <a:pt x="347472" y="0"/>
                  </a:cubicBezTo>
                  <a:lnTo>
                    <a:pt x="4956048" y="0"/>
                  </a:lnTo>
                  <a:cubicBezTo>
                    <a:pt x="5147945" y="0"/>
                    <a:pt x="5303520" y="155575"/>
                    <a:pt x="5303520" y="347472"/>
                  </a:cubicBezTo>
                  <a:cubicBezTo>
                    <a:pt x="5303520" y="539369"/>
                    <a:pt x="5147945" y="694944"/>
                    <a:pt x="4956048" y="694944"/>
                  </a:cubicBezTo>
                  <a:lnTo>
                    <a:pt x="347472" y="694944"/>
                  </a:lnTo>
                  <a:cubicBezTo>
                    <a:pt x="155575" y="694944"/>
                    <a:pt x="0" y="539369"/>
                    <a:pt x="0" y="347472"/>
                  </a:cubicBezTo>
                  <a:close/>
                </a:path>
              </a:pathLst>
            </a:custGeom>
            <a:solidFill>
              <a:srgbClr val="0F766E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189720" y="2743200"/>
            <a:ext cx="3977640" cy="521208"/>
            <a:chOff x="0" y="0"/>
            <a:chExt cx="5303520" cy="69494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303520" cy="694944"/>
            </a:xfrm>
            <a:custGeom>
              <a:avLst/>
              <a:gdLst/>
              <a:ahLst/>
              <a:cxnLst/>
              <a:rect r="r" b="b" t="t" l="l"/>
              <a:pathLst>
                <a:path h="694944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8701" r="0" b="-9870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303520" cy="7520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09"/>
                </a:lnSpc>
              </a:pPr>
              <a:r>
                <a:rPr lang="en-US" sz="2424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1.2 s · chunk 3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373100" y="2743200"/>
            <a:ext cx="3977640" cy="521208"/>
            <a:chOff x="0" y="0"/>
            <a:chExt cx="5303520" cy="69494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303520" cy="694944"/>
            </a:xfrm>
            <a:custGeom>
              <a:avLst/>
              <a:gdLst/>
              <a:ahLst/>
              <a:cxnLst/>
              <a:rect r="r" b="b" t="t" l="l"/>
              <a:pathLst>
                <a:path h="694944" w="5303520">
                  <a:moveTo>
                    <a:pt x="0" y="347472"/>
                  </a:moveTo>
                  <a:cubicBezTo>
                    <a:pt x="0" y="155575"/>
                    <a:pt x="155575" y="0"/>
                    <a:pt x="347472" y="0"/>
                  </a:cubicBezTo>
                  <a:lnTo>
                    <a:pt x="4956048" y="0"/>
                  </a:lnTo>
                  <a:cubicBezTo>
                    <a:pt x="5147945" y="0"/>
                    <a:pt x="5303520" y="155575"/>
                    <a:pt x="5303520" y="347472"/>
                  </a:cubicBezTo>
                  <a:cubicBezTo>
                    <a:pt x="5303520" y="539369"/>
                    <a:pt x="5147945" y="694944"/>
                    <a:pt x="4956048" y="694944"/>
                  </a:cubicBezTo>
                  <a:lnTo>
                    <a:pt x="347472" y="694944"/>
                  </a:lnTo>
                  <a:cubicBezTo>
                    <a:pt x="155575" y="694944"/>
                    <a:pt x="0" y="539369"/>
                    <a:pt x="0" y="347472"/>
                  </a:cubicBezTo>
                  <a:close/>
                </a:path>
              </a:pathLst>
            </a:custGeom>
            <a:solidFill>
              <a:srgbClr val="B45309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3373100" y="2743200"/>
            <a:ext cx="3977640" cy="521208"/>
            <a:chOff x="0" y="0"/>
            <a:chExt cx="5303520" cy="69494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303520" cy="694944"/>
            </a:xfrm>
            <a:custGeom>
              <a:avLst/>
              <a:gdLst/>
              <a:ahLst/>
              <a:cxnLst/>
              <a:rect r="r" b="b" t="t" l="l"/>
              <a:pathLst>
                <a:path h="694944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8701" r="0" b="-9870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303520" cy="7520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09"/>
                </a:lnSpc>
              </a:pPr>
              <a:r>
                <a:rPr lang="en-US" sz="2424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2.0 s · end of utterance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15816" y="3490436"/>
            <a:ext cx="3991928" cy="3237548"/>
            <a:chOff x="0" y="0"/>
            <a:chExt cx="5322570" cy="431673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322570" cy="4316730"/>
            </a:xfrm>
            <a:custGeom>
              <a:avLst/>
              <a:gdLst/>
              <a:ahLst/>
              <a:cxnLst/>
              <a:rect r="r" b="b" t="t" l="l"/>
              <a:pathLst>
                <a:path h="4316730" w="5322570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5102098" y="0"/>
                  </a:lnTo>
                  <a:cubicBezTo>
                    <a:pt x="5223891" y="0"/>
                    <a:pt x="5322570" y="98679"/>
                    <a:pt x="5322570" y="220472"/>
                  </a:cubicBezTo>
                  <a:lnTo>
                    <a:pt x="5322570" y="4096258"/>
                  </a:lnTo>
                  <a:cubicBezTo>
                    <a:pt x="5322570" y="4218051"/>
                    <a:pt x="5223891" y="4316730"/>
                    <a:pt x="5102098" y="4316730"/>
                  </a:cubicBezTo>
                  <a:lnTo>
                    <a:pt x="220472" y="4316730"/>
                  </a:lnTo>
                  <a:cubicBezTo>
                    <a:pt x="98679" y="4316730"/>
                    <a:pt x="0" y="4218051"/>
                    <a:pt x="0" y="409625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097280" y="3771900"/>
            <a:ext cx="576072" cy="576072"/>
            <a:chOff x="0" y="0"/>
            <a:chExt cx="768096" cy="76809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1428A0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097280" y="3771900"/>
            <a:ext cx="576072" cy="576072"/>
            <a:chOff x="0" y="0"/>
            <a:chExt cx="768096" cy="76809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1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097280" y="4478655"/>
            <a:ext cx="342900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549" b="true">
                <a:solidFill>
                  <a:srgbClr val="0F1B3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Retrieval Controller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97280" y="5054727"/>
            <a:ext cx="3429000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9"/>
              </a:lnSpc>
            </a:pPr>
            <a:r>
              <a:rPr lang="en-US" sz="2074">
                <a:solidFill>
                  <a:srgbClr val="55627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Intent-stability check. WAIT · RETRIEVE · SUPPRESS. Skips reformat-only turns.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4999196" y="3490436"/>
            <a:ext cx="3991928" cy="3237548"/>
            <a:chOff x="0" y="0"/>
            <a:chExt cx="5322570" cy="431673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322570" cy="4316730"/>
            </a:xfrm>
            <a:custGeom>
              <a:avLst/>
              <a:gdLst/>
              <a:ahLst/>
              <a:cxnLst/>
              <a:rect r="r" b="b" t="t" l="l"/>
              <a:pathLst>
                <a:path h="4316730" w="5322570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5102098" y="0"/>
                  </a:lnTo>
                  <a:cubicBezTo>
                    <a:pt x="5223891" y="0"/>
                    <a:pt x="5322570" y="98679"/>
                    <a:pt x="5322570" y="220472"/>
                  </a:cubicBezTo>
                  <a:lnTo>
                    <a:pt x="5322570" y="4096258"/>
                  </a:lnTo>
                  <a:cubicBezTo>
                    <a:pt x="5322570" y="4218051"/>
                    <a:pt x="5223891" y="4316730"/>
                    <a:pt x="5102098" y="4316730"/>
                  </a:cubicBezTo>
                  <a:lnTo>
                    <a:pt x="220472" y="4316730"/>
                  </a:lnTo>
                  <a:cubicBezTo>
                    <a:pt x="98679" y="4316730"/>
                    <a:pt x="0" y="4218051"/>
                    <a:pt x="0" y="409625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5280660" y="3771900"/>
            <a:ext cx="576072" cy="576072"/>
            <a:chOff x="0" y="0"/>
            <a:chExt cx="768096" cy="76809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0F766E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5280660" y="3771900"/>
            <a:ext cx="576072" cy="576072"/>
            <a:chOff x="0" y="0"/>
            <a:chExt cx="768096" cy="76809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2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5280660" y="4478655"/>
            <a:ext cx="342900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549" b="true">
                <a:solidFill>
                  <a:srgbClr val="0F1B3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Multi-Intent Decomposer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5280660" y="5064252"/>
            <a:ext cx="342900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9"/>
              </a:lnSpc>
            </a:pPr>
            <a:r>
              <a:rPr lang="en-US" sz="1974">
                <a:solidFill>
                  <a:srgbClr val="55627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Orthogonal sub-queries, entity protection, over-fragmentation guardrail.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9182576" y="3490436"/>
            <a:ext cx="3991928" cy="3237548"/>
            <a:chOff x="0" y="0"/>
            <a:chExt cx="5322570" cy="431673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322570" cy="4316730"/>
            </a:xfrm>
            <a:custGeom>
              <a:avLst/>
              <a:gdLst/>
              <a:ahLst/>
              <a:cxnLst/>
              <a:rect r="r" b="b" t="t" l="l"/>
              <a:pathLst>
                <a:path h="4316730" w="5322570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5102098" y="0"/>
                  </a:lnTo>
                  <a:cubicBezTo>
                    <a:pt x="5223891" y="0"/>
                    <a:pt x="5322570" y="98679"/>
                    <a:pt x="5322570" y="220472"/>
                  </a:cubicBezTo>
                  <a:lnTo>
                    <a:pt x="5322570" y="4096258"/>
                  </a:lnTo>
                  <a:cubicBezTo>
                    <a:pt x="5322570" y="4218051"/>
                    <a:pt x="5223891" y="4316730"/>
                    <a:pt x="5102098" y="4316730"/>
                  </a:cubicBezTo>
                  <a:lnTo>
                    <a:pt x="220472" y="4316730"/>
                  </a:lnTo>
                  <a:cubicBezTo>
                    <a:pt x="98679" y="4316730"/>
                    <a:pt x="0" y="4218051"/>
                    <a:pt x="0" y="409625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9464040" y="3771900"/>
            <a:ext cx="576072" cy="576072"/>
            <a:chOff x="0" y="0"/>
            <a:chExt cx="768096" cy="76809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B45309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464040" y="3771900"/>
            <a:ext cx="576072" cy="576072"/>
            <a:chOff x="0" y="0"/>
            <a:chExt cx="768096" cy="76809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3</a:t>
              </a: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9464040" y="4478655"/>
            <a:ext cx="342900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549" b="true">
                <a:solidFill>
                  <a:srgbClr val="0F1B3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Retrieve · Fuse · Rerank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9464040" y="5064252"/>
            <a:ext cx="342900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55627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Parallel sub-query search, RRF fusion, reranker, contradiction screen.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13365956" y="3490436"/>
            <a:ext cx="3991928" cy="3237548"/>
            <a:chOff x="0" y="0"/>
            <a:chExt cx="5322570" cy="431673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322570" cy="4316730"/>
            </a:xfrm>
            <a:custGeom>
              <a:avLst/>
              <a:gdLst/>
              <a:ahLst/>
              <a:cxnLst/>
              <a:rect r="r" b="b" t="t" l="l"/>
              <a:pathLst>
                <a:path h="4316730" w="5322570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5102098" y="0"/>
                  </a:lnTo>
                  <a:cubicBezTo>
                    <a:pt x="5223891" y="0"/>
                    <a:pt x="5322570" y="98679"/>
                    <a:pt x="5322570" y="220472"/>
                  </a:cubicBezTo>
                  <a:lnTo>
                    <a:pt x="5322570" y="4096258"/>
                  </a:lnTo>
                  <a:cubicBezTo>
                    <a:pt x="5322570" y="4218051"/>
                    <a:pt x="5223891" y="4316730"/>
                    <a:pt x="5102098" y="4316730"/>
                  </a:cubicBezTo>
                  <a:lnTo>
                    <a:pt x="220472" y="4316730"/>
                  </a:lnTo>
                  <a:cubicBezTo>
                    <a:pt x="98679" y="4316730"/>
                    <a:pt x="0" y="4218051"/>
                    <a:pt x="0" y="409625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3647420" y="3771900"/>
            <a:ext cx="576072" cy="576072"/>
            <a:chOff x="0" y="0"/>
            <a:chExt cx="768096" cy="76809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C2334D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3647420" y="3771900"/>
            <a:ext cx="576072" cy="576072"/>
            <a:chOff x="0" y="0"/>
            <a:chExt cx="768096" cy="76809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4</a:t>
              </a:r>
            </a:p>
          </p:txBody>
        </p:sp>
      </p:grpSp>
      <p:sp>
        <p:nvSpPr>
          <p:cNvPr name="TextBox 71" id="71"/>
          <p:cNvSpPr txBox="true"/>
          <p:nvPr/>
        </p:nvSpPr>
        <p:spPr>
          <a:xfrm rot="0">
            <a:off x="13647420" y="4478655"/>
            <a:ext cx="342900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549" b="true">
                <a:solidFill>
                  <a:srgbClr val="0F1B3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Generate · Verify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3647420" y="5064252"/>
            <a:ext cx="342900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55627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Claims cited to chunk IDs; compound claims split; fabricated or unsupported rejected.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815816" y="6988016"/>
            <a:ext cx="16651796" cy="837248"/>
            <a:chOff x="0" y="0"/>
            <a:chExt cx="22202394" cy="111633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2202394" cy="1116330"/>
            </a:xfrm>
            <a:custGeom>
              <a:avLst/>
              <a:gdLst/>
              <a:ahLst/>
              <a:cxnLst/>
              <a:rect r="r" b="b" t="t" l="l"/>
              <a:pathLst>
                <a:path h="1116330" w="22202394">
                  <a:moveTo>
                    <a:pt x="0" y="223266"/>
                  </a:moveTo>
                  <a:cubicBezTo>
                    <a:pt x="0" y="99949"/>
                    <a:pt x="99949" y="0"/>
                    <a:pt x="223266" y="0"/>
                  </a:cubicBezTo>
                  <a:lnTo>
                    <a:pt x="21979128" y="0"/>
                  </a:lnTo>
                  <a:cubicBezTo>
                    <a:pt x="22102445" y="0"/>
                    <a:pt x="22202394" y="99949"/>
                    <a:pt x="22202394" y="223266"/>
                  </a:cubicBezTo>
                  <a:lnTo>
                    <a:pt x="22202394" y="893064"/>
                  </a:lnTo>
                  <a:cubicBezTo>
                    <a:pt x="22202394" y="1016381"/>
                    <a:pt x="22102445" y="1116330"/>
                    <a:pt x="21979128" y="1116330"/>
                  </a:cubicBezTo>
                  <a:lnTo>
                    <a:pt x="223266" y="1116330"/>
                  </a:lnTo>
                  <a:cubicBezTo>
                    <a:pt x="99949" y="1116330"/>
                    <a:pt x="0" y="1016381"/>
                    <a:pt x="0" y="893064"/>
                  </a:cubicBezTo>
                  <a:close/>
                </a:path>
              </a:pathLst>
            </a:custGeom>
            <a:solidFill>
              <a:srgbClr val="EAF0FB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1165860" y="6995160"/>
            <a:ext cx="16047720" cy="822960"/>
            <a:chOff x="0" y="0"/>
            <a:chExt cx="21396960" cy="109728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1396961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9958" r="0" b="-329958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2139696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0F766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Answer Ledger  </a:t>
              </a:r>
              <a:r>
                <a:rPr lang="en-US" sz="2025">
                  <a:solidFill>
                    <a:srgbClr val="0F1B3D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session-scoped, ephemeral memory: versioned claims, evidence and supersession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815816" y="8016716"/>
            <a:ext cx="16651796" cy="700088"/>
            <a:chOff x="0" y="0"/>
            <a:chExt cx="22202394" cy="93345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2202394" cy="933450"/>
            </a:xfrm>
            <a:custGeom>
              <a:avLst/>
              <a:gdLst/>
              <a:ahLst/>
              <a:cxnLst/>
              <a:rect r="r" b="b" t="t" l="l"/>
              <a:pathLst>
                <a:path h="933450" w="22202394">
                  <a:moveTo>
                    <a:pt x="0" y="224028"/>
                  </a:moveTo>
                  <a:cubicBezTo>
                    <a:pt x="0" y="100330"/>
                    <a:pt x="100330" y="0"/>
                    <a:pt x="224028" y="0"/>
                  </a:cubicBezTo>
                  <a:lnTo>
                    <a:pt x="21978365" y="0"/>
                  </a:lnTo>
                  <a:cubicBezTo>
                    <a:pt x="22102063" y="0"/>
                    <a:pt x="22202394" y="100330"/>
                    <a:pt x="22202394" y="224028"/>
                  </a:cubicBezTo>
                  <a:lnTo>
                    <a:pt x="22202394" y="709422"/>
                  </a:lnTo>
                  <a:cubicBezTo>
                    <a:pt x="22202394" y="833120"/>
                    <a:pt x="22102063" y="933450"/>
                    <a:pt x="21978365" y="933450"/>
                  </a:cubicBezTo>
                  <a:lnTo>
                    <a:pt x="224028" y="933450"/>
                  </a:lnTo>
                  <a:cubicBezTo>
                    <a:pt x="100330" y="933450"/>
                    <a:pt x="0" y="833120"/>
                    <a:pt x="0" y="70942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1165860" y="8023860"/>
            <a:ext cx="16047720" cy="685800"/>
            <a:chOff x="0" y="0"/>
            <a:chExt cx="21396960" cy="9144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1396961" cy="914400"/>
            </a:xfrm>
            <a:custGeom>
              <a:avLst/>
              <a:gdLst/>
              <a:ahLst/>
              <a:cxnLst/>
              <a:rect r="r" b="b" t="t" l="l"/>
              <a:pathLst>
                <a:path h="91440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5949" r="0" b="-405949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2139696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B45309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Late detail  →  </a:t>
              </a:r>
              <a:r>
                <a:rPr lang="en-US" sz="1950">
                  <a:solidFill>
                    <a:srgbClr val="0F1B3D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delta retrieval only  →  supersede affected claims  →  answer v1 → v2, never a restart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815816" y="8839676"/>
            <a:ext cx="16651796" cy="700088"/>
            <a:chOff x="0" y="0"/>
            <a:chExt cx="22202394" cy="93345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2202394" cy="933450"/>
            </a:xfrm>
            <a:custGeom>
              <a:avLst/>
              <a:gdLst/>
              <a:ahLst/>
              <a:cxnLst/>
              <a:rect r="r" b="b" t="t" l="l"/>
              <a:pathLst>
                <a:path h="933450" w="22202394">
                  <a:moveTo>
                    <a:pt x="0" y="224028"/>
                  </a:moveTo>
                  <a:cubicBezTo>
                    <a:pt x="0" y="100330"/>
                    <a:pt x="100330" y="0"/>
                    <a:pt x="224028" y="0"/>
                  </a:cubicBezTo>
                  <a:lnTo>
                    <a:pt x="21978365" y="0"/>
                  </a:lnTo>
                  <a:cubicBezTo>
                    <a:pt x="22102063" y="0"/>
                    <a:pt x="22202394" y="100330"/>
                    <a:pt x="22202394" y="224028"/>
                  </a:cubicBezTo>
                  <a:lnTo>
                    <a:pt x="22202394" y="709422"/>
                  </a:lnTo>
                  <a:cubicBezTo>
                    <a:pt x="22202394" y="833120"/>
                    <a:pt x="22102063" y="933450"/>
                    <a:pt x="21978365" y="933450"/>
                  </a:cubicBezTo>
                  <a:lnTo>
                    <a:pt x="224028" y="933450"/>
                  </a:lnTo>
                  <a:cubicBezTo>
                    <a:pt x="100330" y="933450"/>
                    <a:pt x="0" y="833120"/>
                    <a:pt x="0" y="70942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1165860" y="8846820"/>
            <a:ext cx="16047720" cy="685800"/>
            <a:chOff x="0" y="0"/>
            <a:chExt cx="21396960" cy="9144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1396961" cy="914400"/>
            </a:xfrm>
            <a:custGeom>
              <a:avLst/>
              <a:gdLst/>
              <a:ahLst/>
              <a:cxnLst/>
              <a:rect r="r" b="b" t="t" l="l"/>
              <a:pathLst>
                <a:path h="91440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5949" r="0" b="-405949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47625"/>
              <a:ext cx="2139696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428A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Output  </a:t>
              </a:r>
              <a:r>
                <a:rPr lang="en-US" sz="1950">
                  <a:solidFill>
                    <a:srgbClr val="0F1B3D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streamed answer + grounded citations + telemetry (timestamps, triggers, versions, tokens, cost)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48640"/>
            <a:ext cx="12344400" cy="411480"/>
            <a:chOff x="0" y="0"/>
            <a:chExt cx="164592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459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0F766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05 · WHAT MAKES IT STREAMING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596360" cy="960120"/>
            <a:chOff x="0" y="0"/>
            <a:chExt cx="2212848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6812" r="0" b="-28681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22128480" cy="1375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F1B3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The moment the judge should watch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1988820"/>
            <a:ext cx="16596360" cy="548640"/>
            <a:chOff x="0" y="0"/>
            <a:chExt cx="2212848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1284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A partial transcript becomes useful before the user has finished speaking.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9669780"/>
            <a:ext cx="13716000" cy="342900"/>
            <a:chOff x="0" y="0"/>
            <a:chExt cx="18288000" cy="457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88000" cy="457200"/>
            </a:xfrm>
            <a:custGeom>
              <a:avLst/>
              <a:gdLst/>
              <a:ahLst/>
              <a:cxnLst/>
              <a:rect r="r" b="b" t="t" l="l"/>
              <a:pathLst>
                <a:path h="457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9401" r="0" b="-72940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8288000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SAMSUNG PRISM GenAI Hackathon  ·  Theme 04 Streaming Live RAG  ·  Team Cracked Code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596360" y="9669780"/>
            <a:ext cx="864108" cy="342900"/>
            <a:chOff x="0" y="0"/>
            <a:chExt cx="1152144" cy="457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52144" cy="457200"/>
            </a:xfrm>
            <a:custGeom>
              <a:avLst/>
              <a:gdLst/>
              <a:ahLst/>
              <a:cxnLst/>
              <a:rect r="r" b="b" t="t" l="l"/>
              <a:pathLst>
                <a:path h="457200" w="1152144">
                  <a:moveTo>
                    <a:pt x="0" y="0"/>
                  </a:moveTo>
                  <a:lnTo>
                    <a:pt x="1152144" y="0"/>
                  </a:lnTo>
                  <a:lnTo>
                    <a:pt x="115214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14" t="0" r="-914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152144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6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15816" y="2873216"/>
            <a:ext cx="3991928" cy="4952047"/>
            <a:chOff x="0" y="0"/>
            <a:chExt cx="5322570" cy="660273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322570" cy="6602730"/>
            </a:xfrm>
            <a:custGeom>
              <a:avLst/>
              <a:gdLst/>
              <a:ahLst/>
              <a:cxnLst/>
              <a:rect r="r" b="b" t="t" l="l"/>
              <a:pathLst>
                <a:path h="6602730" w="5322570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5102352" y="0"/>
                  </a:lnTo>
                  <a:cubicBezTo>
                    <a:pt x="5224018" y="0"/>
                    <a:pt x="5322570" y="98552"/>
                    <a:pt x="5322570" y="220218"/>
                  </a:cubicBezTo>
                  <a:lnTo>
                    <a:pt x="5322570" y="6382512"/>
                  </a:lnTo>
                  <a:cubicBezTo>
                    <a:pt x="5322570" y="6504178"/>
                    <a:pt x="5224018" y="6602730"/>
                    <a:pt x="5102352" y="6602730"/>
                  </a:cubicBezTo>
                  <a:lnTo>
                    <a:pt x="220218" y="6602730"/>
                  </a:lnTo>
                  <a:cubicBezTo>
                    <a:pt x="98552" y="6602730"/>
                    <a:pt x="0" y="6504178"/>
                    <a:pt x="0" y="638251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097280" y="3019425"/>
            <a:ext cx="3429000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0F1B3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0.0 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97280" y="3724275"/>
            <a:ext cx="342900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i="true">
                <a:solidFill>
                  <a:srgbClr val="0F1B3D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"I need to cancel"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97280" y="5722620"/>
            <a:ext cx="342900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55627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Intent unstable: 1 stable entity (threshold 4). 0 LLM calls, 0 ms retrieval.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4999196" y="2873216"/>
            <a:ext cx="3991928" cy="4952047"/>
            <a:chOff x="0" y="0"/>
            <a:chExt cx="5322570" cy="660273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22570" cy="6602730"/>
            </a:xfrm>
            <a:custGeom>
              <a:avLst/>
              <a:gdLst/>
              <a:ahLst/>
              <a:cxnLst/>
              <a:rect r="r" b="b" t="t" l="l"/>
              <a:pathLst>
                <a:path h="6602730" w="5322570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5102352" y="0"/>
                  </a:lnTo>
                  <a:cubicBezTo>
                    <a:pt x="5224018" y="0"/>
                    <a:pt x="5322570" y="98552"/>
                    <a:pt x="5322570" y="220218"/>
                  </a:cubicBezTo>
                  <a:lnTo>
                    <a:pt x="5322570" y="6382512"/>
                  </a:lnTo>
                  <a:cubicBezTo>
                    <a:pt x="5322570" y="6504178"/>
                    <a:pt x="5224018" y="6602730"/>
                    <a:pt x="5102352" y="6602730"/>
                  </a:cubicBezTo>
                  <a:lnTo>
                    <a:pt x="220218" y="6602730"/>
                  </a:lnTo>
                  <a:cubicBezTo>
                    <a:pt x="98552" y="6602730"/>
                    <a:pt x="0" y="6504178"/>
                    <a:pt x="0" y="638251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5280660" y="3019425"/>
            <a:ext cx="3429000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0F1B3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0.5 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280660" y="3724275"/>
            <a:ext cx="342900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i="true">
                <a:solidFill>
                  <a:srgbClr val="0F1B3D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"a corporate event"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5280660" y="4381500"/>
            <a:ext cx="3425666" cy="770775"/>
            <a:chOff x="0" y="0"/>
            <a:chExt cx="2926080" cy="65836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926080" cy="658368"/>
            </a:xfrm>
            <a:custGeom>
              <a:avLst/>
              <a:gdLst/>
              <a:ahLst/>
              <a:cxnLst/>
              <a:rect r="r" b="b" t="t" l="l"/>
              <a:pathLst>
                <a:path h="658368" w="292608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2596896" y="0"/>
                  </a:lnTo>
                  <a:cubicBezTo>
                    <a:pt x="2778760" y="0"/>
                    <a:pt x="2926080" y="147320"/>
                    <a:pt x="2926080" y="329184"/>
                  </a:cubicBezTo>
                  <a:cubicBezTo>
                    <a:pt x="2926080" y="511048"/>
                    <a:pt x="2778760" y="658368"/>
                    <a:pt x="2596896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D5DDEB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253878" y="4482453"/>
            <a:ext cx="3129187" cy="704067"/>
            <a:chOff x="0" y="0"/>
            <a:chExt cx="2926080" cy="65836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926080" cy="658368"/>
            </a:xfrm>
            <a:custGeom>
              <a:avLst/>
              <a:gdLst/>
              <a:ahLst/>
              <a:cxnLst/>
              <a:rect r="r" b="b" t="t" l="l"/>
              <a:pathLst>
                <a:path h="65836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600" r="0" b="-3660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2926080" cy="705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59"/>
                </a:lnSpc>
              </a:pPr>
              <a:r>
                <a:rPr lang="en-US" sz="2549" b="true">
                  <a:solidFill>
                    <a:srgbClr val="0F1B3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WAIT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5280660" y="5722620"/>
            <a:ext cx="3429000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55627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3 stable entities. Still below threshold.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182576" y="2873216"/>
            <a:ext cx="3991928" cy="4952047"/>
            <a:chOff x="0" y="0"/>
            <a:chExt cx="5322570" cy="660273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322570" cy="6602730"/>
            </a:xfrm>
            <a:custGeom>
              <a:avLst/>
              <a:gdLst/>
              <a:ahLst/>
              <a:cxnLst/>
              <a:rect r="r" b="b" t="t" l="l"/>
              <a:pathLst>
                <a:path h="6602730" w="5322570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5102352" y="0"/>
                  </a:lnTo>
                  <a:cubicBezTo>
                    <a:pt x="5224018" y="0"/>
                    <a:pt x="5322570" y="98552"/>
                    <a:pt x="5322570" y="220218"/>
                  </a:cubicBezTo>
                  <a:lnTo>
                    <a:pt x="5322570" y="6382512"/>
                  </a:lnTo>
                  <a:cubicBezTo>
                    <a:pt x="5322570" y="6504178"/>
                    <a:pt x="5224018" y="6602730"/>
                    <a:pt x="5102352" y="6602730"/>
                  </a:cubicBezTo>
                  <a:lnTo>
                    <a:pt x="220218" y="6602730"/>
                  </a:lnTo>
                  <a:cubicBezTo>
                    <a:pt x="98552" y="6602730"/>
                    <a:pt x="0" y="6504178"/>
                    <a:pt x="0" y="638251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9464040" y="3019425"/>
            <a:ext cx="3429000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0F766E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1.2 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464040" y="3724275"/>
            <a:ext cx="342900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i="true">
                <a:solidFill>
                  <a:srgbClr val="0F1B3D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"booked for next week"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464040" y="5722620"/>
            <a:ext cx="3429000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55627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6 ≥ 4 stable entities: provisional retrieval, 10 chunks in 7.9 ms. Generator not invoked, ledger untouched.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3365956" y="2873216"/>
            <a:ext cx="3991928" cy="4952047"/>
            <a:chOff x="0" y="0"/>
            <a:chExt cx="5322570" cy="660273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322570" cy="6602730"/>
            </a:xfrm>
            <a:custGeom>
              <a:avLst/>
              <a:gdLst/>
              <a:ahLst/>
              <a:cxnLst/>
              <a:rect r="r" b="b" t="t" l="l"/>
              <a:pathLst>
                <a:path h="6602730" w="5322570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5102352" y="0"/>
                  </a:lnTo>
                  <a:cubicBezTo>
                    <a:pt x="5224018" y="0"/>
                    <a:pt x="5322570" y="98552"/>
                    <a:pt x="5322570" y="220218"/>
                  </a:cubicBezTo>
                  <a:lnTo>
                    <a:pt x="5322570" y="6382512"/>
                  </a:lnTo>
                  <a:cubicBezTo>
                    <a:pt x="5322570" y="6504178"/>
                    <a:pt x="5224018" y="6602730"/>
                    <a:pt x="5102352" y="6602730"/>
                  </a:cubicBezTo>
                  <a:lnTo>
                    <a:pt x="220218" y="6602730"/>
                  </a:lnTo>
                  <a:cubicBezTo>
                    <a:pt x="98552" y="6602730"/>
                    <a:pt x="0" y="6504178"/>
                    <a:pt x="0" y="638251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sp>
        <p:nvSpPr>
          <p:cNvPr name="TextBox 39" id="39"/>
          <p:cNvSpPr txBox="true"/>
          <p:nvPr/>
        </p:nvSpPr>
        <p:spPr>
          <a:xfrm rot="0">
            <a:off x="13647420" y="3019425"/>
            <a:ext cx="3429000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B45309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2.0 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647420" y="3724275"/>
            <a:ext cx="342900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i="true">
                <a:solidFill>
                  <a:srgbClr val="0F1B3D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"...because of a force majeure closure."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647420" y="5722620"/>
            <a:ext cx="342900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55627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End of utterance: cache hit reuses 10 pre-warmed chunks, then fuse, ground, answer.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815816" y="8153876"/>
            <a:ext cx="16651796" cy="1180148"/>
            <a:chOff x="0" y="0"/>
            <a:chExt cx="22202394" cy="157353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202394" cy="1573530"/>
            </a:xfrm>
            <a:custGeom>
              <a:avLst/>
              <a:gdLst/>
              <a:ahLst/>
              <a:cxnLst/>
              <a:rect r="r" b="b" t="t" l="l"/>
              <a:pathLst>
                <a:path h="1573530" w="22202394">
                  <a:moveTo>
                    <a:pt x="0" y="222123"/>
                  </a:moveTo>
                  <a:cubicBezTo>
                    <a:pt x="0" y="99441"/>
                    <a:pt x="99441" y="0"/>
                    <a:pt x="222123" y="0"/>
                  </a:cubicBezTo>
                  <a:lnTo>
                    <a:pt x="21980271" y="0"/>
                  </a:lnTo>
                  <a:cubicBezTo>
                    <a:pt x="22102953" y="0"/>
                    <a:pt x="22202394" y="99441"/>
                    <a:pt x="22202394" y="222123"/>
                  </a:cubicBezTo>
                  <a:lnTo>
                    <a:pt x="22202394" y="1351407"/>
                  </a:lnTo>
                  <a:cubicBezTo>
                    <a:pt x="22202394" y="1474089"/>
                    <a:pt x="22102953" y="1573530"/>
                    <a:pt x="21980271" y="1573530"/>
                  </a:cubicBezTo>
                  <a:lnTo>
                    <a:pt x="222123" y="1573530"/>
                  </a:lnTo>
                  <a:cubicBezTo>
                    <a:pt x="99441" y="1573530"/>
                    <a:pt x="0" y="1474089"/>
                    <a:pt x="0" y="1351407"/>
                  </a:cubicBezTo>
                  <a:close/>
                </a:path>
              </a:pathLst>
            </a:custGeom>
            <a:solidFill>
              <a:srgbClr val="EAF0FB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165860" y="8161020"/>
            <a:ext cx="16047720" cy="1165860"/>
            <a:chOff x="0" y="0"/>
            <a:chExt cx="21396960" cy="15544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1396961" cy="1554480"/>
            </a:xfrm>
            <a:custGeom>
              <a:avLst/>
              <a:gdLst/>
              <a:ahLst/>
              <a:cxnLst/>
              <a:rect r="r" b="b" t="t" l="l"/>
              <a:pathLst>
                <a:path h="155448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8205" r="0" b="-21820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2139696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B45309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KEY DIFFERENCE  </a:t>
              </a:r>
              <a:r>
                <a:rPr lang="en-US" sz="2100">
                  <a:solidFill>
                    <a:srgbClr val="0F1B3D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Retrieval starts before utterance completion; synthesis waits for a stable, verified state. Timings are from a logged run of the demo scenario.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28700" y="4372725"/>
            <a:ext cx="3425666" cy="770775"/>
            <a:chOff x="0" y="0"/>
            <a:chExt cx="2926080" cy="65836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926080" cy="658368"/>
            </a:xfrm>
            <a:custGeom>
              <a:avLst/>
              <a:gdLst/>
              <a:ahLst/>
              <a:cxnLst/>
              <a:rect r="r" b="b" t="t" l="l"/>
              <a:pathLst>
                <a:path h="658368" w="292608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2596896" y="0"/>
                  </a:lnTo>
                  <a:cubicBezTo>
                    <a:pt x="2778760" y="0"/>
                    <a:pt x="2926080" y="147320"/>
                    <a:pt x="2926080" y="329184"/>
                  </a:cubicBezTo>
                  <a:cubicBezTo>
                    <a:pt x="2926080" y="511048"/>
                    <a:pt x="2778760" y="658368"/>
                    <a:pt x="2596896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D5DDEB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496066" y="4482453"/>
            <a:ext cx="2194560" cy="493776"/>
            <a:chOff x="0" y="0"/>
            <a:chExt cx="2926080" cy="65836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926080" cy="658368"/>
            </a:xfrm>
            <a:custGeom>
              <a:avLst/>
              <a:gdLst/>
              <a:ahLst/>
              <a:cxnLst/>
              <a:rect r="r" b="b" t="t" l="l"/>
              <a:pathLst>
                <a:path h="65836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600" r="0" b="-3660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2926080" cy="705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59"/>
                </a:lnSpc>
              </a:pPr>
              <a:r>
                <a:rPr lang="en-US" sz="2549" b="true">
                  <a:solidFill>
                    <a:srgbClr val="0F1B3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WAIT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534049" y="4381500"/>
            <a:ext cx="3425666" cy="770775"/>
            <a:chOff x="0" y="0"/>
            <a:chExt cx="2926080" cy="65836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926080" cy="658368"/>
            </a:xfrm>
            <a:custGeom>
              <a:avLst/>
              <a:gdLst/>
              <a:ahLst/>
              <a:cxnLst/>
              <a:rect r="r" b="b" t="t" l="l"/>
              <a:pathLst>
                <a:path h="658368" w="292608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2596896" y="0"/>
                  </a:lnTo>
                  <a:cubicBezTo>
                    <a:pt x="2778760" y="0"/>
                    <a:pt x="2926080" y="147320"/>
                    <a:pt x="2926080" y="329184"/>
                  </a:cubicBezTo>
                  <a:cubicBezTo>
                    <a:pt x="2926080" y="511048"/>
                    <a:pt x="2778760" y="658368"/>
                    <a:pt x="2596896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0F766E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0081260" y="4562671"/>
            <a:ext cx="2194560" cy="493776"/>
            <a:chOff x="0" y="0"/>
            <a:chExt cx="2926080" cy="65836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926080" cy="658368"/>
            </a:xfrm>
            <a:custGeom>
              <a:avLst/>
              <a:gdLst/>
              <a:ahLst/>
              <a:cxnLst/>
              <a:rect r="r" b="b" t="t" l="l"/>
              <a:pathLst>
                <a:path h="65836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600" r="0" b="-3660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2926080" cy="705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59"/>
                </a:lnSpc>
              </a:pPr>
              <a:r>
                <a:rPr lang="en-US" sz="2549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RETRIEVE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3602748" y="4449099"/>
            <a:ext cx="3425666" cy="770775"/>
            <a:chOff x="0" y="0"/>
            <a:chExt cx="2926080" cy="65836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926080" cy="658368"/>
            </a:xfrm>
            <a:custGeom>
              <a:avLst/>
              <a:gdLst/>
              <a:ahLst/>
              <a:cxnLst/>
              <a:rect r="r" b="b" t="t" l="l"/>
              <a:pathLst>
                <a:path h="658368" w="292608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2596896" y="0"/>
                  </a:lnTo>
                  <a:cubicBezTo>
                    <a:pt x="2778760" y="0"/>
                    <a:pt x="2926080" y="147320"/>
                    <a:pt x="2926080" y="329184"/>
                  </a:cubicBezTo>
                  <a:cubicBezTo>
                    <a:pt x="2926080" y="511048"/>
                    <a:pt x="2778760" y="658368"/>
                    <a:pt x="2596896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B45309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4327029" y="4572000"/>
            <a:ext cx="2194560" cy="493776"/>
            <a:chOff x="0" y="0"/>
            <a:chExt cx="2926080" cy="65836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926080" cy="658368"/>
            </a:xfrm>
            <a:custGeom>
              <a:avLst/>
              <a:gdLst/>
              <a:ahLst/>
              <a:cxnLst/>
              <a:rect r="r" b="b" t="t" l="l"/>
              <a:pathLst>
                <a:path h="65836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600" r="0" b="-3660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2926080" cy="705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59"/>
                </a:lnSpc>
              </a:pPr>
              <a:r>
                <a:rPr lang="en-US" sz="2549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SYNTHESIZE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48640"/>
            <a:ext cx="12344400" cy="411480"/>
            <a:chOff x="0" y="0"/>
            <a:chExt cx="164592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459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0F766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06 · TECHNICAL DEPTH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596360" cy="960120"/>
            <a:chOff x="0" y="0"/>
            <a:chExt cx="2212848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6812" r="0" b="-28681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22128480" cy="1375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F1B3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An engineered RAG system, not a prompt wrapper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1988820"/>
            <a:ext cx="16596360" cy="548640"/>
            <a:chOff x="0" y="0"/>
            <a:chExt cx="2212848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1284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Explicit control, retrieval, verification, state and telemetry layers.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9669780"/>
            <a:ext cx="13716000" cy="342900"/>
            <a:chOff x="0" y="0"/>
            <a:chExt cx="18288000" cy="457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88000" cy="457200"/>
            </a:xfrm>
            <a:custGeom>
              <a:avLst/>
              <a:gdLst/>
              <a:ahLst/>
              <a:cxnLst/>
              <a:rect r="r" b="b" t="t" l="l"/>
              <a:pathLst>
                <a:path h="457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9401" r="0" b="-72940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8288000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SAMSUNG PRISM GenAI Hackathon  ·  Theme 04 Streaming Live RAG  ·  Team Cracked Code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596360" y="9669780"/>
            <a:ext cx="864108" cy="342900"/>
            <a:chOff x="0" y="0"/>
            <a:chExt cx="1152144" cy="457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52144" cy="457200"/>
            </a:xfrm>
            <a:custGeom>
              <a:avLst/>
              <a:gdLst/>
              <a:ahLst/>
              <a:cxnLst/>
              <a:rect r="r" b="b" t="t" l="l"/>
              <a:pathLst>
                <a:path h="457200" w="1152144">
                  <a:moveTo>
                    <a:pt x="0" y="0"/>
                  </a:moveTo>
                  <a:lnTo>
                    <a:pt x="1152144" y="0"/>
                  </a:lnTo>
                  <a:lnTo>
                    <a:pt x="115214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14" t="0" r="-914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152144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7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15816" y="2873216"/>
            <a:ext cx="5432108" cy="3168967"/>
            <a:chOff x="0" y="0"/>
            <a:chExt cx="7242810" cy="42252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242810" cy="4225290"/>
            </a:xfrm>
            <a:custGeom>
              <a:avLst/>
              <a:gdLst/>
              <a:ahLst/>
              <a:cxnLst/>
              <a:rect r="r" b="b" t="t" l="l"/>
              <a:pathLst>
                <a:path h="4225290" w="7242810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7022338" y="0"/>
                  </a:lnTo>
                  <a:cubicBezTo>
                    <a:pt x="7144131" y="0"/>
                    <a:pt x="7242810" y="98679"/>
                    <a:pt x="7242810" y="220472"/>
                  </a:cubicBezTo>
                  <a:lnTo>
                    <a:pt x="7242810" y="4004818"/>
                  </a:lnTo>
                  <a:cubicBezTo>
                    <a:pt x="7242810" y="4126611"/>
                    <a:pt x="7144131" y="4225290"/>
                    <a:pt x="7022338" y="4225290"/>
                  </a:cubicBezTo>
                  <a:lnTo>
                    <a:pt x="220472" y="4225290"/>
                  </a:lnTo>
                  <a:cubicBezTo>
                    <a:pt x="98679" y="4225290"/>
                    <a:pt x="0" y="4126611"/>
                    <a:pt x="0" y="400481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097280" y="3154680"/>
            <a:ext cx="1920240" cy="438912"/>
            <a:chOff x="0" y="0"/>
            <a:chExt cx="2560320" cy="58521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560320" cy="585216"/>
            </a:xfrm>
            <a:custGeom>
              <a:avLst/>
              <a:gdLst/>
              <a:ahLst/>
              <a:cxnLst/>
              <a:rect r="r" b="b" t="t" l="l"/>
              <a:pathLst>
                <a:path h="585216" w="256032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2267712" y="0"/>
                  </a:lnTo>
                  <a:cubicBezTo>
                    <a:pt x="2429256" y="0"/>
                    <a:pt x="2560320" y="131064"/>
                    <a:pt x="2560320" y="292608"/>
                  </a:cubicBezTo>
                  <a:cubicBezTo>
                    <a:pt x="2560320" y="454152"/>
                    <a:pt x="2429256" y="585216"/>
                    <a:pt x="2267712" y="585216"/>
                  </a:cubicBezTo>
                  <a:lnTo>
                    <a:pt x="292608" y="585216"/>
                  </a:ln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1428A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97280" y="3115806"/>
            <a:ext cx="2090313" cy="477786"/>
            <a:chOff x="0" y="0"/>
            <a:chExt cx="2560320" cy="58521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560320" cy="585216"/>
            </a:xfrm>
            <a:custGeom>
              <a:avLst/>
              <a:gdLst/>
              <a:ahLst/>
              <a:cxnLst/>
              <a:rect r="r" b="b" t="t" l="l"/>
              <a:pathLst>
                <a:path h="58521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247" r="0" b="-3524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2560320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 spc="150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CONTROL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097280" y="3765423"/>
            <a:ext cx="4869180" cy="166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9"/>
              </a:lnSpc>
            </a:pPr>
            <a:r>
              <a:rPr lang="en-US" sz="2174">
                <a:solidFill>
                  <a:srgbClr val="0F1B3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Intent-stability policy over the partial transcript: WAIT until enough stable entities, RETRIEVE provisionally, SUPPRESS when the turn only asks to reformat (zero retrieval calls).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6439376" y="2873216"/>
            <a:ext cx="5432108" cy="3168967"/>
            <a:chOff x="0" y="0"/>
            <a:chExt cx="7242810" cy="422529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242810" cy="4225290"/>
            </a:xfrm>
            <a:custGeom>
              <a:avLst/>
              <a:gdLst/>
              <a:ahLst/>
              <a:cxnLst/>
              <a:rect r="r" b="b" t="t" l="l"/>
              <a:pathLst>
                <a:path h="4225290" w="7242810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7022338" y="0"/>
                  </a:lnTo>
                  <a:cubicBezTo>
                    <a:pt x="7144131" y="0"/>
                    <a:pt x="7242810" y="98679"/>
                    <a:pt x="7242810" y="220472"/>
                  </a:cubicBezTo>
                  <a:lnTo>
                    <a:pt x="7242810" y="4004818"/>
                  </a:lnTo>
                  <a:cubicBezTo>
                    <a:pt x="7242810" y="4126611"/>
                    <a:pt x="7144131" y="4225290"/>
                    <a:pt x="7022338" y="4225290"/>
                  </a:cubicBezTo>
                  <a:lnTo>
                    <a:pt x="220472" y="4225290"/>
                  </a:lnTo>
                  <a:cubicBezTo>
                    <a:pt x="98679" y="4225290"/>
                    <a:pt x="0" y="4126611"/>
                    <a:pt x="0" y="400481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6720840" y="3154680"/>
            <a:ext cx="1920240" cy="438912"/>
            <a:chOff x="0" y="0"/>
            <a:chExt cx="2560320" cy="58521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560320" cy="585216"/>
            </a:xfrm>
            <a:custGeom>
              <a:avLst/>
              <a:gdLst/>
              <a:ahLst/>
              <a:cxnLst/>
              <a:rect r="r" b="b" t="t" l="l"/>
              <a:pathLst>
                <a:path h="585216" w="256032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2267712" y="0"/>
                  </a:lnTo>
                  <a:cubicBezTo>
                    <a:pt x="2429256" y="0"/>
                    <a:pt x="2560320" y="131064"/>
                    <a:pt x="2560320" y="292608"/>
                  </a:cubicBezTo>
                  <a:cubicBezTo>
                    <a:pt x="2560320" y="454152"/>
                    <a:pt x="2429256" y="585216"/>
                    <a:pt x="2267712" y="585216"/>
                  </a:cubicBezTo>
                  <a:lnTo>
                    <a:pt x="292608" y="585216"/>
                  </a:ln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0F766E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720840" y="3154680"/>
            <a:ext cx="1920240" cy="438912"/>
            <a:chOff x="0" y="0"/>
            <a:chExt cx="2560320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560320" cy="585216"/>
            </a:xfrm>
            <a:custGeom>
              <a:avLst/>
              <a:gdLst/>
              <a:ahLst/>
              <a:cxnLst/>
              <a:rect r="r" b="b" t="t" l="l"/>
              <a:pathLst>
                <a:path h="58521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247" r="0" b="-3524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2560320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 spc="150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REASONING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6720840" y="3765423"/>
            <a:ext cx="4869180" cy="166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9"/>
              </a:lnSpc>
            </a:pPr>
            <a:r>
              <a:rPr lang="en-US" sz="2174">
                <a:solidFill>
                  <a:srgbClr val="0F1B3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Multi-intent decomposer splits compound speech into search-ready sub-queries. Entity protection keeps names like capitalized pairs intact; a guardrail rejects prepositional fragments.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2062936" y="2873216"/>
            <a:ext cx="5432108" cy="3168967"/>
            <a:chOff x="0" y="0"/>
            <a:chExt cx="7242810" cy="422529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242810" cy="4225290"/>
            </a:xfrm>
            <a:custGeom>
              <a:avLst/>
              <a:gdLst/>
              <a:ahLst/>
              <a:cxnLst/>
              <a:rect r="r" b="b" t="t" l="l"/>
              <a:pathLst>
                <a:path h="4225290" w="7242810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7022338" y="0"/>
                  </a:lnTo>
                  <a:cubicBezTo>
                    <a:pt x="7144131" y="0"/>
                    <a:pt x="7242810" y="98679"/>
                    <a:pt x="7242810" y="220472"/>
                  </a:cubicBezTo>
                  <a:lnTo>
                    <a:pt x="7242810" y="4004818"/>
                  </a:lnTo>
                  <a:cubicBezTo>
                    <a:pt x="7242810" y="4126611"/>
                    <a:pt x="7144131" y="4225290"/>
                    <a:pt x="7022338" y="4225290"/>
                  </a:cubicBezTo>
                  <a:lnTo>
                    <a:pt x="220472" y="4225290"/>
                  </a:lnTo>
                  <a:cubicBezTo>
                    <a:pt x="98679" y="4225290"/>
                    <a:pt x="0" y="4126611"/>
                    <a:pt x="0" y="400481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2344400" y="3154680"/>
            <a:ext cx="1920240" cy="438912"/>
            <a:chOff x="0" y="0"/>
            <a:chExt cx="2560320" cy="58521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560320" cy="585216"/>
            </a:xfrm>
            <a:custGeom>
              <a:avLst/>
              <a:gdLst/>
              <a:ahLst/>
              <a:cxnLst/>
              <a:rect r="r" b="b" t="t" l="l"/>
              <a:pathLst>
                <a:path h="585216" w="256032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2267712" y="0"/>
                  </a:lnTo>
                  <a:cubicBezTo>
                    <a:pt x="2429256" y="0"/>
                    <a:pt x="2560320" y="131064"/>
                    <a:pt x="2560320" y="292608"/>
                  </a:cubicBezTo>
                  <a:cubicBezTo>
                    <a:pt x="2560320" y="454152"/>
                    <a:pt x="2429256" y="585216"/>
                    <a:pt x="2267712" y="585216"/>
                  </a:cubicBezTo>
                  <a:lnTo>
                    <a:pt x="292608" y="585216"/>
                  </a:ln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B45309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344400" y="3154680"/>
            <a:ext cx="1920240" cy="438912"/>
            <a:chOff x="0" y="0"/>
            <a:chExt cx="2560320" cy="58521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560320" cy="585216"/>
            </a:xfrm>
            <a:custGeom>
              <a:avLst/>
              <a:gdLst/>
              <a:ahLst/>
              <a:cxnLst/>
              <a:rect r="r" b="b" t="t" l="l"/>
              <a:pathLst>
                <a:path h="58521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247" r="0" b="-35247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2560320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 spc="150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RETRIEVAL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2344400" y="3765423"/>
            <a:ext cx="4869180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9"/>
              </a:lnSpc>
            </a:pPr>
            <a:r>
              <a:rPr lang="en-US" sz="2174">
                <a:solidFill>
                  <a:srgbClr val="0F1B3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Dense + sparse candidates per sub-query, RRF fusion, then reranker. Reranker corrects distractors ranked above the true answer.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815816" y="6233636"/>
            <a:ext cx="5432108" cy="3168967"/>
            <a:chOff x="0" y="0"/>
            <a:chExt cx="7242810" cy="422529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242810" cy="4225290"/>
            </a:xfrm>
            <a:custGeom>
              <a:avLst/>
              <a:gdLst/>
              <a:ahLst/>
              <a:cxnLst/>
              <a:rect r="r" b="b" t="t" l="l"/>
              <a:pathLst>
                <a:path h="4225290" w="7242810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7022338" y="0"/>
                  </a:lnTo>
                  <a:cubicBezTo>
                    <a:pt x="7144131" y="0"/>
                    <a:pt x="7242810" y="98679"/>
                    <a:pt x="7242810" y="220472"/>
                  </a:cubicBezTo>
                  <a:lnTo>
                    <a:pt x="7242810" y="4004818"/>
                  </a:lnTo>
                  <a:cubicBezTo>
                    <a:pt x="7242810" y="4126611"/>
                    <a:pt x="7144131" y="4225290"/>
                    <a:pt x="7022338" y="4225290"/>
                  </a:cubicBezTo>
                  <a:lnTo>
                    <a:pt x="220472" y="4225290"/>
                  </a:lnTo>
                  <a:cubicBezTo>
                    <a:pt x="98679" y="4225290"/>
                    <a:pt x="0" y="4126611"/>
                    <a:pt x="0" y="400481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097280" y="6515100"/>
            <a:ext cx="1920240" cy="438912"/>
            <a:chOff x="0" y="0"/>
            <a:chExt cx="2560320" cy="58521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560320" cy="585216"/>
            </a:xfrm>
            <a:custGeom>
              <a:avLst/>
              <a:gdLst/>
              <a:ahLst/>
              <a:cxnLst/>
              <a:rect r="r" b="b" t="t" l="l"/>
              <a:pathLst>
                <a:path h="585216" w="256032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2267712" y="0"/>
                  </a:lnTo>
                  <a:cubicBezTo>
                    <a:pt x="2429256" y="0"/>
                    <a:pt x="2560320" y="131064"/>
                    <a:pt x="2560320" y="292608"/>
                  </a:cubicBezTo>
                  <a:cubicBezTo>
                    <a:pt x="2560320" y="454152"/>
                    <a:pt x="2429256" y="585216"/>
                    <a:pt x="2267712" y="585216"/>
                  </a:cubicBezTo>
                  <a:lnTo>
                    <a:pt x="292608" y="585216"/>
                  </a:ln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C2334D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097280" y="6515100"/>
            <a:ext cx="1920240" cy="438912"/>
            <a:chOff x="0" y="0"/>
            <a:chExt cx="2560320" cy="58521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560320" cy="585216"/>
            </a:xfrm>
            <a:custGeom>
              <a:avLst/>
              <a:gdLst/>
              <a:ahLst/>
              <a:cxnLst/>
              <a:rect r="r" b="b" t="t" l="l"/>
              <a:pathLst>
                <a:path h="58521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247" r="0" b="-35247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2560320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 spc="150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GROUNDING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097280" y="7125843"/>
            <a:ext cx="4869180" cy="166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9"/>
              </a:lnSpc>
            </a:pPr>
            <a:r>
              <a:rPr lang="en-US" sz="2174">
                <a:solidFill>
                  <a:srgbClr val="0F1B3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Claims decomposed to atomic form, each checked against the chunks it cites. Unknown chunk IDs are treated as fabricated; contradictions surface both sides.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6439376" y="6233636"/>
            <a:ext cx="5432108" cy="3168967"/>
            <a:chOff x="0" y="0"/>
            <a:chExt cx="7242810" cy="422529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242810" cy="4225290"/>
            </a:xfrm>
            <a:custGeom>
              <a:avLst/>
              <a:gdLst/>
              <a:ahLst/>
              <a:cxnLst/>
              <a:rect r="r" b="b" t="t" l="l"/>
              <a:pathLst>
                <a:path h="4225290" w="7242810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7022338" y="0"/>
                  </a:lnTo>
                  <a:cubicBezTo>
                    <a:pt x="7144131" y="0"/>
                    <a:pt x="7242810" y="98679"/>
                    <a:pt x="7242810" y="220472"/>
                  </a:cubicBezTo>
                  <a:lnTo>
                    <a:pt x="7242810" y="4004818"/>
                  </a:lnTo>
                  <a:cubicBezTo>
                    <a:pt x="7242810" y="4126611"/>
                    <a:pt x="7144131" y="4225290"/>
                    <a:pt x="7022338" y="4225290"/>
                  </a:cubicBezTo>
                  <a:lnTo>
                    <a:pt x="220472" y="4225290"/>
                  </a:lnTo>
                  <a:cubicBezTo>
                    <a:pt x="98679" y="4225290"/>
                    <a:pt x="0" y="4126611"/>
                    <a:pt x="0" y="400481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6720840" y="6515100"/>
            <a:ext cx="1920240" cy="438912"/>
            <a:chOff x="0" y="0"/>
            <a:chExt cx="2560320" cy="58521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560320" cy="585216"/>
            </a:xfrm>
            <a:custGeom>
              <a:avLst/>
              <a:gdLst/>
              <a:ahLst/>
              <a:cxnLst/>
              <a:rect r="r" b="b" t="t" l="l"/>
              <a:pathLst>
                <a:path h="585216" w="256032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2267712" y="0"/>
                  </a:lnTo>
                  <a:cubicBezTo>
                    <a:pt x="2429256" y="0"/>
                    <a:pt x="2560320" y="131064"/>
                    <a:pt x="2560320" y="292608"/>
                  </a:cubicBezTo>
                  <a:cubicBezTo>
                    <a:pt x="2560320" y="454152"/>
                    <a:pt x="2429256" y="585216"/>
                    <a:pt x="2267712" y="585216"/>
                  </a:cubicBezTo>
                  <a:lnTo>
                    <a:pt x="292608" y="585216"/>
                  </a:ln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1428A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720840" y="6515100"/>
            <a:ext cx="1920240" cy="438912"/>
            <a:chOff x="0" y="0"/>
            <a:chExt cx="2560320" cy="58521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560320" cy="585216"/>
            </a:xfrm>
            <a:custGeom>
              <a:avLst/>
              <a:gdLst/>
              <a:ahLst/>
              <a:cxnLst/>
              <a:rect r="r" b="b" t="t" l="l"/>
              <a:pathLst>
                <a:path h="58521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247" r="0" b="-35247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2560320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 spc="150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SESSION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6720840" y="7125843"/>
            <a:ext cx="4869180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9"/>
              </a:lnSpc>
            </a:pPr>
            <a:r>
              <a:rPr lang="en-US" sz="2174">
                <a:solidFill>
                  <a:srgbClr val="0F1B3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Answer ledger keeps versioned claims and evidence. Refinements dedupe already-cited chunks and supersede only the affected claims.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12062936" y="6233636"/>
            <a:ext cx="5432108" cy="3168967"/>
            <a:chOff x="0" y="0"/>
            <a:chExt cx="7242810" cy="422529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242810" cy="4225290"/>
            </a:xfrm>
            <a:custGeom>
              <a:avLst/>
              <a:gdLst/>
              <a:ahLst/>
              <a:cxnLst/>
              <a:rect r="r" b="b" t="t" l="l"/>
              <a:pathLst>
                <a:path h="4225290" w="7242810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7022338" y="0"/>
                  </a:lnTo>
                  <a:cubicBezTo>
                    <a:pt x="7144131" y="0"/>
                    <a:pt x="7242810" y="98679"/>
                    <a:pt x="7242810" y="220472"/>
                  </a:cubicBezTo>
                  <a:lnTo>
                    <a:pt x="7242810" y="4004818"/>
                  </a:lnTo>
                  <a:cubicBezTo>
                    <a:pt x="7242810" y="4126611"/>
                    <a:pt x="7144131" y="4225290"/>
                    <a:pt x="7022338" y="4225290"/>
                  </a:cubicBezTo>
                  <a:lnTo>
                    <a:pt x="220472" y="4225290"/>
                  </a:lnTo>
                  <a:cubicBezTo>
                    <a:pt x="98679" y="4225290"/>
                    <a:pt x="0" y="4126611"/>
                    <a:pt x="0" y="400481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2344400" y="6515100"/>
            <a:ext cx="1920240" cy="438912"/>
            <a:chOff x="0" y="0"/>
            <a:chExt cx="2560320" cy="58521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560320" cy="585216"/>
            </a:xfrm>
            <a:custGeom>
              <a:avLst/>
              <a:gdLst/>
              <a:ahLst/>
              <a:cxnLst/>
              <a:rect r="r" b="b" t="t" l="l"/>
              <a:pathLst>
                <a:path h="585216" w="256032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2267712" y="0"/>
                  </a:lnTo>
                  <a:cubicBezTo>
                    <a:pt x="2429256" y="0"/>
                    <a:pt x="2560320" y="131064"/>
                    <a:pt x="2560320" y="292608"/>
                  </a:cubicBezTo>
                  <a:cubicBezTo>
                    <a:pt x="2560320" y="454152"/>
                    <a:pt x="2429256" y="585216"/>
                    <a:pt x="2267712" y="585216"/>
                  </a:cubicBezTo>
                  <a:lnTo>
                    <a:pt x="292608" y="585216"/>
                  </a:ln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0F766E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2344400" y="6515100"/>
            <a:ext cx="1920240" cy="438912"/>
            <a:chOff x="0" y="0"/>
            <a:chExt cx="2560320" cy="58521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560320" cy="585216"/>
            </a:xfrm>
            <a:custGeom>
              <a:avLst/>
              <a:gdLst/>
              <a:ahLst/>
              <a:cxnLst/>
              <a:rect r="r" b="b" t="t" l="l"/>
              <a:pathLst>
                <a:path h="58521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247" r="0" b="-35247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2560320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 spc="150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EVALUATION</a:t>
              </a: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12344400" y="7125843"/>
            <a:ext cx="4869180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9"/>
              </a:lnSpc>
            </a:pPr>
            <a:r>
              <a:rPr lang="en-US" sz="2174">
                <a:solidFill>
                  <a:srgbClr val="0F1B3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Pytest suite (73 tests), scenario benchmark across 5 categories, structured JSONL telemetry with stage timing, tokens and cost.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48640"/>
            <a:ext cx="12344400" cy="426974"/>
            <a:chOff x="0" y="0"/>
            <a:chExt cx="16459200" cy="5692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569298"/>
            </a:xfrm>
            <a:custGeom>
              <a:avLst/>
              <a:gdLst/>
              <a:ahLst/>
              <a:cxnLst/>
              <a:rect r="r" b="b" t="t" l="l"/>
              <a:pathLst>
                <a:path h="569298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69298"/>
                  </a:lnTo>
                  <a:lnTo>
                    <a:pt x="0" y="56929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5153" r="0" b="-5115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6459200" cy="6169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549">
                  <a:solidFill>
                    <a:srgbClr val="0F766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07 · SESSION REFINEMENT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596360" cy="1048892"/>
            <a:chOff x="0" y="0"/>
            <a:chExt cx="22128480" cy="13985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398523"/>
            </a:xfrm>
            <a:custGeom>
              <a:avLst/>
              <a:gdLst/>
              <a:ahLst/>
              <a:cxnLst/>
              <a:rect r="r" b="b" t="t" l="l"/>
              <a:pathLst>
                <a:path h="1398523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398523"/>
                  </a:lnTo>
                  <a:lnTo>
                    <a:pt x="0" y="139852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2538" r="0" b="-2540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22128480" cy="150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79"/>
                </a:lnSpc>
              </a:pPr>
              <a:r>
                <a:rPr lang="en-US" sz="5399" b="true">
                  <a:solidFill>
                    <a:srgbClr val="0F1B3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Refine, don't restart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1988820"/>
            <a:ext cx="16596360" cy="548640"/>
            <a:chOff x="0" y="0"/>
            <a:chExt cx="2212848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1284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59"/>
                </a:lnSpc>
              </a:pPr>
              <a:r>
                <a:rPr lang="en-US" sz="2549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The answer ledger lets a late detail change only what it must.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9669780"/>
            <a:ext cx="13716000" cy="342900"/>
            <a:chOff x="0" y="0"/>
            <a:chExt cx="18288000" cy="457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88000" cy="457200"/>
            </a:xfrm>
            <a:custGeom>
              <a:avLst/>
              <a:gdLst/>
              <a:ahLst/>
              <a:cxnLst/>
              <a:rect r="r" b="b" t="t" l="l"/>
              <a:pathLst>
                <a:path h="457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9401" r="0" b="-72940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8288000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699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SAMSUNG PRISM GenAI Hackathon  ·  Theme 04 Streaming Live RAG  ·  Team Cracked Code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596360" y="9669780"/>
            <a:ext cx="864108" cy="403669"/>
            <a:chOff x="0" y="0"/>
            <a:chExt cx="1152144" cy="5382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52144" cy="538225"/>
            </a:xfrm>
            <a:custGeom>
              <a:avLst/>
              <a:gdLst/>
              <a:ahLst/>
              <a:cxnLst/>
              <a:rect r="r" b="b" t="t" l="l"/>
              <a:pathLst>
                <a:path h="538225" w="1152144">
                  <a:moveTo>
                    <a:pt x="0" y="0"/>
                  </a:moveTo>
                  <a:lnTo>
                    <a:pt x="1152144" y="0"/>
                  </a:lnTo>
                  <a:lnTo>
                    <a:pt x="1152144" y="538225"/>
                  </a:lnTo>
                  <a:lnTo>
                    <a:pt x="0" y="53822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14" t="0" r="-914" b="1505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152144" cy="5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19"/>
                </a:lnSpc>
              </a:pPr>
              <a:r>
                <a:rPr lang="en-US" sz="2099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8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15816" y="2873216"/>
            <a:ext cx="3991928" cy="3443288"/>
            <a:chOff x="0" y="0"/>
            <a:chExt cx="5322570" cy="45910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322570" cy="4591050"/>
            </a:xfrm>
            <a:custGeom>
              <a:avLst/>
              <a:gdLst/>
              <a:ahLst/>
              <a:cxnLst/>
              <a:rect r="r" b="b" t="t" l="l"/>
              <a:pathLst>
                <a:path h="4591050" w="5322570">
                  <a:moveTo>
                    <a:pt x="0" y="220345"/>
                  </a:moveTo>
                  <a:cubicBezTo>
                    <a:pt x="0" y="98679"/>
                    <a:pt x="98679" y="0"/>
                    <a:pt x="220345" y="0"/>
                  </a:cubicBezTo>
                  <a:lnTo>
                    <a:pt x="5102225" y="0"/>
                  </a:lnTo>
                  <a:cubicBezTo>
                    <a:pt x="5223891" y="0"/>
                    <a:pt x="5322570" y="98679"/>
                    <a:pt x="5322570" y="220345"/>
                  </a:cubicBezTo>
                  <a:lnTo>
                    <a:pt x="5322570" y="4370705"/>
                  </a:lnTo>
                  <a:cubicBezTo>
                    <a:pt x="5322570" y="4492371"/>
                    <a:pt x="5223891" y="4591050"/>
                    <a:pt x="5102225" y="4591050"/>
                  </a:cubicBezTo>
                  <a:lnTo>
                    <a:pt x="220345" y="4591050"/>
                  </a:lnTo>
                  <a:cubicBezTo>
                    <a:pt x="98679" y="4591050"/>
                    <a:pt x="0" y="4492371"/>
                    <a:pt x="0" y="437070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097280" y="3154680"/>
            <a:ext cx="576072" cy="576072"/>
            <a:chOff x="0" y="0"/>
            <a:chExt cx="768096" cy="7680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0F766E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97280" y="3154680"/>
            <a:ext cx="576072" cy="576072"/>
            <a:chOff x="0" y="0"/>
            <a:chExt cx="768096" cy="76809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768096" cy="8252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39"/>
                </a:lnSpc>
              </a:pPr>
              <a:r>
                <a:rPr lang="en-US" sz="2699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1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851660" y="3154680"/>
            <a:ext cx="2743200" cy="576072"/>
            <a:chOff x="0" y="0"/>
            <a:chExt cx="3657600" cy="76809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657600" cy="768096"/>
            </a:xfrm>
            <a:custGeom>
              <a:avLst/>
              <a:gdLst/>
              <a:ahLst/>
              <a:cxnLst/>
              <a:rect r="r" b="b" t="t" l="l"/>
              <a:pathLst>
                <a:path h="768096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785" r="0" b="-4278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36576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 b="true">
                  <a:solidFill>
                    <a:srgbClr val="0F766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Turn 1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097280" y="3910965"/>
            <a:ext cx="342900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49" b="true">
                <a:solidFill>
                  <a:srgbClr val="0F1B3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Answer v1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97280" y="4606290"/>
            <a:ext cx="3429000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474">
                <a:solidFill>
                  <a:srgbClr val="55627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Claims c1, c2, c3 verified and cited to chunks.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773168" y="4029075"/>
            <a:ext cx="27432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4499" b="true">
                <a:solidFill>
                  <a:srgbClr val="55627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›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4999196" y="2873216"/>
            <a:ext cx="3991928" cy="3443288"/>
            <a:chOff x="0" y="0"/>
            <a:chExt cx="5322570" cy="45910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322570" cy="4591050"/>
            </a:xfrm>
            <a:custGeom>
              <a:avLst/>
              <a:gdLst/>
              <a:ahLst/>
              <a:cxnLst/>
              <a:rect r="r" b="b" t="t" l="l"/>
              <a:pathLst>
                <a:path h="4591050" w="5322570">
                  <a:moveTo>
                    <a:pt x="0" y="220345"/>
                  </a:moveTo>
                  <a:cubicBezTo>
                    <a:pt x="0" y="98679"/>
                    <a:pt x="98679" y="0"/>
                    <a:pt x="220345" y="0"/>
                  </a:cubicBezTo>
                  <a:lnTo>
                    <a:pt x="5102225" y="0"/>
                  </a:lnTo>
                  <a:cubicBezTo>
                    <a:pt x="5223891" y="0"/>
                    <a:pt x="5322570" y="98679"/>
                    <a:pt x="5322570" y="220345"/>
                  </a:cubicBezTo>
                  <a:lnTo>
                    <a:pt x="5322570" y="4370705"/>
                  </a:lnTo>
                  <a:cubicBezTo>
                    <a:pt x="5322570" y="4492371"/>
                    <a:pt x="5223891" y="4591050"/>
                    <a:pt x="5102225" y="4591050"/>
                  </a:cubicBezTo>
                  <a:lnTo>
                    <a:pt x="220345" y="4591050"/>
                  </a:lnTo>
                  <a:cubicBezTo>
                    <a:pt x="98679" y="4591050"/>
                    <a:pt x="0" y="4492371"/>
                    <a:pt x="0" y="437070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5280660" y="3154680"/>
            <a:ext cx="576072" cy="576072"/>
            <a:chOff x="0" y="0"/>
            <a:chExt cx="768096" cy="76809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B45309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5280660" y="3154680"/>
            <a:ext cx="576072" cy="576072"/>
            <a:chOff x="0" y="0"/>
            <a:chExt cx="768096" cy="76809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768096" cy="8252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39"/>
                </a:lnSpc>
              </a:pPr>
              <a:r>
                <a:rPr lang="en-US" sz="2699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2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035040" y="3154680"/>
            <a:ext cx="2743200" cy="576072"/>
            <a:chOff x="0" y="0"/>
            <a:chExt cx="3657600" cy="76809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657600" cy="768096"/>
            </a:xfrm>
            <a:custGeom>
              <a:avLst/>
              <a:gdLst/>
              <a:ahLst/>
              <a:cxnLst/>
              <a:rect r="r" b="b" t="t" l="l"/>
              <a:pathLst>
                <a:path h="768096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785" r="0" b="-4278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36576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 b="true">
                  <a:solidFill>
                    <a:srgbClr val="B45309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Late detail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5280660" y="3910965"/>
            <a:ext cx="342900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49" b="true">
                <a:solidFill>
                  <a:srgbClr val="0F1B3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Delta retrieval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280660" y="4606290"/>
            <a:ext cx="3429000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474">
                <a:solidFill>
                  <a:srgbClr val="55627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Only new chunks are fetched; already-cited chunks are skipped.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956548" y="4029075"/>
            <a:ext cx="27432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4499" b="true">
                <a:solidFill>
                  <a:srgbClr val="55627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›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9182576" y="2873216"/>
            <a:ext cx="3991928" cy="3443288"/>
            <a:chOff x="0" y="0"/>
            <a:chExt cx="5322570" cy="459105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322570" cy="4591050"/>
            </a:xfrm>
            <a:custGeom>
              <a:avLst/>
              <a:gdLst/>
              <a:ahLst/>
              <a:cxnLst/>
              <a:rect r="r" b="b" t="t" l="l"/>
              <a:pathLst>
                <a:path h="4591050" w="5322570">
                  <a:moveTo>
                    <a:pt x="0" y="220345"/>
                  </a:moveTo>
                  <a:cubicBezTo>
                    <a:pt x="0" y="98679"/>
                    <a:pt x="98679" y="0"/>
                    <a:pt x="220345" y="0"/>
                  </a:cubicBezTo>
                  <a:lnTo>
                    <a:pt x="5102225" y="0"/>
                  </a:lnTo>
                  <a:cubicBezTo>
                    <a:pt x="5223891" y="0"/>
                    <a:pt x="5322570" y="98679"/>
                    <a:pt x="5322570" y="220345"/>
                  </a:cubicBezTo>
                  <a:lnTo>
                    <a:pt x="5322570" y="4370705"/>
                  </a:lnTo>
                  <a:cubicBezTo>
                    <a:pt x="5322570" y="4492371"/>
                    <a:pt x="5223891" y="4591050"/>
                    <a:pt x="5102225" y="4591050"/>
                  </a:cubicBezTo>
                  <a:lnTo>
                    <a:pt x="220345" y="4591050"/>
                  </a:lnTo>
                  <a:cubicBezTo>
                    <a:pt x="98679" y="4591050"/>
                    <a:pt x="0" y="4492371"/>
                    <a:pt x="0" y="437070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9464040" y="3154680"/>
            <a:ext cx="576072" cy="576072"/>
            <a:chOff x="0" y="0"/>
            <a:chExt cx="768096" cy="76809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C2334D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464040" y="3154680"/>
            <a:ext cx="576072" cy="576072"/>
            <a:chOff x="0" y="0"/>
            <a:chExt cx="768096" cy="76809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768096" cy="8252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39"/>
                </a:lnSpc>
              </a:pPr>
              <a:r>
                <a:rPr lang="en-US" sz="2699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3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218420" y="3154680"/>
            <a:ext cx="2743200" cy="576072"/>
            <a:chOff x="0" y="0"/>
            <a:chExt cx="3657600" cy="76809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657600" cy="768096"/>
            </a:xfrm>
            <a:custGeom>
              <a:avLst/>
              <a:gdLst/>
              <a:ahLst/>
              <a:cxnLst/>
              <a:rect r="r" b="b" t="t" l="l"/>
              <a:pathLst>
                <a:path h="768096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785" r="0" b="-4278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36576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 b="true">
                  <a:solidFill>
                    <a:srgbClr val="C2334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Contradiction?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9464040" y="3910965"/>
            <a:ext cx="342900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49" b="true">
                <a:solidFill>
                  <a:srgbClr val="0F1B3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Screen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464040" y="4606290"/>
            <a:ext cx="3429000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474">
                <a:solidFill>
                  <a:srgbClr val="55627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Conflicting claim is superseded, not silently overwritten.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3139928" y="4029075"/>
            <a:ext cx="27432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4499" b="true">
                <a:solidFill>
                  <a:srgbClr val="55627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›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3365956" y="2873216"/>
            <a:ext cx="3991928" cy="3443288"/>
            <a:chOff x="0" y="0"/>
            <a:chExt cx="5322570" cy="459105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322570" cy="4591050"/>
            </a:xfrm>
            <a:custGeom>
              <a:avLst/>
              <a:gdLst/>
              <a:ahLst/>
              <a:cxnLst/>
              <a:rect r="r" b="b" t="t" l="l"/>
              <a:pathLst>
                <a:path h="4591050" w="5322570">
                  <a:moveTo>
                    <a:pt x="0" y="220345"/>
                  </a:moveTo>
                  <a:cubicBezTo>
                    <a:pt x="0" y="98679"/>
                    <a:pt x="98679" y="0"/>
                    <a:pt x="220345" y="0"/>
                  </a:cubicBezTo>
                  <a:lnTo>
                    <a:pt x="5102225" y="0"/>
                  </a:lnTo>
                  <a:cubicBezTo>
                    <a:pt x="5223891" y="0"/>
                    <a:pt x="5322570" y="98679"/>
                    <a:pt x="5322570" y="220345"/>
                  </a:cubicBezTo>
                  <a:lnTo>
                    <a:pt x="5322570" y="4370705"/>
                  </a:lnTo>
                  <a:cubicBezTo>
                    <a:pt x="5322570" y="4492371"/>
                    <a:pt x="5223891" y="4591050"/>
                    <a:pt x="5102225" y="4591050"/>
                  </a:cubicBezTo>
                  <a:lnTo>
                    <a:pt x="220345" y="4591050"/>
                  </a:lnTo>
                  <a:cubicBezTo>
                    <a:pt x="98679" y="4591050"/>
                    <a:pt x="0" y="4492371"/>
                    <a:pt x="0" y="437070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3647420" y="3154680"/>
            <a:ext cx="576072" cy="576072"/>
            <a:chOff x="0" y="0"/>
            <a:chExt cx="768096" cy="76809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1428A0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3647420" y="3154680"/>
            <a:ext cx="576072" cy="576072"/>
            <a:chOff x="0" y="0"/>
            <a:chExt cx="768096" cy="76809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57150"/>
              <a:ext cx="768096" cy="8252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39"/>
                </a:lnSpc>
              </a:pPr>
              <a:r>
                <a:rPr lang="en-US" sz="2699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4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4401800" y="3154680"/>
            <a:ext cx="2743200" cy="576072"/>
            <a:chOff x="0" y="0"/>
            <a:chExt cx="3657600" cy="76809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657600" cy="768096"/>
            </a:xfrm>
            <a:custGeom>
              <a:avLst/>
              <a:gdLst/>
              <a:ahLst/>
              <a:cxnLst/>
              <a:rect r="r" b="b" t="t" l="l"/>
              <a:pathLst>
                <a:path h="768096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785" r="0" b="-42785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36576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 b="true">
                  <a:solidFill>
                    <a:srgbClr val="1428A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Turn 2</a:t>
              </a: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13647420" y="3910965"/>
            <a:ext cx="342900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49" b="true">
                <a:solidFill>
                  <a:srgbClr val="0F1B3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Answer v2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3647420" y="4606290"/>
            <a:ext cx="3429000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474">
                <a:solidFill>
                  <a:srgbClr val="55627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Unaffected claims kept; changed claims replaced; version recorded.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815816" y="6713696"/>
            <a:ext cx="8175307" cy="2620328"/>
            <a:chOff x="0" y="0"/>
            <a:chExt cx="10900410" cy="349377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900410" cy="3493770"/>
            </a:xfrm>
            <a:custGeom>
              <a:avLst/>
              <a:gdLst/>
              <a:ahLst/>
              <a:cxnLst/>
              <a:rect r="r" b="b" t="t" l="l"/>
              <a:pathLst>
                <a:path h="3493770" w="1090041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10679684" y="0"/>
                  </a:lnTo>
                  <a:cubicBezTo>
                    <a:pt x="10801603" y="0"/>
                    <a:pt x="10900410" y="98806"/>
                    <a:pt x="10900410" y="220726"/>
                  </a:cubicBezTo>
                  <a:lnTo>
                    <a:pt x="10900410" y="3273044"/>
                  </a:lnTo>
                  <a:cubicBezTo>
                    <a:pt x="10900410" y="3394964"/>
                    <a:pt x="10801603" y="3493770"/>
                    <a:pt x="10679684" y="3493770"/>
                  </a:cubicBezTo>
                  <a:lnTo>
                    <a:pt x="220726" y="3493770"/>
                  </a:lnTo>
                  <a:cubicBezTo>
                    <a:pt x="98806" y="3493770"/>
                    <a:pt x="0" y="3394964"/>
                    <a:pt x="0" y="327304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sp>
        <p:nvSpPr>
          <p:cNvPr name="TextBox 70" id="70"/>
          <p:cNvSpPr txBox="true"/>
          <p:nvPr/>
        </p:nvSpPr>
        <p:spPr>
          <a:xfrm rot="0">
            <a:off x="1097280" y="6938010"/>
            <a:ext cx="761238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49" b="true">
                <a:solidFill>
                  <a:srgbClr val="0F1B3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Test-backed behaviours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097280" y="7514082"/>
            <a:ext cx="7612380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474">
                <a:solidFill>
                  <a:srgbClr val="55627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Dedup skips already-cited chunks; multiple claims sharing a new chunk are consolidated; supersession retires a conflicted claim; empty new chunks are a no-op.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9292304" y="6713696"/>
            <a:ext cx="8175307" cy="2620328"/>
            <a:chOff x="0" y="0"/>
            <a:chExt cx="10900410" cy="349377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900410" cy="3493770"/>
            </a:xfrm>
            <a:custGeom>
              <a:avLst/>
              <a:gdLst/>
              <a:ahLst/>
              <a:cxnLst/>
              <a:rect r="r" b="b" t="t" l="l"/>
              <a:pathLst>
                <a:path h="3493770" w="1090041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10679684" y="0"/>
                  </a:lnTo>
                  <a:cubicBezTo>
                    <a:pt x="10801603" y="0"/>
                    <a:pt x="10900410" y="98806"/>
                    <a:pt x="10900410" y="220726"/>
                  </a:cubicBezTo>
                  <a:lnTo>
                    <a:pt x="10900410" y="3273044"/>
                  </a:lnTo>
                  <a:cubicBezTo>
                    <a:pt x="10900410" y="3394964"/>
                    <a:pt x="10801603" y="3493770"/>
                    <a:pt x="10679684" y="3493770"/>
                  </a:cubicBezTo>
                  <a:lnTo>
                    <a:pt x="220726" y="3493770"/>
                  </a:lnTo>
                  <a:cubicBezTo>
                    <a:pt x="98806" y="3493770"/>
                    <a:pt x="0" y="3394964"/>
                    <a:pt x="0" y="327304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sp>
        <p:nvSpPr>
          <p:cNvPr name="TextBox 74" id="74"/>
          <p:cNvSpPr txBox="true"/>
          <p:nvPr/>
        </p:nvSpPr>
        <p:spPr>
          <a:xfrm rot="0">
            <a:off x="9573768" y="6938010"/>
            <a:ext cx="761238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49" b="true">
                <a:solidFill>
                  <a:srgbClr val="0F1B3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Why it matters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9573768" y="7514082"/>
            <a:ext cx="7612380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474">
                <a:solidFill>
                  <a:srgbClr val="55627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 user who says "actually, the trip was international" gets an updated answer in place, with the version trail visible in telemetry, instead of a full cold start.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48640"/>
            <a:ext cx="12344400" cy="411480"/>
            <a:chOff x="0" y="0"/>
            <a:chExt cx="164592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64592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b="true" sz="2099" spc="524">
                  <a:solidFill>
                    <a:srgbClr val="0F766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08 · FAILURE-SAFE DESIGN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596360" cy="988504"/>
            <a:chOff x="0" y="0"/>
            <a:chExt cx="22128480" cy="13180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318006"/>
            </a:xfrm>
            <a:custGeom>
              <a:avLst/>
              <a:gdLst/>
              <a:ahLst/>
              <a:cxnLst/>
              <a:rect r="r" b="b" t="t" l="l"/>
              <a:pathLst>
                <a:path h="1318006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318006"/>
                  </a:lnTo>
                  <a:lnTo>
                    <a:pt x="0" y="131800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577" r="0" b="-27570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22128480" cy="14227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19"/>
                </a:lnSpc>
              </a:pPr>
              <a:r>
                <a:rPr lang="en-US" sz="5099" b="true">
                  <a:solidFill>
                    <a:srgbClr val="0F1B3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Grounded answers, not confident hallucinations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1988820"/>
            <a:ext cx="16596360" cy="548640"/>
            <a:chOff x="0" y="0"/>
            <a:chExt cx="2212848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1284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0"/>
                </a:lnSpc>
              </a:pPr>
              <a:r>
                <a:rPr lang="en-US" sz="2150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Explicit defenses for unsupported, contradictory and insufficient evidence.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9669780"/>
            <a:ext cx="13716000" cy="342900"/>
            <a:chOff x="0" y="0"/>
            <a:chExt cx="18288000" cy="457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88000" cy="457200"/>
            </a:xfrm>
            <a:custGeom>
              <a:avLst/>
              <a:gdLst/>
              <a:ahLst/>
              <a:cxnLst/>
              <a:rect r="r" b="b" t="t" l="l"/>
              <a:pathLst>
                <a:path h="457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9401" r="0" b="-72940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8288000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699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SAMSUNG PRISM GenAI Hackathon  ·  Theme 04 Streaming Live RAG  ·  Team Cracked Code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596360" y="9669780"/>
            <a:ext cx="864108" cy="343281"/>
            <a:chOff x="0" y="0"/>
            <a:chExt cx="1152144" cy="45770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52144" cy="457708"/>
            </a:xfrm>
            <a:custGeom>
              <a:avLst/>
              <a:gdLst/>
              <a:ahLst/>
              <a:cxnLst/>
              <a:rect r="r" b="b" t="t" l="l"/>
              <a:pathLst>
                <a:path h="457708" w="1152144">
                  <a:moveTo>
                    <a:pt x="0" y="0"/>
                  </a:moveTo>
                  <a:lnTo>
                    <a:pt x="1152144" y="0"/>
                  </a:lnTo>
                  <a:lnTo>
                    <a:pt x="1152144" y="457708"/>
                  </a:lnTo>
                  <a:lnTo>
                    <a:pt x="0" y="4577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14" t="0" r="-914" b="11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152144" cy="4958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59"/>
                </a:lnSpc>
              </a:pPr>
              <a:r>
                <a:rPr lang="en-US" sz="1799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9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15816" y="2804636"/>
            <a:ext cx="3991928" cy="2003108"/>
            <a:chOff x="0" y="0"/>
            <a:chExt cx="5322570" cy="267081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322570" cy="2670810"/>
            </a:xfrm>
            <a:custGeom>
              <a:avLst/>
              <a:gdLst/>
              <a:ahLst/>
              <a:cxnLst/>
              <a:rect r="r" b="b" t="t" l="l"/>
              <a:pathLst>
                <a:path h="2670810" w="5322570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5101590" y="0"/>
                  </a:lnTo>
                  <a:cubicBezTo>
                    <a:pt x="5223637" y="0"/>
                    <a:pt x="5322570" y="98933"/>
                    <a:pt x="5322570" y="220980"/>
                  </a:cubicBezTo>
                  <a:lnTo>
                    <a:pt x="5322570" y="2449830"/>
                  </a:lnTo>
                  <a:cubicBezTo>
                    <a:pt x="5322570" y="2571877"/>
                    <a:pt x="5223637" y="2670810"/>
                    <a:pt x="5101590" y="2670810"/>
                  </a:cubicBezTo>
                  <a:lnTo>
                    <a:pt x="220980" y="2670810"/>
                  </a:lnTo>
                  <a:cubicBezTo>
                    <a:pt x="98933" y="2670810"/>
                    <a:pt x="0" y="2571877"/>
                    <a:pt x="0" y="244983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097280" y="3017520"/>
            <a:ext cx="576072" cy="576072"/>
            <a:chOff x="0" y="0"/>
            <a:chExt cx="768096" cy="7680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1428A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97280" y="3017520"/>
            <a:ext cx="576072" cy="576072"/>
            <a:chOff x="0" y="0"/>
            <a:chExt cx="768096" cy="76809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399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1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851660" y="3017520"/>
            <a:ext cx="2743200" cy="576072"/>
            <a:chOff x="0" y="0"/>
            <a:chExt cx="3657600" cy="76809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657600" cy="768096"/>
            </a:xfrm>
            <a:custGeom>
              <a:avLst/>
              <a:gdLst/>
              <a:ahLst/>
              <a:cxnLst/>
              <a:rect r="r" b="b" t="t" l="l"/>
              <a:pathLst>
                <a:path h="768096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785" r="0" b="-4278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36576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59"/>
                </a:lnSpc>
              </a:pPr>
              <a:r>
                <a:rPr lang="en-US" sz="2549" b="true">
                  <a:solidFill>
                    <a:srgbClr val="0F1B3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Retrieve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097280" y="3792855"/>
            <a:ext cx="342900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099">
                <a:solidFill>
                  <a:srgbClr val="55627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Candidate evidence from the corpus.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4999196" y="2804636"/>
            <a:ext cx="3991928" cy="2003108"/>
            <a:chOff x="0" y="0"/>
            <a:chExt cx="5322570" cy="267081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322570" cy="2670810"/>
            </a:xfrm>
            <a:custGeom>
              <a:avLst/>
              <a:gdLst/>
              <a:ahLst/>
              <a:cxnLst/>
              <a:rect r="r" b="b" t="t" l="l"/>
              <a:pathLst>
                <a:path h="2670810" w="5322570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5101590" y="0"/>
                  </a:lnTo>
                  <a:cubicBezTo>
                    <a:pt x="5223637" y="0"/>
                    <a:pt x="5322570" y="98933"/>
                    <a:pt x="5322570" y="220980"/>
                  </a:cubicBezTo>
                  <a:lnTo>
                    <a:pt x="5322570" y="2449830"/>
                  </a:lnTo>
                  <a:cubicBezTo>
                    <a:pt x="5322570" y="2571877"/>
                    <a:pt x="5223637" y="2670810"/>
                    <a:pt x="5101590" y="2670810"/>
                  </a:cubicBezTo>
                  <a:lnTo>
                    <a:pt x="220980" y="2670810"/>
                  </a:lnTo>
                  <a:cubicBezTo>
                    <a:pt x="98933" y="2670810"/>
                    <a:pt x="0" y="2571877"/>
                    <a:pt x="0" y="244983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5280660" y="3017520"/>
            <a:ext cx="576072" cy="576072"/>
            <a:chOff x="0" y="0"/>
            <a:chExt cx="768096" cy="76809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0F766E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5280660" y="3017520"/>
            <a:ext cx="576072" cy="576072"/>
            <a:chOff x="0" y="0"/>
            <a:chExt cx="768096" cy="76809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399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035040" y="3017520"/>
            <a:ext cx="2743200" cy="576072"/>
            <a:chOff x="0" y="0"/>
            <a:chExt cx="3657600" cy="76809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657600" cy="768096"/>
            </a:xfrm>
            <a:custGeom>
              <a:avLst/>
              <a:gdLst/>
              <a:ahLst/>
              <a:cxnLst/>
              <a:rect r="r" b="b" t="t" l="l"/>
              <a:pathLst>
                <a:path h="768096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785" r="0" b="-4278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36576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59"/>
                </a:lnSpc>
              </a:pPr>
              <a:r>
                <a:rPr lang="en-US" sz="2549" b="true">
                  <a:solidFill>
                    <a:srgbClr val="0F1B3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Fuse + Rerank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5280660" y="3792855"/>
            <a:ext cx="342900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099">
                <a:solidFill>
                  <a:srgbClr val="55627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Merge evidence across sub-queries.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9182576" y="2804636"/>
            <a:ext cx="3991928" cy="2003108"/>
            <a:chOff x="0" y="0"/>
            <a:chExt cx="5322570" cy="267081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322570" cy="2670810"/>
            </a:xfrm>
            <a:custGeom>
              <a:avLst/>
              <a:gdLst/>
              <a:ahLst/>
              <a:cxnLst/>
              <a:rect r="r" b="b" t="t" l="l"/>
              <a:pathLst>
                <a:path h="2670810" w="5322570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5101590" y="0"/>
                  </a:lnTo>
                  <a:cubicBezTo>
                    <a:pt x="5223637" y="0"/>
                    <a:pt x="5322570" y="98933"/>
                    <a:pt x="5322570" y="220980"/>
                  </a:cubicBezTo>
                  <a:lnTo>
                    <a:pt x="5322570" y="2449830"/>
                  </a:lnTo>
                  <a:cubicBezTo>
                    <a:pt x="5322570" y="2571877"/>
                    <a:pt x="5223637" y="2670810"/>
                    <a:pt x="5101590" y="2670810"/>
                  </a:cubicBezTo>
                  <a:lnTo>
                    <a:pt x="220980" y="2670810"/>
                  </a:lnTo>
                  <a:cubicBezTo>
                    <a:pt x="98933" y="2670810"/>
                    <a:pt x="0" y="2571877"/>
                    <a:pt x="0" y="244983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9464040" y="3017520"/>
            <a:ext cx="576072" cy="576072"/>
            <a:chOff x="0" y="0"/>
            <a:chExt cx="768096" cy="76809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B45309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464040" y="3017520"/>
            <a:ext cx="576072" cy="576072"/>
            <a:chOff x="0" y="0"/>
            <a:chExt cx="768096" cy="76809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399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3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218420" y="3017520"/>
            <a:ext cx="2743200" cy="576072"/>
            <a:chOff x="0" y="0"/>
            <a:chExt cx="3657600" cy="76809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657600" cy="768096"/>
            </a:xfrm>
            <a:custGeom>
              <a:avLst/>
              <a:gdLst/>
              <a:ahLst/>
              <a:cxnLst/>
              <a:rect r="r" b="b" t="t" l="l"/>
              <a:pathLst>
                <a:path h="768096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785" r="0" b="-4278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36576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59"/>
                </a:lnSpc>
              </a:pPr>
              <a:r>
                <a:rPr lang="en-US" sz="2549" b="true">
                  <a:solidFill>
                    <a:srgbClr val="0F1B3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Verify claims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9464040" y="3792855"/>
            <a:ext cx="342900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099">
                <a:solidFill>
                  <a:srgbClr val="55627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Check each claim against cited chunks.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3365956" y="2804636"/>
            <a:ext cx="3991928" cy="2003108"/>
            <a:chOff x="0" y="0"/>
            <a:chExt cx="5322570" cy="267081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322570" cy="2670810"/>
            </a:xfrm>
            <a:custGeom>
              <a:avLst/>
              <a:gdLst/>
              <a:ahLst/>
              <a:cxnLst/>
              <a:rect r="r" b="b" t="t" l="l"/>
              <a:pathLst>
                <a:path h="2670810" w="5322570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5101590" y="0"/>
                  </a:lnTo>
                  <a:cubicBezTo>
                    <a:pt x="5223637" y="0"/>
                    <a:pt x="5322570" y="98933"/>
                    <a:pt x="5322570" y="220980"/>
                  </a:cubicBezTo>
                  <a:lnTo>
                    <a:pt x="5322570" y="2449830"/>
                  </a:lnTo>
                  <a:cubicBezTo>
                    <a:pt x="5322570" y="2571877"/>
                    <a:pt x="5223637" y="2670810"/>
                    <a:pt x="5101590" y="2670810"/>
                  </a:cubicBezTo>
                  <a:lnTo>
                    <a:pt x="220980" y="2670810"/>
                  </a:lnTo>
                  <a:cubicBezTo>
                    <a:pt x="98933" y="2670810"/>
                    <a:pt x="0" y="2571877"/>
                    <a:pt x="0" y="244983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3647420" y="3017520"/>
            <a:ext cx="576072" cy="576072"/>
            <a:chOff x="0" y="0"/>
            <a:chExt cx="768096" cy="76809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C2334D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3647420" y="3017520"/>
            <a:ext cx="576072" cy="576072"/>
            <a:chOff x="0" y="0"/>
            <a:chExt cx="768096" cy="76809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399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4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4401800" y="3017520"/>
            <a:ext cx="2743200" cy="576072"/>
            <a:chOff x="0" y="0"/>
            <a:chExt cx="3657600" cy="76809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657600" cy="768096"/>
            </a:xfrm>
            <a:custGeom>
              <a:avLst/>
              <a:gdLst/>
              <a:ahLst/>
              <a:cxnLst/>
              <a:rect r="r" b="b" t="t" l="l"/>
              <a:pathLst>
                <a:path h="768096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785" r="0" b="-42785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36576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59"/>
                </a:lnSpc>
              </a:pPr>
              <a:r>
                <a:rPr lang="en-US" sz="2549" b="true">
                  <a:solidFill>
                    <a:srgbClr val="0F1B3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Render</a:t>
              </a: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13647420" y="3792855"/>
            <a:ext cx="342900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099">
                <a:solidFill>
                  <a:srgbClr val="55627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Only supported state is surfaced.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815816" y="5273516"/>
            <a:ext cx="5432108" cy="1934527"/>
            <a:chOff x="0" y="0"/>
            <a:chExt cx="7242810" cy="257937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242810" cy="2579370"/>
            </a:xfrm>
            <a:custGeom>
              <a:avLst/>
              <a:gdLst/>
              <a:ahLst/>
              <a:cxnLst/>
              <a:rect r="r" b="b" t="t" l="l"/>
              <a:pathLst>
                <a:path h="2579370" w="7242810">
                  <a:moveTo>
                    <a:pt x="0" y="221107"/>
                  </a:moveTo>
                  <a:cubicBezTo>
                    <a:pt x="0" y="98933"/>
                    <a:pt x="98933" y="0"/>
                    <a:pt x="221107" y="0"/>
                  </a:cubicBezTo>
                  <a:lnTo>
                    <a:pt x="7021703" y="0"/>
                  </a:lnTo>
                  <a:cubicBezTo>
                    <a:pt x="7143750" y="0"/>
                    <a:pt x="7242810" y="98933"/>
                    <a:pt x="7242810" y="221107"/>
                  </a:cubicBezTo>
                  <a:lnTo>
                    <a:pt x="7242810" y="2358263"/>
                  </a:lnTo>
                  <a:cubicBezTo>
                    <a:pt x="7242810" y="2480310"/>
                    <a:pt x="7143877" y="2579370"/>
                    <a:pt x="7021703" y="2579370"/>
                  </a:cubicBezTo>
                  <a:lnTo>
                    <a:pt x="221107" y="2579370"/>
                  </a:lnTo>
                  <a:cubicBezTo>
                    <a:pt x="98933" y="2579370"/>
                    <a:pt x="0" y="2480437"/>
                    <a:pt x="0" y="2358263"/>
                  </a:cubicBezTo>
                  <a:close/>
                </a:path>
              </a:pathLst>
            </a:custGeom>
            <a:solidFill>
              <a:srgbClr val="EAF0FB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sp>
        <p:nvSpPr>
          <p:cNvPr name="TextBox 63" id="63"/>
          <p:cNvSpPr txBox="true"/>
          <p:nvPr/>
        </p:nvSpPr>
        <p:spPr>
          <a:xfrm rot="0">
            <a:off x="1097280" y="5429250"/>
            <a:ext cx="486918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474" b="true">
                <a:solidFill>
                  <a:srgbClr val="0F1B3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Unsupported claim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97280" y="6028563"/>
            <a:ext cx="486918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9"/>
              </a:lnSpc>
            </a:pPr>
            <a:r>
              <a:rPr lang="en-US" sz="2174">
                <a:solidFill>
                  <a:srgbClr val="55627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Rejected; marked as insufficient evidence.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6439376" y="5273516"/>
            <a:ext cx="5432108" cy="1934527"/>
            <a:chOff x="0" y="0"/>
            <a:chExt cx="7242810" cy="257937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242810" cy="2579370"/>
            </a:xfrm>
            <a:custGeom>
              <a:avLst/>
              <a:gdLst/>
              <a:ahLst/>
              <a:cxnLst/>
              <a:rect r="r" b="b" t="t" l="l"/>
              <a:pathLst>
                <a:path h="2579370" w="7242810">
                  <a:moveTo>
                    <a:pt x="0" y="221107"/>
                  </a:moveTo>
                  <a:cubicBezTo>
                    <a:pt x="0" y="98933"/>
                    <a:pt x="98933" y="0"/>
                    <a:pt x="221107" y="0"/>
                  </a:cubicBezTo>
                  <a:lnTo>
                    <a:pt x="7021703" y="0"/>
                  </a:lnTo>
                  <a:cubicBezTo>
                    <a:pt x="7143750" y="0"/>
                    <a:pt x="7242810" y="98933"/>
                    <a:pt x="7242810" y="221107"/>
                  </a:cubicBezTo>
                  <a:lnTo>
                    <a:pt x="7242810" y="2358263"/>
                  </a:lnTo>
                  <a:cubicBezTo>
                    <a:pt x="7242810" y="2480310"/>
                    <a:pt x="7143877" y="2579370"/>
                    <a:pt x="7021703" y="2579370"/>
                  </a:cubicBezTo>
                  <a:lnTo>
                    <a:pt x="221107" y="2579370"/>
                  </a:lnTo>
                  <a:cubicBezTo>
                    <a:pt x="98933" y="2579370"/>
                    <a:pt x="0" y="2480437"/>
                    <a:pt x="0" y="2358263"/>
                  </a:cubicBezTo>
                  <a:close/>
                </a:path>
              </a:pathLst>
            </a:custGeom>
            <a:solidFill>
              <a:srgbClr val="EAF0FB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sp>
        <p:nvSpPr>
          <p:cNvPr name="TextBox 67" id="67"/>
          <p:cNvSpPr txBox="true"/>
          <p:nvPr/>
        </p:nvSpPr>
        <p:spPr>
          <a:xfrm rot="0">
            <a:off x="6720840" y="5429250"/>
            <a:ext cx="486918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474" b="true">
                <a:solidFill>
                  <a:srgbClr val="0F1B3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Fabricated citation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6720840" y="6028563"/>
            <a:ext cx="486918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9"/>
              </a:lnSpc>
            </a:pPr>
            <a:r>
              <a:rPr lang="en-US" sz="2174">
                <a:solidFill>
                  <a:srgbClr val="55627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Invalid chunk IDs never pass verification.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12062936" y="5273516"/>
            <a:ext cx="5432108" cy="1934527"/>
            <a:chOff x="0" y="0"/>
            <a:chExt cx="7242810" cy="257937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242810" cy="2579370"/>
            </a:xfrm>
            <a:custGeom>
              <a:avLst/>
              <a:gdLst/>
              <a:ahLst/>
              <a:cxnLst/>
              <a:rect r="r" b="b" t="t" l="l"/>
              <a:pathLst>
                <a:path h="2579370" w="7242810">
                  <a:moveTo>
                    <a:pt x="0" y="221107"/>
                  </a:moveTo>
                  <a:cubicBezTo>
                    <a:pt x="0" y="98933"/>
                    <a:pt x="98933" y="0"/>
                    <a:pt x="221107" y="0"/>
                  </a:cubicBezTo>
                  <a:lnTo>
                    <a:pt x="7021703" y="0"/>
                  </a:lnTo>
                  <a:cubicBezTo>
                    <a:pt x="7143750" y="0"/>
                    <a:pt x="7242810" y="98933"/>
                    <a:pt x="7242810" y="221107"/>
                  </a:cubicBezTo>
                  <a:lnTo>
                    <a:pt x="7242810" y="2358263"/>
                  </a:lnTo>
                  <a:cubicBezTo>
                    <a:pt x="7242810" y="2480310"/>
                    <a:pt x="7143877" y="2579370"/>
                    <a:pt x="7021703" y="2579370"/>
                  </a:cubicBezTo>
                  <a:lnTo>
                    <a:pt x="221107" y="2579370"/>
                  </a:lnTo>
                  <a:cubicBezTo>
                    <a:pt x="98933" y="2579370"/>
                    <a:pt x="0" y="2480437"/>
                    <a:pt x="0" y="2358263"/>
                  </a:cubicBezTo>
                  <a:close/>
                </a:path>
              </a:pathLst>
            </a:custGeom>
            <a:solidFill>
              <a:srgbClr val="EAF0FB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sp>
        <p:nvSpPr>
          <p:cNvPr name="TextBox 71" id="71"/>
          <p:cNvSpPr txBox="true"/>
          <p:nvPr/>
        </p:nvSpPr>
        <p:spPr>
          <a:xfrm rot="0">
            <a:off x="12344400" y="5429250"/>
            <a:ext cx="486918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474" b="true">
                <a:solidFill>
                  <a:srgbClr val="0F1B3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Verifier failure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2344400" y="6028563"/>
            <a:ext cx="4869180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9"/>
              </a:lnSpc>
            </a:pPr>
            <a:r>
              <a:rPr lang="en-US" sz="2174">
                <a:solidFill>
                  <a:srgbClr val="55627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Parse errors, API exceptions or wrong-schema JSON never default to "supported".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815816" y="7399496"/>
            <a:ext cx="5432108" cy="1934527"/>
            <a:chOff x="0" y="0"/>
            <a:chExt cx="7242810" cy="257937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7242810" cy="2579370"/>
            </a:xfrm>
            <a:custGeom>
              <a:avLst/>
              <a:gdLst/>
              <a:ahLst/>
              <a:cxnLst/>
              <a:rect r="r" b="b" t="t" l="l"/>
              <a:pathLst>
                <a:path h="2579370" w="7242810">
                  <a:moveTo>
                    <a:pt x="0" y="221107"/>
                  </a:moveTo>
                  <a:cubicBezTo>
                    <a:pt x="0" y="98933"/>
                    <a:pt x="98933" y="0"/>
                    <a:pt x="221107" y="0"/>
                  </a:cubicBezTo>
                  <a:lnTo>
                    <a:pt x="7021703" y="0"/>
                  </a:lnTo>
                  <a:cubicBezTo>
                    <a:pt x="7143750" y="0"/>
                    <a:pt x="7242810" y="98933"/>
                    <a:pt x="7242810" y="221107"/>
                  </a:cubicBezTo>
                  <a:lnTo>
                    <a:pt x="7242810" y="2358263"/>
                  </a:lnTo>
                  <a:cubicBezTo>
                    <a:pt x="7242810" y="2480310"/>
                    <a:pt x="7143877" y="2579370"/>
                    <a:pt x="7021703" y="2579370"/>
                  </a:cubicBezTo>
                  <a:lnTo>
                    <a:pt x="221107" y="2579370"/>
                  </a:lnTo>
                  <a:cubicBezTo>
                    <a:pt x="98933" y="2579370"/>
                    <a:pt x="0" y="2480437"/>
                    <a:pt x="0" y="2358263"/>
                  </a:cubicBezTo>
                  <a:close/>
                </a:path>
              </a:pathLst>
            </a:custGeom>
            <a:solidFill>
              <a:srgbClr val="EAF0FB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sp>
        <p:nvSpPr>
          <p:cNvPr name="TextBox 75" id="75"/>
          <p:cNvSpPr txBox="true"/>
          <p:nvPr/>
        </p:nvSpPr>
        <p:spPr>
          <a:xfrm rot="0">
            <a:off x="1097280" y="7555230"/>
            <a:ext cx="486918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474" b="true">
                <a:solidFill>
                  <a:srgbClr val="0F1B3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Contradictory evidence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097280" y="8154543"/>
            <a:ext cx="486918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9"/>
              </a:lnSpc>
            </a:pPr>
            <a:r>
              <a:rPr lang="en-US" sz="2174">
                <a:solidFill>
                  <a:srgbClr val="55627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Both sides surfaced and flagged unresolved; no cherry-picking.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6439376" y="7399496"/>
            <a:ext cx="5432108" cy="1934527"/>
            <a:chOff x="0" y="0"/>
            <a:chExt cx="7242810" cy="257937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242810" cy="2579370"/>
            </a:xfrm>
            <a:custGeom>
              <a:avLst/>
              <a:gdLst/>
              <a:ahLst/>
              <a:cxnLst/>
              <a:rect r="r" b="b" t="t" l="l"/>
              <a:pathLst>
                <a:path h="2579370" w="7242810">
                  <a:moveTo>
                    <a:pt x="0" y="221107"/>
                  </a:moveTo>
                  <a:cubicBezTo>
                    <a:pt x="0" y="98933"/>
                    <a:pt x="98933" y="0"/>
                    <a:pt x="221107" y="0"/>
                  </a:cubicBezTo>
                  <a:lnTo>
                    <a:pt x="7021703" y="0"/>
                  </a:lnTo>
                  <a:cubicBezTo>
                    <a:pt x="7143750" y="0"/>
                    <a:pt x="7242810" y="98933"/>
                    <a:pt x="7242810" y="221107"/>
                  </a:cubicBezTo>
                  <a:lnTo>
                    <a:pt x="7242810" y="2358263"/>
                  </a:lnTo>
                  <a:cubicBezTo>
                    <a:pt x="7242810" y="2480310"/>
                    <a:pt x="7143877" y="2579370"/>
                    <a:pt x="7021703" y="2579370"/>
                  </a:cubicBezTo>
                  <a:lnTo>
                    <a:pt x="221107" y="2579370"/>
                  </a:lnTo>
                  <a:cubicBezTo>
                    <a:pt x="98933" y="2579370"/>
                    <a:pt x="0" y="2480437"/>
                    <a:pt x="0" y="2358263"/>
                  </a:cubicBezTo>
                  <a:close/>
                </a:path>
              </a:pathLst>
            </a:custGeom>
            <a:solidFill>
              <a:srgbClr val="EAF0FB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sp>
        <p:nvSpPr>
          <p:cNvPr name="TextBox 79" id="79"/>
          <p:cNvSpPr txBox="true"/>
          <p:nvPr/>
        </p:nvSpPr>
        <p:spPr>
          <a:xfrm rot="0">
            <a:off x="6720840" y="7555230"/>
            <a:ext cx="486918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474" b="true">
                <a:solidFill>
                  <a:srgbClr val="0F1B3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Coverage gap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6720840" y="8154543"/>
            <a:ext cx="486918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9"/>
              </a:lnSpc>
            </a:pPr>
            <a:r>
              <a:rPr lang="en-US" sz="2174">
                <a:solidFill>
                  <a:srgbClr val="55627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Returns insufficient evidence with zero generator calls.</a:t>
            </a:r>
          </a:p>
        </p:txBody>
      </p:sp>
      <p:grpSp>
        <p:nvGrpSpPr>
          <p:cNvPr name="Group 81" id="81"/>
          <p:cNvGrpSpPr/>
          <p:nvPr/>
        </p:nvGrpSpPr>
        <p:grpSpPr>
          <a:xfrm rot="0">
            <a:off x="12062936" y="7399496"/>
            <a:ext cx="5432108" cy="1934527"/>
            <a:chOff x="0" y="0"/>
            <a:chExt cx="7242810" cy="257937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7242810" cy="2579370"/>
            </a:xfrm>
            <a:custGeom>
              <a:avLst/>
              <a:gdLst/>
              <a:ahLst/>
              <a:cxnLst/>
              <a:rect r="r" b="b" t="t" l="l"/>
              <a:pathLst>
                <a:path h="2579370" w="7242810">
                  <a:moveTo>
                    <a:pt x="0" y="221107"/>
                  </a:moveTo>
                  <a:cubicBezTo>
                    <a:pt x="0" y="98933"/>
                    <a:pt x="98933" y="0"/>
                    <a:pt x="221107" y="0"/>
                  </a:cubicBezTo>
                  <a:lnTo>
                    <a:pt x="7021703" y="0"/>
                  </a:lnTo>
                  <a:cubicBezTo>
                    <a:pt x="7143750" y="0"/>
                    <a:pt x="7242810" y="98933"/>
                    <a:pt x="7242810" y="221107"/>
                  </a:cubicBezTo>
                  <a:lnTo>
                    <a:pt x="7242810" y="2358263"/>
                  </a:lnTo>
                  <a:cubicBezTo>
                    <a:pt x="7242810" y="2480310"/>
                    <a:pt x="7143877" y="2579370"/>
                    <a:pt x="7021703" y="2579370"/>
                  </a:cubicBezTo>
                  <a:lnTo>
                    <a:pt x="221107" y="2579370"/>
                  </a:lnTo>
                  <a:cubicBezTo>
                    <a:pt x="98933" y="2579370"/>
                    <a:pt x="0" y="2480437"/>
                    <a:pt x="0" y="2358263"/>
                  </a:cubicBezTo>
                  <a:close/>
                </a:path>
              </a:pathLst>
            </a:custGeom>
            <a:solidFill>
              <a:srgbClr val="EAF0FB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sp>
        <p:nvSpPr>
          <p:cNvPr name="TextBox 83" id="83"/>
          <p:cNvSpPr txBox="true"/>
          <p:nvPr/>
        </p:nvSpPr>
        <p:spPr>
          <a:xfrm rot="0">
            <a:off x="12344400" y="7555230"/>
            <a:ext cx="486918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474" b="true">
                <a:solidFill>
                  <a:srgbClr val="0F1B3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Reformat / suppress turns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2344400" y="8154543"/>
            <a:ext cx="486918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9"/>
              </a:lnSpc>
            </a:pPr>
            <a:r>
              <a:rPr lang="en-US" sz="2174">
                <a:solidFill>
                  <a:srgbClr val="55627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Zero unnecessary retrieval calls.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48640"/>
            <a:ext cx="12344400" cy="440753"/>
            <a:chOff x="0" y="0"/>
            <a:chExt cx="16459200" cy="587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587671"/>
            </a:xfrm>
            <a:custGeom>
              <a:avLst/>
              <a:gdLst/>
              <a:ahLst/>
              <a:cxnLst/>
              <a:rect r="r" b="b" t="t" l="l"/>
              <a:pathLst>
                <a:path h="587671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87671"/>
                  </a:lnTo>
                  <a:lnTo>
                    <a:pt x="0" y="58767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9048" r="0" b="-49240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6459200" cy="6352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b="true" sz="2299" spc="574">
                  <a:solidFill>
                    <a:srgbClr val="0F766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09 · LIVE DEMO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596360" cy="988504"/>
            <a:chOff x="0" y="0"/>
            <a:chExt cx="22128480" cy="13180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318006"/>
            </a:xfrm>
            <a:custGeom>
              <a:avLst/>
              <a:gdLst/>
              <a:ahLst/>
              <a:cxnLst/>
              <a:rect r="r" b="b" t="t" l="l"/>
              <a:pathLst>
                <a:path h="1318006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318006"/>
                  </a:lnTo>
                  <a:lnTo>
                    <a:pt x="0" y="131800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577" r="0" b="-27570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22128480" cy="14227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19"/>
                </a:lnSpc>
              </a:pPr>
              <a:r>
                <a:rPr lang="en-US" sz="5099" b="true">
                  <a:solidFill>
                    <a:srgbClr val="0F1B3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A chatbot on the surface, a live retrieval debugger underneath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1988820"/>
            <a:ext cx="16596360" cy="548640"/>
            <a:chOff x="0" y="0"/>
            <a:chExt cx="2212848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212848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39"/>
                </a:lnSpc>
              </a:pPr>
              <a:r>
                <a:rPr lang="en-US" sz="2449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You type partial speech chunk by chunk; the audience watches each pipeline stage react.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9669780"/>
            <a:ext cx="13716000" cy="342900"/>
            <a:chOff x="0" y="0"/>
            <a:chExt cx="18288000" cy="457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88000" cy="457200"/>
            </a:xfrm>
            <a:custGeom>
              <a:avLst/>
              <a:gdLst/>
              <a:ahLst/>
              <a:cxnLst/>
              <a:rect r="r" b="b" t="t" l="l"/>
              <a:pathLst>
                <a:path h="457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9401" r="0" b="-72940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8288000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SAMSUNG PRISM GenAI Hackathon  ·  Theme 04 Streaming Live RAG  ·  Team Cracked Code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596360" y="9669780"/>
            <a:ext cx="864108" cy="380364"/>
            <a:chOff x="0" y="0"/>
            <a:chExt cx="1152144" cy="50715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52144" cy="507153"/>
            </a:xfrm>
            <a:custGeom>
              <a:avLst/>
              <a:gdLst/>
              <a:ahLst/>
              <a:cxnLst/>
              <a:rect r="r" b="b" t="t" l="l"/>
              <a:pathLst>
                <a:path h="507153" w="1152144">
                  <a:moveTo>
                    <a:pt x="0" y="0"/>
                  </a:moveTo>
                  <a:lnTo>
                    <a:pt x="1152144" y="0"/>
                  </a:lnTo>
                  <a:lnTo>
                    <a:pt x="1152144" y="507153"/>
                  </a:lnTo>
                  <a:lnTo>
                    <a:pt x="0" y="50715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14" t="0" r="-914" b="984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152144" cy="5452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399"/>
                </a:lnSpc>
              </a:pPr>
              <a:r>
                <a:rPr lang="en-US" sz="1999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10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15816" y="2804636"/>
            <a:ext cx="10438448" cy="6666547"/>
            <a:chOff x="0" y="0"/>
            <a:chExt cx="13917930" cy="888873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917929" cy="8888730"/>
            </a:xfrm>
            <a:custGeom>
              <a:avLst/>
              <a:gdLst/>
              <a:ahLst/>
              <a:cxnLst/>
              <a:rect r="r" b="b" t="t" l="l"/>
              <a:pathLst>
                <a:path h="8888730" w="13917929">
                  <a:moveTo>
                    <a:pt x="0" y="219964"/>
                  </a:moveTo>
                  <a:cubicBezTo>
                    <a:pt x="0" y="98425"/>
                    <a:pt x="98425" y="0"/>
                    <a:pt x="219964" y="0"/>
                  </a:cubicBezTo>
                  <a:lnTo>
                    <a:pt x="13697965" y="0"/>
                  </a:lnTo>
                  <a:cubicBezTo>
                    <a:pt x="13819378" y="0"/>
                    <a:pt x="13917929" y="98425"/>
                    <a:pt x="13917929" y="219964"/>
                  </a:cubicBezTo>
                  <a:lnTo>
                    <a:pt x="13917929" y="8668766"/>
                  </a:lnTo>
                  <a:cubicBezTo>
                    <a:pt x="13917929" y="8790178"/>
                    <a:pt x="13819504" y="8888730"/>
                    <a:pt x="13697965" y="8888730"/>
                  </a:cubicBezTo>
                  <a:lnTo>
                    <a:pt x="219964" y="8888730"/>
                  </a:lnTo>
                  <a:cubicBezTo>
                    <a:pt x="98425" y="8888730"/>
                    <a:pt x="0" y="8790305"/>
                    <a:pt x="0" y="866876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165860" y="2960370"/>
            <a:ext cx="548640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749" b="true">
                <a:solidFill>
                  <a:srgbClr val="0F1B3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Streaming Live RAG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669780" y="3044952"/>
            <a:ext cx="1303020" cy="411480"/>
            <a:chOff x="0" y="0"/>
            <a:chExt cx="1737360" cy="548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37360" cy="548640"/>
            </a:xfrm>
            <a:custGeom>
              <a:avLst/>
              <a:gdLst/>
              <a:ahLst/>
              <a:cxnLst/>
              <a:rect r="r" b="b" t="t" l="l"/>
              <a:pathLst>
                <a:path h="548640" w="173736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1463040" y="0"/>
                  </a:lnTo>
                  <a:cubicBezTo>
                    <a:pt x="1614551" y="0"/>
                    <a:pt x="1737360" y="122809"/>
                    <a:pt x="1737360" y="274320"/>
                  </a:cubicBezTo>
                  <a:cubicBezTo>
                    <a:pt x="1737360" y="425831"/>
                    <a:pt x="1614551" y="548640"/>
                    <a:pt x="1463040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C2334D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669780" y="3044952"/>
            <a:ext cx="1303020" cy="411480"/>
            <a:chOff x="0" y="0"/>
            <a:chExt cx="173736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737360" cy="548640"/>
            </a:xfrm>
            <a:custGeom>
              <a:avLst/>
              <a:gdLst/>
              <a:ahLst/>
              <a:cxnLst/>
              <a:rect r="r" b="b" t="t" l="l"/>
              <a:pathLst>
                <a:path h="548640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2" r="0" b="-1170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73736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89"/>
                </a:lnSpc>
              </a:pPr>
              <a:r>
                <a:rPr lang="en-US" sz="2074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● LIVE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58716" y="3696176"/>
            <a:ext cx="9752648" cy="700088"/>
            <a:chOff x="0" y="0"/>
            <a:chExt cx="13003530" cy="9334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003530" cy="933450"/>
            </a:xfrm>
            <a:custGeom>
              <a:avLst/>
              <a:gdLst/>
              <a:ahLst/>
              <a:cxnLst/>
              <a:rect r="r" b="b" t="t" l="l"/>
              <a:pathLst>
                <a:path h="933450" w="13003530">
                  <a:moveTo>
                    <a:pt x="0" y="224028"/>
                  </a:moveTo>
                  <a:cubicBezTo>
                    <a:pt x="0" y="100330"/>
                    <a:pt x="100330" y="0"/>
                    <a:pt x="224028" y="0"/>
                  </a:cubicBezTo>
                  <a:lnTo>
                    <a:pt x="12779502" y="0"/>
                  </a:lnTo>
                  <a:cubicBezTo>
                    <a:pt x="12903200" y="0"/>
                    <a:pt x="13003530" y="100330"/>
                    <a:pt x="13003530" y="224028"/>
                  </a:cubicBezTo>
                  <a:lnTo>
                    <a:pt x="13003530" y="709422"/>
                  </a:lnTo>
                  <a:cubicBezTo>
                    <a:pt x="13003530" y="833120"/>
                    <a:pt x="12903200" y="933450"/>
                    <a:pt x="12779502" y="933450"/>
                  </a:cubicBezTo>
                  <a:lnTo>
                    <a:pt x="224028" y="933450"/>
                  </a:lnTo>
                  <a:cubicBezTo>
                    <a:pt x="100330" y="933450"/>
                    <a:pt x="0" y="833120"/>
                    <a:pt x="0" y="709422"/>
                  </a:cubicBezTo>
                  <a:close/>
                </a:path>
              </a:pathLst>
            </a:custGeom>
            <a:solidFill>
              <a:srgbClr val="EAF0FB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371600" y="3703320"/>
            <a:ext cx="960120" cy="685800"/>
            <a:chOff x="0" y="0"/>
            <a:chExt cx="1280160" cy="914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80160" cy="914400"/>
            </a:xfrm>
            <a:custGeom>
              <a:avLst/>
              <a:gdLst/>
              <a:ahLst/>
              <a:cxnLst/>
              <a:rect r="r" b="b" t="t" l="l"/>
              <a:pathLst>
                <a:path h="91440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1645" t="0" r="-41645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128016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69"/>
                </a:lnSpc>
              </a:pPr>
              <a:r>
                <a:rPr lang="en-US" sz="2224" b="true">
                  <a:solidFill>
                    <a:srgbClr val="0F766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0.0 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2400300" y="3703320"/>
            <a:ext cx="6035040" cy="685800"/>
            <a:chOff x="0" y="0"/>
            <a:chExt cx="8046720" cy="914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046720" cy="914400"/>
            </a:xfrm>
            <a:custGeom>
              <a:avLst/>
              <a:gdLst/>
              <a:ahLst/>
              <a:cxnLst/>
              <a:rect r="r" b="b" t="t" l="l"/>
              <a:pathLst>
                <a:path h="91440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1468" r="0" b="-12146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80467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49"/>
                </a:lnSpc>
              </a:pPr>
              <a:r>
                <a:rPr lang="en-US" sz="2374" i="true">
                  <a:solidFill>
                    <a:srgbClr val="0F1B3D"/>
                  </a:solidFill>
                  <a:latin typeface="Times New Roman MT Italics"/>
                  <a:ea typeface="Times New Roman MT Italics"/>
                  <a:cs typeface="Times New Roman MT Italics"/>
                  <a:sym typeface="Times New Roman MT Italics"/>
                </a:rPr>
                <a:t>"I need to cancel"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052560" y="3840480"/>
            <a:ext cx="1645920" cy="411480"/>
            <a:chOff x="0" y="0"/>
            <a:chExt cx="2194560" cy="5486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94560" cy="548640"/>
            </a:xfrm>
            <a:custGeom>
              <a:avLst/>
              <a:gdLst/>
              <a:ahLst/>
              <a:cxnLst/>
              <a:rect r="r" b="b" t="t" l="l"/>
              <a:pathLst>
                <a:path h="548640" w="219456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1920240" y="0"/>
                  </a:lnTo>
                  <a:cubicBezTo>
                    <a:pt x="2071751" y="0"/>
                    <a:pt x="2194560" y="122809"/>
                    <a:pt x="2194560" y="274320"/>
                  </a:cubicBezTo>
                  <a:cubicBezTo>
                    <a:pt x="2194560" y="425831"/>
                    <a:pt x="2071751" y="548640"/>
                    <a:pt x="1920240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D5DDE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052560" y="3840480"/>
            <a:ext cx="1645920" cy="411480"/>
            <a:chOff x="0" y="0"/>
            <a:chExt cx="2194560" cy="5486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94560" cy="548640"/>
            </a:xfrm>
            <a:custGeom>
              <a:avLst/>
              <a:gdLst/>
              <a:ahLst/>
              <a:cxnLst/>
              <a:rect r="r" b="b" t="t" l="l"/>
              <a:pathLst>
                <a:path h="5486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19456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99"/>
                </a:lnSpc>
              </a:pPr>
              <a:r>
                <a:rPr lang="en-US" sz="1999" b="true">
                  <a:solidFill>
                    <a:srgbClr val="0F1B3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WAIT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58716" y="4546568"/>
            <a:ext cx="9752648" cy="700088"/>
            <a:chOff x="0" y="0"/>
            <a:chExt cx="13003530" cy="9334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3003530" cy="933450"/>
            </a:xfrm>
            <a:custGeom>
              <a:avLst/>
              <a:gdLst/>
              <a:ahLst/>
              <a:cxnLst/>
              <a:rect r="r" b="b" t="t" l="l"/>
              <a:pathLst>
                <a:path h="933450" w="13003530">
                  <a:moveTo>
                    <a:pt x="0" y="224028"/>
                  </a:moveTo>
                  <a:cubicBezTo>
                    <a:pt x="0" y="100330"/>
                    <a:pt x="100330" y="0"/>
                    <a:pt x="224028" y="0"/>
                  </a:cubicBezTo>
                  <a:lnTo>
                    <a:pt x="12779502" y="0"/>
                  </a:lnTo>
                  <a:cubicBezTo>
                    <a:pt x="12903200" y="0"/>
                    <a:pt x="13003530" y="100330"/>
                    <a:pt x="13003530" y="224028"/>
                  </a:cubicBezTo>
                  <a:lnTo>
                    <a:pt x="13003530" y="709422"/>
                  </a:lnTo>
                  <a:cubicBezTo>
                    <a:pt x="13003530" y="833120"/>
                    <a:pt x="12903200" y="933450"/>
                    <a:pt x="12779502" y="933450"/>
                  </a:cubicBezTo>
                  <a:lnTo>
                    <a:pt x="224028" y="933450"/>
                  </a:lnTo>
                  <a:cubicBezTo>
                    <a:pt x="100330" y="933450"/>
                    <a:pt x="0" y="833120"/>
                    <a:pt x="0" y="709422"/>
                  </a:cubicBezTo>
                  <a:close/>
                </a:path>
              </a:pathLst>
            </a:custGeom>
            <a:solidFill>
              <a:srgbClr val="EAF0FB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371600" y="4553712"/>
            <a:ext cx="960120" cy="685800"/>
            <a:chOff x="0" y="0"/>
            <a:chExt cx="1280160" cy="914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80160" cy="914400"/>
            </a:xfrm>
            <a:custGeom>
              <a:avLst/>
              <a:gdLst/>
              <a:ahLst/>
              <a:cxnLst/>
              <a:rect r="r" b="b" t="t" l="l"/>
              <a:pathLst>
                <a:path h="91440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1645" t="0" r="-41645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128016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69"/>
                </a:lnSpc>
              </a:pPr>
              <a:r>
                <a:rPr lang="en-US" sz="2224" b="true">
                  <a:solidFill>
                    <a:srgbClr val="0F766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0.5 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2400300" y="4553712"/>
            <a:ext cx="6035040" cy="685800"/>
            <a:chOff x="0" y="0"/>
            <a:chExt cx="8046720" cy="914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046720" cy="914400"/>
            </a:xfrm>
            <a:custGeom>
              <a:avLst/>
              <a:gdLst/>
              <a:ahLst/>
              <a:cxnLst/>
              <a:rect r="r" b="b" t="t" l="l"/>
              <a:pathLst>
                <a:path h="91440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1468" r="0" b="-121468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80467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49"/>
                </a:lnSpc>
              </a:pPr>
              <a:r>
                <a:rPr lang="en-US" sz="2374" i="true">
                  <a:solidFill>
                    <a:srgbClr val="0F1B3D"/>
                  </a:solidFill>
                  <a:latin typeface="Times New Roman MT Italics"/>
                  <a:ea typeface="Times New Roman MT Italics"/>
                  <a:cs typeface="Times New Roman MT Italics"/>
                  <a:sym typeface="Times New Roman MT Italics"/>
                </a:rPr>
                <a:t>"a corporate event"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052560" y="4690872"/>
            <a:ext cx="1645920" cy="411480"/>
            <a:chOff x="0" y="0"/>
            <a:chExt cx="2194560" cy="548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194560" cy="548640"/>
            </a:xfrm>
            <a:custGeom>
              <a:avLst/>
              <a:gdLst/>
              <a:ahLst/>
              <a:cxnLst/>
              <a:rect r="r" b="b" t="t" l="l"/>
              <a:pathLst>
                <a:path h="548640" w="219456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1920240" y="0"/>
                  </a:lnTo>
                  <a:cubicBezTo>
                    <a:pt x="2071751" y="0"/>
                    <a:pt x="2194560" y="122809"/>
                    <a:pt x="2194560" y="274320"/>
                  </a:cubicBezTo>
                  <a:cubicBezTo>
                    <a:pt x="2194560" y="425831"/>
                    <a:pt x="2071751" y="548640"/>
                    <a:pt x="1920240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D5DDEB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052560" y="4690872"/>
            <a:ext cx="1645920" cy="411480"/>
            <a:chOff x="0" y="0"/>
            <a:chExt cx="2194560" cy="5486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194560" cy="548640"/>
            </a:xfrm>
            <a:custGeom>
              <a:avLst/>
              <a:gdLst/>
              <a:ahLst/>
              <a:cxnLst/>
              <a:rect r="r" b="b" t="t" l="l"/>
              <a:pathLst>
                <a:path h="5486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219456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99"/>
                </a:lnSpc>
              </a:pPr>
              <a:r>
                <a:rPr lang="en-US" sz="1999" b="true">
                  <a:solidFill>
                    <a:srgbClr val="0F1B3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WAIT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158716" y="5396960"/>
            <a:ext cx="9752648" cy="700088"/>
            <a:chOff x="0" y="0"/>
            <a:chExt cx="13003530" cy="93345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3003530" cy="933450"/>
            </a:xfrm>
            <a:custGeom>
              <a:avLst/>
              <a:gdLst/>
              <a:ahLst/>
              <a:cxnLst/>
              <a:rect r="r" b="b" t="t" l="l"/>
              <a:pathLst>
                <a:path h="933450" w="13003530">
                  <a:moveTo>
                    <a:pt x="0" y="224028"/>
                  </a:moveTo>
                  <a:cubicBezTo>
                    <a:pt x="0" y="100330"/>
                    <a:pt x="100330" y="0"/>
                    <a:pt x="224028" y="0"/>
                  </a:cubicBezTo>
                  <a:lnTo>
                    <a:pt x="12779502" y="0"/>
                  </a:lnTo>
                  <a:cubicBezTo>
                    <a:pt x="12903200" y="0"/>
                    <a:pt x="13003530" y="100330"/>
                    <a:pt x="13003530" y="224028"/>
                  </a:cubicBezTo>
                  <a:lnTo>
                    <a:pt x="13003530" y="709422"/>
                  </a:lnTo>
                  <a:cubicBezTo>
                    <a:pt x="13003530" y="833120"/>
                    <a:pt x="12903200" y="933450"/>
                    <a:pt x="12779502" y="933450"/>
                  </a:cubicBezTo>
                  <a:lnTo>
                    <a:pt x="224028" y="933450"/>
                  </a:lnTo>
                  <a:cubicBezTo>
                    <a:pt x="100330" y="933450"/>
                    <a:pt x="0" y="833120"/>
                    <a:pt x="0" y="709422"/>
                  </a:cubicBezTo>
                  <a:close/>
                </a:path>
              </a:pathLst>
            </a:custGeom>
            <a:solidFill>
              <a:srgbClr val="EAF0FB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371600" y="5404104"/>
            <a:ext cx="960120" cy="685800"/>
            <a:chOff x="0" y="0"/>
            <a:chExt cx="1280160" cy="9144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280160" cy="914400"/>
            </a:xfrm>
            <a:custGeom>
              <a:avLst/>
              <a:gdLst/>
              <a:ahLst/>
              <a:cxnLst/>
              <a:rect r="r" b="b" t="t" l="l"/>
              <a:pathLst>
                <a:path h="91440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1645" t="0" r="-41645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128016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69"/>
                </a:lnSpc>
              </a:pPr>
              <a:r>
                <a:rPr lang="en-US" sz="2224" b="true">
                  <a:solidFill>
                    <a:srgbClr val="0F766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1.2 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2400300" y="5404104"/>
            <a:ext cx="6035040" cy="685800"/>
            <a:chOff x="0" y="0"/>
            <a:chExt cx="8046720" cy="9144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046720" cy="914400"/>
            </a:xfrm>
            <a:custGeom>
              <a:avLst/>
              <a:gdLst/>
              <a:ahLst/>
              <a:cxnLst/>
              <a:rect r="r" b="b" t="t" l="l"/>
              <a:pathLst>
                <a:path h="91440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1468" r="0" b="-121468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80467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49"/>
                </a:lnSpc>
              </a:pPr>
              <a:r>
                <a:rPr lang="en-US" sz="2374" i="true">
                  <a:solidFill>
                    <a:srgbClr val="0F1B3D"/>
                  </a:solidFill>
                  <a:latin typeface="Times New Roman MT Italics"/>
                  <a:ea typeface="Times New Roman MT Italics"/>
                  <a:cs typeface="Times New Roman MT Italics"/>
                  <a:sym typeface="Times New Roman MT Italics"/>
                </a:rPr>
                <a:t>"booked for next week"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052560" y="5541264"/>
            <a:ext cx="1645920" cy="411480"/>
            <a:chOff x="0" y="0"/>
            <a:chExt cx="2194560" cy="5486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194560" cy="548640"/>
            </a:xfrm>
            <a:custGeom>
              <a:avLst/>
              <a:gdLst/>
              <a:ahLst/>
              <a:cxnLst/>
              <a:rect r="r" b="b" t="t" l="l"/>
              <a:pathLst>
                <a:path h="548640" w="219456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1920240" y="0"/>
                  </a:lnTo>
                  <a:cubicBezTo>
                    <a:pt x="2071751" y="0"/>
                    <a:pt x="2194560" y="122809"/>
                    <a:pt x="2194560" y="274320"/>
                  </a:cubicBezTo>
                  <a:cubicBezTo>
                    <a:pt x="2194560" y="425831"/>
                    <a:pt x="2071751" y="548640"/>
                    <a:pt x="1920240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0F766E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9052560" y="5541264"/>
            <a:ext cx="1645920" cy="411480"/>
            <a:chOff x="0" y="0"/>
            <a:chExt cx="2194560" cy="5486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194560" cy="548640"/>
            </a:xfrm>
            <a:custGeom>
              <a:avLst/>
              <a:gdLst/>
              <a:ahLst/>
              <a:cxnLst/>
              <a:rect r="r" b="b" t="t" l="l"/>
              <a:pathLst>
                <a:path h="5486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219456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99"/>
                </a:lnSpc>
              </a:pPr>
              <a:r>
                <a:rPr lang="en-US" sz="1999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PRE-FETCH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158716" y="6247352"/>
            <a:ext cx="9752648" cy="700088"/>
            <a:chOff x="0" y="0"/>
            <a:chExt cx="13003530" cy="93345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3003530" cy="933450"/>
            </a:xfrm>
            <a:custGeom>
              <a:avLst/>
              <a:gdLst/>
              <a:ahLst/>
              <a:cxnLst/>
              <a:rect r="r" b="b" t="t" l="l"/>
              <a:pathLst>
                <a:path h="933450" w="13003530">
                  <a:moveTo>
                    <a:pt x="0" y="224028"/>
                  </a:moveTo>
                  <a:cubicBezTo>
                    <a:pt x="0" y="100330"/>
                    <a:pt x="100330" y="0"/>
                    <a:pt x="224028" y="0"/>
                  </a:cubicBezTo>
                  <a:lnTo>
                    <a:pt x="12779502" y="0"/>
                  </a:lnTo>
                  <a:cubicBezTo>
                    <a:pt x="12903200" y="0"/>
                    <a:pt x="13003530" y="100330"/>
                    <a:pt x="13003530" y="224028"/>
                  </a:cubicBezTo>
                  <a:lnTo>
                    <a:pt x="13003530" y="709422"/>
                  </a:lnTo>
                  <a:cubicBezTo>
                    <a:pt x="13003530" y="833120"/>
                    <a:pt x="12903200" y="933450"/>
                    <a:pt x="12779502" y="933450"/>
                  </a:cubicBezTo>
                  <a:lnTo>
                    <a:pt x="224028" y="933450"/>
                  </a:lnTo>
                  <a:cubicBezTo>
                    <a:pt x="100330" y="933450"/>
                    <a:pt x="0" y="833120"/>
                    <a:pt x="0" y="709422"/>
                  </a:cubicBezTo>
                  <a:close/>
                </a:path>
              </a:pathLst>
            </a:custGeom>
            <a:solidFill>
              <a:srgbClr val="EAF0FB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371600" y="6254496"/>
            <a:ext cx="960120" cy="685800"/>
            <a:chOff x="0" y="0"/>
            <a:chExt cx="1280160" cy="9144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280160" cy="914400"/>
            </a:xfrm>
            <a:custGeom>
              <a:avLst/>
              <a:gdLst/>
              <a:ahLst/>
              <a:cxnLst/>
              <a:rect r="r" b="b" t="t" l="l"/>
              <a:pathLst>
                <a:path h="91440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1645" t="0" r="-41645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128016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69"/>
                </a:lnSpc>
              </a:pPr>
              <a:r>
                <a:rPr lang="en-US" sz="2224" b="true">
                  <a:solidFill>
                    <a:srgbClr val="0F766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2.0 s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2400300" y="6254496"/>
            <a:ext cx="6035040" cy="685800"/>
            <a:chOff x="0" y="0"/>
            <a:chExt cx="8046720" cy="9144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046720" cy="914400"/>
            </a:xfrm>
            <a:custGeom>
              <a:avLst/>
              <a:gdLst/>
              <a:ahLst/>
              <a:cxnLst/>
              <a:rect r="r" b="b" t="t" l="l"/>
              <a:pathLst>
                <a:path h="91440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1468" r="0" b="-121468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80467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49"/>
                </a:lnSpc>
              </a:pPr>
              <a:r>
                <a:rPr lang="en-US" sz="2374" i="true">
                  <a:solidFill>
                    <a:srgbClr val="0F1B3D"/>
                  </a:solidFill>
                  <a:latin typeface="Times New Roman MT Italics"/>
                  <a:ea typeface="Times New Roman MT Italics"/>
                  <a:cs typeface="Times New Roman MT Italics"/>
                  <a:sym typeface="Times New Roman MT Italics"/>
                </a:rPr>
                <a:t>"...because of a force majeure closure."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052560" y="6391656"/>
            <a:ext cx="1645920" cy="411480"/>
            <a:chOff x="0" y="0"/>
            <a:chExt cx="2194560" cy="5486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194560" cy="548640"/>
            </a:xfrm>
            <a:custGeom>
              <a:avLst/>
              <a:gdLst/>
              <a:ahLst/>
              <a:cxnLst/>
              <a:rect r="r" b="b" t="t" l="l"/>
              <a:pathLst>
                <a:path h="548640" w="219456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1920240" y="0"/>
                  </a:lnTo>
                  <a:cubicBezTo>
                    <a:pt x="2071751" y="0"/>
                    <a:pt x="2194560" y="122809"/>
                    <a:pt x="2194560" y="274320"/>
                  </a:cubicBezTo>
                  <a:cubicBezTo>
                    <a:pt x="2194560" y="425831"/>
                    <a:pt x="2071751" y="548640"/>
                    <a:pt x="1920240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B45309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052560" y="6391656"/>
            <a:ext cx="1645920" cy="411480"/>
            <a:chOff x="0" y="0"/>
            <a:chExt cx="2194560" cy="5486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194560" cy="548640"/>
            </a:xfrm>
            <a:custGeom>
              <a:avLst/>
              <a:gdLst/>
              <a:ahLst/>
              <a:cxnLst/>
              <a:rect r="r" b="b" t="t" l="l"/>
              <a:pathLst>
                <a:path h="5486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219456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99"/>
                </a:lnSpc>
              </a:pPr>
              <a:r>
                <a:rPr lang="en-US" sz="1999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END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158716" y="7193756"/>
            <a:ext cx="9752648" cy="1317308"/>
            <a:chOff x="0" y="0"/>
            <a:chExt cx="13003530" cy="175641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3003530" cy="1756410"/>
            </a:xfrm>
            <a:custGeom>
              <a:avLst/>
              <a:gdLst/>
              <a:ahLst/>
              <a:cxnLst/>
              <a:rect r="r" b="b" t="t" l="l"/>
              <a:pathLst>
                <a:path h="1756410" w="13003530">
                  <a:moveTo>
                    <a:pt x="0" y="221869"/>
                  </a:moveTo>
                  <a:cubicBezTo>
                    <a:pt x="0" y="99314"/>
                    <a:pt x="99314" y="0"/>
                    <a:pt x="221869" y="0"/>
                  </a:cubicBezTo>
                  <a:lnTo>
                    <a:pt x="12781662" y="0"/>
                  </a:lnTo>
                  <a:cubicBezTo>
                    <a:pt x="12904216" y="0"/>
                    <a:pt x="13003530" y="99314"/>
                    <a:pt x="13003530" y="221869"/>
                  </a:cubicBezTo>
                  <a:lnTo>
                    <a:pt x="13003530" y="1534541"/>
                  </a:lnTo>
                  <a:cubicBezTo>
                    <a:pt x="13003530" y="1657096"/>
                    <a:pt x="12904216" y="1756410"/>
                    <a:pt x="12781662" y="1756410"/>
                  </a:cubicBezTo>
                  <a:lnTo>
                    <a:pt x="221869" y="1756410"/>
                  </a:lnTo>
                  <a:cubicBezTo>
                    <a:pt x="99314" y="1756410"/>
                    <a:pt x="0" y="1657096"/>
                    <a:pt x="0" y="1534541"/>
                  </a:cubicBezTo>
                  <a:close/>
                </a:path>
              </a:pathLst>
            </a:custGeom>
            <a:solidFill>
              <a:srgbClr val="EAF0FB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1371600" y="7200900"/>
            <a:ext cx="9326880" cy="1303020"/>
            <a:chOff x="0" y="0"/>
            <a:chExt cx="12435840" cy="173736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243584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471" r="0" b="-8947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12435840" cy="1784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 b="true">
                  <a:solidFill>
                    <a:srgbClr val="1428A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Assistant · answer v1  </a:t>
              </a:r>
              <a:r>
                <a:rPr lang="en-US" sz="2299">
                  <a:solidFill>
                    <a:srgbClr val="0F1B3D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Synthesized from pre-fetched evidence (cache hit, 10 chunks). Every claim cited to a corpus chunk ID such as DOC_04 §1.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156335" y="8700135"/>
            <a:ext cx="5779770" cy="567690"/>
            <a:chOff x="0" y="0"/>
            <a:chExt cx="7706360" cy="75692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7706360" cy="756920"/>
            </a:xfrm>
            <a:custGeom>
              <a:avLst/>
              <a:gdLst/>
              <a:ahLst/>
              <a:cxnLst/>
              <a:rect r="r" b="b" t="t" l="l"/>
              <a:pathLst>
                <a:path h="756920" w="770636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lnTo>
                    <a:pt x="7327900" y="0"/>
                  </a:lnTo>
                  <a:cubicBezTo>
                    <a:pt x="7536942" y="0"/>
                    <a:pt x="7706360" y="169418"/>
                    <a:pt x="7706360" y="378460"/>
                  </a:cubicBezTo>
                  <a:cubicBezTo>
                    <a:pt x="7706360" y="587502"/>
                    <a:pt x="7536942" y="756920"/>
                    <a:pt x="7327900" y="756920"/>
                  </a:cubicBezTo>
                  <a:lnTo>
                    <a:pt x="378460" y="756920"/>
                  </a:ln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solidFill>
              <a:srgbClr val="F6F8FC"/>
            </a:solidFill>
            <a:ln w="19050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1440180" y="8709660"/>
            <a:ext cx="5212080" cy="548640"/>
            <a:chOff x="0" y="0"/>
            <a:chExt cx="6949440" cy="73152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6949440" cy="731520"/>
            </a:xfrm>
            <a:custGeom>
              <a:avLst/>
              <a:gdLst/>
              <a:ahLst/>
              <a:cxnLst/>
              <a:rect r="r" b="b" t="t" l="l"/>
              <a:pathLst>
                <a:path h="73152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47625"/>
              <a:ext cx="69494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69"/>
                </a:lnSpc>
              </a:pPr>
              <a:r>
                <a:rPr lang="en-US" sz="2224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Type partial speech…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7132320" y="8709660"/>
            <a:ext cx="1714500" cy="548640"/>
            <a:chOff x="0" y="0"/>
            <a:chExt cx="2286000" cy="73152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286000" cy="731520"/>
            </a:xfrm>
            <a:custGeom>
              <a:avLst/>
              <a:gdLst/>
              <a:ahLst/>
              <a:cxnLst/>
              <a:rect r="r" b="b" t="t" l="l"/>
              <a:pathLst>
                <a:path h="731520" w="228600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1920240" y="0"/>
                  </a:lnTo>
                  <a:cubicBezTo>
                    <a:pt x="2122297" y="0"/>
                    <a:pt x="2286000" y="163703"/>
                    <a:pt x="2286000" y="365760"/>
                  </a:cubicBezTo>
                  <a:cubicBezTo>
                    <a:pt x="2286000" y="567817"/>
                    <a:pt x="2122297" y="731520"/>
                    <a:pt x="1920240" y="731520"/>
                  </a:cubicBezTo>
                  <a:lnTo>
                    <a:pt x="365760" y="731520"/>
                  </a:ln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1428A0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7132320" y="8709660"/>
            <a:ext cx="1714500" cy="548640"/>
            <a:chOff x="0" y="0"/>
            <a:chExt cx="2286000" cy="7315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286000" cy="731520"/>
            </a:xfrm>
            <a:custGeom>
              <a:avLst/>
              <a:gdLst/>
              <a:ahLst/>
              <a:cxnLst/>
              <a:rect r="r" b="b" t="t" l="l"/>
              <a:pathLst>
                <a:path h="73152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7FA2FF"/>
            </a:solid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2286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79"/>
                </a:lnSpc>
              </a:pPr>
              <a:r>
                <a:rPr lang="en-US" sz="2149" b="true">
                  <a:solidFill>
                    <a:srgbClr val="0F1B3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Send Chunk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8983980" y="8709660"/>
            <a:ext cx="1714500" cy="548640"/>
            <a:chOff x="0" y="0"/>
            <a:chExt cx="2286000" cy="73152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286000" cy="731520"/>
            </a:xfrm>
            <a:custGeom>
              <a:avLst/>
              <a:gdLst/>
              <a:ahLst/>
              <a:cxnLst/>
              <a:rect r="r" b="b" t="t" l="l"/>
              <a:pathLst>
                <a:path h="731520" w="228600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1920240" y="0"/>
                  </a:lnTo>
                  <a:cubicBezTo>
                    <a:pt x="2122297" y="0"/>
                    <a:pt x="2286000" y="163703"/>
                    <a:pt x="2286000" y="365760"/>
                  </a:cubicBezTo>
                  <a:cubicBezTo>
                    <a:pt x="2286000" y="567817"/>
                    <a:pt x="2122297" y="731520"/>
                    <a:pt x="1920240" y="731520"/>
                  </a:cubicBezTo>
                  <a:lnTo>
                    <a:pt x="365760" y="731520"/>
                  </a:ln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0F766E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8983980" y="8709660"/>
            <a:ext cx="1714500" cy="548640"/>
            <a:chOff x="0" y="0"/>
            <a:chExt cx="2286000" cy="73152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286000" cy="731520"/>
            </a:xfrm>
            <a:custGeom>
              <a:avLst/>
              <a:gdLst/>
              <a:ahLst/>
              <a:cxnLst/>
              <a:rect r="r" b="b" t="t" l="l"/>
              <a:pathLst>
                <a:path h="73152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890" r="0" b="-1089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2286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79"/>
                </a:lnSpc>
              </a:pPr>
              <a:r>
                <a:rPr lang="en-US" sz="2149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End Utterance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1582876" y="2804636"/>
            <a:ext cx="5884736" cy="6666547"/>
            <a:chOff x="0" y="0"/>
            <a:chExt cx="7846314" cy="888873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7846314" cy="8888730"/>
            </a:xfrm>
            <a:custGeom>
              <a:avLst/>
              <a:gdLst/>
              <a:ahLst/>
              <a:cxnLst/>
              <a:rect r="r" b="b" t="t" l="l"/>
              <a:pathLst>
                <a:path h="8888730" w="7846314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7626350" y="0"/>
                  </a:lnTo>
                  <a:cubicBezTo>
                    <a:pt x="7747889" y="0"/>
                    <a:pt x="7846314" y="98552"/>
                    <a:pt x="7846314" y="219964"/>
                  </a:cubicBezTo>
                  <a:lnTo>
                    <a:pt x="7846314" y="8668766"/>
                  </a:lnTo>
                  <a:cubicBezTo>
                    <a:pt x="7846314" y="8790305"/>
                    <a:pt x="7747762" y="8888730"/>
                    <a:pt x="7626350" y="8888730"/>
                  </a:cubicBezTo>
                  <a:lnTo>
                    <a:pt x="219964" y="8888730"/>
                  </a:lnTo>
                  <a:cubicBezTo>
                    <a:pt x="98552" y="8888730"/>
                    <a:pt x="0" y="8790178"/>
                    <a:pt x="0" y="8668766"/>
                  </a:cubicBezTo>
                  <a:close/>
                </a:path>
              </a:pathLst>
            </a:custGeom>
            <a:solidFill>
              <a:srgbClr val="EAF0FB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sp>
        <p:nvSpPr>
          <p:cNvPr name="TextBox 99" id="99"/>
          <p:cNvSpPr txBox="true"/>
          <p:nvPr/>
        </p:nvSpPr>
        <p:spPr>
          <a:xfrm rot="0">
            <a:off x="11932920" y="2969895"/>
            <a:ext cx="521208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b="true" sz="2549" spc="463">
                <a:solidFill>
                  <a:srgbClr val="0F766E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LIVE RAG PIPELINE</a:t>
            </a:r>
          </a:p>
        </p:txBody>
      </p:sp>
      <p:grpSp>
        <p:nvGrpSpPr>
          <p:cNvPr name="Group 100" id="100"/>
          <p:cNvGrpSpPr/>
          <p:nvPr/>
        </p:nvGrpSpPr>
        <p:grpSpPr>
          <a:xfrm rot="0">
            <a:off x="11932920" y="3648456"/>
            <a:ext cx="466344" cy="466344"/>
            <a:chOff x="0" y="0"/>
            <a:chExt cx="621792" cy="621792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1428A0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1932920" y="3648456"/>
            <a:ext cx="466344" cy="501141"/>
            <a:chOff x="0" y="0"/>
            <a:chExt cx="621792" cy="668189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621792" cy="668189"/>
            </a:xfrm>
            <a:custGeom>
              <a:avLst/>
              <a:gdLst/>
              <a:ahLst/>
              <a:cxnLst/>
              <a:rect r="r" b="b" t="t" l="l"/>
              <a:pathLst>
                <a:path h="668189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68189"/>
                  </a:lnTo>
                  <a:lnTo>
                    <a:pt x="0" y="66818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6943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57150"/>
              <a:ext cx="621792" cy="7253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19"/>
                </a:lnSpc>
              </a:pPr>
              <a:r>
                <a:rPr lang="en-US" sz="2599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1</a:t>
              </a:r>
            </a:p>
          </p:txBody>
        </p:sp>
      </p:grpSp>
      <p:sp>
        <p:nvSpPr>
          <p:cNvPr name="TextBox 105" id="105"/>
          <p:cNvSpPr txBox="true"/>
          <p:nvPr/>
        </p:nvSpPr>
        <p:spPr>
          <a:xfrm rot="0">
            <a:off x="12618720" y="3509010"/>
            <a:ext cx="466344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449" b="true">
                <a:solidFill>
                  <a:srgbClr val="0F1B3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Transcript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2618720" y="3925824"/>
            <a:ext cx="46634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9"/>
              </a:lnSpc>
            </a:pPr>
            <a:r>
              <a:rPr lang="en-US" sz="2149">
                <a:solidFill>
                  <a:srgbClr val="55627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chunks streaming</a:t>
            </a:r>
          </a:p>
        </p:txBody>
      </p:sp>
      <p:grpSp>
        <p:nvGrpSpPr>
          <p:cNvPr name="Group 107" id="107"/>
          <p:cNvGrpSpPr/>
          <p:nvPr/>
        </p:nvGrpSpPr>
        <p:grpSpPr>
          <a:xfrm rot="0">
            <a:off x="11932920" y="4485132"/>
            <a:ext cx="466344" cy="466344"/>
            <a:chOff x="0" y="0"/>
            <a:chExt cx="621792" cy="621792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1428A0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11932920" y="4485132"/>
            <a:ext cx="466344" cy="501141"/>
            <a:chOff x="0" y="0"/>
            <a:chExt cx="621792" cy="668189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621792" cy="668189"/>
            </a:xfrm>
            <a:custGeom>
              <a:avLst/>
              <a:gdLst/>
              <a:ahLst/>
              <a:cxnLst/>
              <a:rect r="r" b="b" t="t" l="l"/>
              <a:pathLst>
                <a:path h="668189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68189"/>
                  </a:lnTo>
                  <a:lnTo>
                    <a:pt x="0" y="66818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6943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57150"/>
              <a:ext cx="621792" cy="7253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19"/>
                </a:lnSpc>
              </a:pPr>
              <a:r>
                <a:rPr lang="en-US" sz="2599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2</a:t>
              </a:r>
            </a:p>
          </p:txBody>
        </p:sp>
      </p:grpSp>
      <p:sp>
        <p:nvSpPr>
          <p:cNvPr name="TextBox 112" id="112"/>
          <p:cNvSpPr txBox="true"/>
          <p:nvPr/>
        </p:nvSpPr>
        <p:spPr>
          <a:xfrm rot="0">
            <a:off x="12618720" y="4345686"/>
            <a:ext cx="466344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449" b="true">
                <a:solidFill>
                  <a:srgbClr val="0F1B3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Controller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12618720" y="4762500"/>
            <a:ext cx="46634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9"/>
              </a:lnSpc>
            </a:pPr>
            <a:r>
              <a:rPr lang="en-US" sz="2149">
                <a:solidFill>
                  <a:srgbClr val="55627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WAIT → RETRIEVE</a:t>
            </a:r>
          </a:p>
        </p:txBody>
      </p:sp>
      <p:grpSp>
        <p:nvGrpSpPr>
          <p:cNvPr name="Group 114" id="114"/>
          <p:cNvGrpSpPr/>
          <p:nvPr/>
        </p:nvGrpSpPr>
        <p:grpSpPr>
          <a:xfrm rot="0">
            <a:off x="11932920" y="5321808"/>
            <a:ext cx="466344" cy="466344"/>
            <a:chOff x="0" y="0"/>
            <a:chExt cx="621792" cy="621792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0F766E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11932920" y="5321808"/>
            <a:ext cx="466344" cy="501141"/>
            <a:chOff x="0" y="0"/>
            <a:chExt cx="621792" cy="668189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621792" cy="668189"/>
            </a:xfrm>
            <a:custGeom>
              <a:avLst/>
              <a:gdLst/>
              <a:ahLst/>
              <a:cxnLst/>
              <a:rect r="r" b="b" t="t" l="l"/>
              <a:pathLst>
                <a:path h="668189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68189"/>
                  </a:lnTo>
                  <a:lnTo>
                    <a:pt x="0" y="66818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6943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57150"/>
              <a:ext cx="621792" cy="7253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19"/>
                </a:lnSpc>
              </a:pPr>
              <a:r>
                <a:rPr lang="en-US" sz="2599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3</a:t>
              </a:r>
            </a:p>
          </p:txBody>
        </p:sp>
      </p:grpSp>
      <p:sp>
        <p:nvSpPr>
          <p:cNvPr name="TextBox 119" id="119"/>
          <p:cNvSpPr txBox="true"/>
          <p:nvPr/>
        </p:nvSpPr>
        <p:spPr>
          <a:xfrm rot="0">
            <a:off x="12618720" y="5182362"/>
            <a:ext cx="466344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449" b="true">
                <a:solidFill>
                  <a:srgbClr val="0F1B3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Speculative retrieval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12618720" y="5599176"/>
            <a:ext cx="46634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9"/>
              </a:lnSpc>
            </a:pPr>
            <a:r>
              <a:rPr lang="en-US" sz="2149">
                <a:solidFill>
                  <a:srgbClr val="55627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10 chunks · 7.9 ms</a:t>
            </a:r>
          </a:p>
        </p:txBody>
      </p:sp>
      <p:grpSp>
        <p:nvGrpSpPr>
          <p:cNvPr name="Group 121" id="121"/>
          <p:cNvGrpSpPr/>
          <p:nvPr/>
        </p:nvGrpSpPr>
        <p:grpSpPr>
          <a:xfrm rot="0">
            <a:off x="11932920" y="6158484"/>
            <a:ext cx="466344" cy="466344"/>
            <a:chOff x="0" y="0"/>
            <a:chExt cx="621792" cy="621792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B45309"/>
            </a:solid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11932920" y="6158484"/>
            <a:ext cx="466344" cy="501141"/>
            <a:chOff x="0" y="0"/>
            <a:chExt cx="621792" cy="668189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621792" cy="668189"/>
            </a:xfrm>
            <a:custGeom>
              <a:avLst/>
              <a:gdLst/>
              <a:ahLst/>
              <a:cxnLst/>
              <a:rect r="r" b="b" t="t" l="l"/>
              <a:pathLst>
                <a:path h="668189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68189"/>
                  </a:lnTo>
                  <a:lnTo>
                    <a:pt x="0" y="66818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6943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57150"/>
              <a:ext cx="621792" cy="7253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19"/>
                </a:lnSpc>
              </a:pPr>
              <a:r>
                <a:rPr lang="en-US" sz="2599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4</a:t>
              </a:r>
            </a:p>
          </p:txBody>
        </p:sp>
      </p:grpSp>
      <p:sp>
        <p:nvSpPr>
          <p:cNvPr name="TextBox 126" id="126"/>
          <p:cNvSpPr txBox="true"/>
          <p:nvPr/>
        </p:nvSpPr>
        <p:spPr>
          <a:xfrm rot="0">
            <a:off x="12618720" y="6019038"/>
            <a:ext cx="466344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449" b="true">
                <a:solidFill>
                  <a:srgbClr val="0F1B3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Multi-intent split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12618720" y="6435852"/>
            <a:ext cx="46634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9"/>
              </a:lnSpc>
            </a:pPr>
            <a:r>
              <a:rPr lang="en-US" sz="2149">
                <a:solidFill>
                  <a:srgbClr val="55627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sub-queries in parallel</a:t>
            </a:r>
          </a:p>
        </p:txBody>
      </p:sp>
      <p:grpSp>
        <p:nvGrpSpPr>
          <p:cNvPr name="Group 128" id="128"/>
          <p:cNvGrpSpPr/>
          <p:nvPr/>
        </p:nvGrpSpPr>
        <p:grpSpPr>
          <a:xfrm rot="0">
            <a:off x="11932920" y="6995160"/>
            <a:ext cx="466344" cy="466344"/>
            <a:chOff x="0" y="0"/>
            <a:chExt cx="621792" cy="621792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B45309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11932920" y="6995160"/>
            <a:ext cx="466344" cy="501141"/>
            <a:chOff x="0" y="0"/>
            <a:chExt cx="621792" cy="668189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621792" cy="668189"/>
            </a:xfrm>
            <a:custGeom>
              <a:avLst/>
              <a:gdLst/>
              <a:ahLst/>
              <a:cxnLst/>
              <a:rect r="r" b="b" t="t" l="l"/>
              <a:pathLst>
                <a:path h="668189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68189"/>
                  </a:lnTo>
                  <a:lnTo>
                    <a:pt x="0" y="66818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6943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57150"/>
              <a:ext cx="621792" cy="7253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19"/>
                </a:lnSpc>
              </a:pPr>
              <a:r>
                <a:rPr lang="en-US" sz="2599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5</a:t>
              </a:r>
            </a:p>
          </p:txBody>
        </p:sp>
      </p:grpSp>
      <p:sp>
        <p:nvSpPr>
          <p:cNvPr name="TextBox 133" id="133"/>
          <p:cNvSpPr txBox="true"/>
          <p:nvPr/>
        </p:nvSpPr>
        <p:spPr>
          <a:xfrm rot="0">
            <a:off x="12618720" y="6855714"/>
            <a:ext cx="466344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449" b="true">
                <a:solidFill>
                  <a:srgbClr val="0F1B3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Fusion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12618720" y="7272528"/>
            <a:ext cx="46634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9"/>
              </a:lnSpc>
            </a:pPr>
            <a:r>
              <a:rPr lang="en-US" sz="2149">
                <a:solidFill>
                  <a:srgbClr val="55627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RRF + rerank, cache reused</a:t>
            </a:r>
          </a:p>
        </p:txBody>
      </p:sp>
      <p:grpSp>
        <p:nvGrpSpPr>
          <p:cNvPr name="Group 135" id="135"/>
          <p:cNvGrpSpPr/>
          <p:nvPr/>
        </p:nvGrpSpPr>
        <p:grpSpPr>
          <a:xfrm rot="0">
            <a:off x="11932920" y="7831836"/>
            <a:ext cx="466344" cy="466344"/>
            <a:chOff x="0" y="0"/>
            <a:chExt cx="621792" cy="621792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C2334D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11932920" y="7831836"/>
            <a:ext cx="466344" cy="501141"/>
            <a:chOff x="0" y="0"/>
            <a:chExt cx="621792" cy="668189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621792" cy="668189"/>
            </a:xfrm>
            <a:custGeom>
              <a:avLst/>
              <a:gdLst/>
              <a:ahLst/>
              <a:cxnLst/>
              <a:rect r="r" b="b" t="t" l="l"/>
              <a:pathLst>
                <a:path h="668189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68189"/>
                  </a:lnTo>
                  <a:lnTo>
                    <a:pt x="0" y="66818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6943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57150"/>
              <a:ext cx="621792" cy="7253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19"/>
                </a:lnSpc>
              </a:pPr>
              <a:r>
                <a:rPr lang="en-US" sz="2599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6</a:t>
              </a:r>
            </a:p>
          </p:txBody>
        </p:sp>
      </p:grpSp>
      <p:sp>
        <p:nvSpPr>
          <p:cNvPr name="TextBox 140" id="140"/>
          <p:cNvSpPr txBox="true"/>
          <p:nvPr/>
        </p:nvSpPr>
        <p:spPr>
          <a:xfrm rot="0">
            <a:off x="12618720" y="7692390"/>
            <a:ext cx="466344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449" b="true">
                <a:solidFill>
                  <a:srgbClr val="0F1B3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Grounding check</a:t>
            </a:r>
          </a:p>
        </p:txBody>
      </p:sp>
      <p:sp>
        <p:nvSpPr>
          <p:cNvPr name="TextBox 141" id="141"/>
          <p:cNvSpPr txBox="true"/>
          <p:nvPr/>
        </p:nvSpPr>
        <p:spPr>
          <a:xfrm rot="0">
            <a:off x="12618720" y="8109204"/>
            <a:ext cx="46634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9"/>
              </a:lnSpc>
            </a:pPr>
            <a:r>
              <a:rPr lang="en-US" sz="2149">
                <a:solidFill>
                  <a:srgbClr val="55627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claims verified vs corpus</a:t>
            </a:r>
          </a:p>
        </p:txBody>
      </p:sp>
      <p:grpSp>
        <p:nvGrpSpPr>
          <p:cNvPr name="Group 142" id="142"/>
          <p:cNvGrpSpPr/>
          <p:nvPr/>
        </p:nvGrpSpPr>
        <p:grpSpPr>
          <a:xfrm rot="0">
            <a:off x="11932920" y="8668512"/>
            <a:ext cx="466344" cy="466344"/>
            <a:chOff x="0" y="0"/>
            <a:chExt cx="621792" cy="621792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0F766E"/>
            </a:solidFill>
          </p:spPr>
        </p:sp>
      </p:grpSp>
      <p:grpSp>
        <p:nvGrpSpPr>
          <p:cNvPr name="Group 144" id="144"/>
          <p:cNvGrpSpPr/>
          <p:nvPr/>
        </p:nvGrpSpPr>
        <p:grpSpPr>
          <a:xfrm rot="0">
            <a:off x="11932920" y="8668512"/>
            <a:ext cx="466344" cy="501141"/>
            <a:chOff x="0" y="0"/>
            <a:chExt cx="621792" cy="668189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621792" cy="668189"/>
            </a:xfrm>
            <a:custGeom>
              <a:avLst/>
              <a:gdLst/>
              <a:ahLst/>
              <a:cxnLst/>
              <a:rect r="r" b="b" t="t" l="l"/>
              <a:pathLst>
                <a:path h="668189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68189"/>
                  </a:lnTo>
                  <a:lnTo>
                    <a:pt x="0" y="66818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6943"/>
              </a:stretch>
            </a:blip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-57150"/>
              <a:ext cx="621792" cy="7253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19"/>
                </a:lnSpc>
              </a:pPr>
              <a:r>
                <a:rPr lang="en-US" sz="2599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7</a:t>
              </a:r>
            </a:p>
          </p:txBody>
        </p:sp>
      </p:grpSp>
      <p:sp>
        <p:nvSpPr>
          <p:cNvPr name="TextBox 147" id="147"/>
          <p:cNvSpPr txBox="true"/>
          <p:nvPr/>
        </p:nvSpPr>
        <p:spPr>
          <a:xfrm rot="0">
            <a:off x="12618720" y="8529066"/>
            <a:ext cx="466344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449" b="true">
                <a:solidFill>
                  <a:srgbClr val="0F1B3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Final answer</a:t>
            </a:r>
          </a:p>
        </p:txBody>
      </p:sp>
      <p:sp>
        <p:nvSpPr>
          <p:cNvPr name="TextBox 148" id="148"/>
          <p:cNvSpPr txBox="true"/>
          <p:nvPr/>
        </p:nvSpPr>
        <p:spPr>
          <a:xfrm rot="0">
            <a:off x="12618720" y="8945880"/>
            <a:ext cx="46634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9"/>
              </a:lnSpc>
            </a:pPr>
            <a:r>
              <a:rPr lang="en-US" sz="2149">
                <a:solidFill>
                  <a:srgbClr val="55627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version 1 · citations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48640"/>
            <a:ext cx="12344400" cy="464057"/>
            <a:chOff x="0" y="0"/>
            <a:chExt cx="16459200" cy="6187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618743"/>
            </a:xfrm>
            <a:custGeom>
              <a:avLst/>
              <a:gdLst/>
              <a:ahLst/>
              <a:cxnLst/>
              <a:rect r="r" b="b" t="t" l="l"/>
              <a:pathLst>
                <a:path h="618743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618743"/>
                  </a:lnTo>
                  <a:lnTo>
                    <a:pt x="0" y="6187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3986" r="0" b="-4626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6459200" cy="666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 spc="599" b="true">
                  <a:solidFill>
                    <a:srgbClr val="0F766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10 · DEMO SCRIPT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596360" cy="1048892"/>
            <a:chOff x="0" y="0"/>
            <a:chExt cx="22128480" cy="13985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398523"/>
            </a:xfrm>
            <a:custGeom>
              <a:avLst/>
              <a:gdLst/>
              <a:ahLst/>
              <a:cxnLst/>
              <a:rect r="r" b="b" t="t" l="l"/>
              <a:pathLst>
                <a:path h="1398523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398523"/>
                  </a:lnTo>
                  <a:lnTo>
                    <a:pt x="0" y="139852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2538" r="0" b="-2540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22128480" cy="150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79"/>
                </a:lnSpc>
              </a:pPr>
              <a:r>
                <a:rPr lang="en-US" sz="5399" b="true">
                  <a:solidFill>
                    <a:srgbClr val="0F1B3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Manually driven, deterministic, no smoke and mirrors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1988820"/>
            <a:ext cx="16596360" cy="548640"/>
            <a:chOff x="0" y="0"/>
            <a:chExt cx="2212848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212848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39"/>
                </a:lnSpc>
              </a:pPr>
              <a:r>
                <a:rPr lang="en-US" sz="2449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No microphone dependency; the UI reads real pipeline state, never scripted results.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9669780"/>
            <a:ext cx="13716000" cy="343281"/>
            <a:chOff x="0" y="0"/>
            <a:chExt cx="18288000" cy="45770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88000" cy="457708"/>
            </a:xfrm>
            <a:custGeom>
              <a:avLst/>
              <a:gdLst/>
              <a:ahLst/>
              <a:cxnLst/>
              <a:rect r="r" b="b" t="t" l="l"/>
              <a:pathLst>
                <a:path h="457708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57708"/>
                  </a:lnTo>
                  <a:lnTo>
                    <a:pt x="0" y="4577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8592" r="0" b="-72848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8288000" cy="4958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9"/>
                </a:lnSpc>
              </a:pPr>
              <a:r>
                <a:rPr lang="en-US" sz="1799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SAMSUNG PRISM GenAI Hackathon  ·  Theme 04 Streaming Live RAG  ·  Team Cracked Code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596360" y="9669780"/>
            <a:ext cx="864108" cy="403669"/>
            <a:chOff x="0" y="0"/>
            <a:chExt cx="1152144" cy="5382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52144" cy="538225"/>
            </a:xfrm>
            <a:custGeom>
              <a:avLst/>
              <a:gdLst/>
              <a:ahLst/>
              <a:cxnLst/>
              <a:rect r="r" b="b" t="t" l="l"/>
              <a:pathLst>
                <a:path h="538225" w="1152144">
                  <a:moveTo>
                    <a:pt x="0" y="0"/>
                  </a:moveTo>
                  <a:lnTo>
                    <a:pt x="1152144" y="0"/>
                  </a:lnTo>
                  <a:lnTo>
                    <a:pt x="1152144" y="538225"/>
                  </a:lnTo>
                  <a:lnTo>
                    <a:pt x="0" y="53822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14" t="0" r="-914" b="1505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152144" cy="5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19"/>
                </a:lnSpc>
              </a:pPr>
              <a:r>
                <a:rPr lang="en-US" sz="2099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11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15816" y="2804636"/>
            <a:ext cx="16651796" cy="1084136"/>
            <a:chOff x="0" y="0"/>
            <a:chExt cx="22202394" cy="144551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202394" cy="1445514"/>
            </a:xfrm>
            <a:custGeom>
              <a:avLst/>
              <a:gdLst/>
              <a:ahLst/>
              <a:cxnLst/>
              <a:rect r="r" b="b" t="t" l="l"/>
              <a:pathLst>
                <a:path h="1445514" w="22202394">
                  <a:moveTo>
                    <a:pt x="0" y="222377"/>
                  </a:moveTo>
                  <a:cubicBezTo>
                    <a:pt x="0" y="99568"/>
                    <a:pt x="99568" y="0"/>
                    <a:pt x="222377" y="0"/>
                  </a:cubicBezTo>
                  <a:lnTo>
                    <a:pt x="21980017" y="0"/>
                  </a:lnTo>
                  <a:cubicBezTo>
                    <a:pt x="22102826" y="0"/>
                    <a:pt x="22202394" y="99568"/>
                    <a:pt x="22202394" y="222377"/>
                  </a:cubicBezTo>
                  <a:lnTo>
                    <a:pt x="22202394" y="1223137"/>
                  </a:lnTo>
                  <a:cubicBezTo>
                    <a:pt x="22202394" y="1345946"/>
                    <a:pt x="22102826" y="1445514"/>
                    <a:pt x="21980017" y="1445514"/>
                  </a:cubicBezTo>
                  <a:lnTo>
                    <a:pt x="222377" y="1445514"/>
                  </a:lnTo>
                  <a:cubicBezTo>
                    <a:pt x="99568" y="1445514"/>
                    <a:pt x="0" y="1345946"/>
                    <a:pt x="0" y="1223137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097280" y="3058668"/>
            <a:ext cx="576072" cy="576072"/>
            <a:chOff x="0" y="0"/>
            <a:chExt cx="768096" cy="7680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1428A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97280" y="3058668"/>
            <a:ext cx="576072" cy="576072"/>
            <a:chOff x="0" y="0"/>
            <a:chExt cx="768096" cy="76809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768096" cy="8252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39"/>
                </a:lnSpc>
              </a:pPr>
              <a:r>
                <a:rPr lang="en-US" sz="2699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1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920240" y="2811780"/>
            <a:ext cx="2331720" cy="1069848"/>
            <a:chOff x="0" y="0"/>
            <a:chExt cx="3108960" cy="142646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108960" cy="1426464"/>
            </a:xfrm>
            <a:custGeom>
              <a:avLst/>
              <a:gdLst/>
              <a:ahLst/>
              <a:cxnLst/>
              <a:rect r="r" b="b" t="t" l="l"/>
              <a:pathLst>
                <a:path h="1426464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868" t="0" r="-8868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3108960" cy="14836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39"/>
                </a:lnSpc>
              </a:pPr>
              <a:r>
                <a:rPr lang="en-US" sz="2699" b="true">
                  <a:solidFill>
                    <a:srgbClr val="0F1B3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Chunk 1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251960" y="2811780"/>
            <a:ext cx="6172200" cy="1069848"/>
            <a:chOff x="0" y="0"/>
            <a:chExt cx="8229600" cy="142646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229600" cy="1426464"/>
            </a:xfrm>
            <a:custGeom>
              <a:avLst/>
              <a:gdLst/>
              <a:ahLst/>
              <a:cxnLst/>
              <a:rect r="r" b="b" t="t" l="l"/>
              <a:pathLst>
                <a:path h="1426464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413" r="0" b="-6241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8229600" cy="14836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69"/>
                </a:lnSpc>
              </a:pPr>
              <a:r>
                <a:rPr lang="en-US" sz="2474" i="true">
                  <a:solidFill>
                    <a:srgbClr val="0F1B3D"/>
                  </a:solidFill>
                  <a:latin typeface="Times New Roman MT Italics"/>
                  <a:ea typeface="Times New Roman MT Italics"/>
                  <a:cs typeface="Times New Roman MT Italics"/>
                  <a:sym typeface="Times New Roman MT Italics"/>
                </a:rPr>
                <a:t>"I need to plan"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561320" y="2811780"/>
            <a:ext cx="6720840" cy="1069848"/>
            <a:chOff x="0" y="0"/>
            <a:chExt cx="8961120" cy="142646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961120" cy="1426464"/>
            </a:xfrm>
            <a:custGeom>
              <a:avLst/>
              <a:gdLst/>
              <a:ahLst/>
              <a:cxnLst/>
              <a:rect r="r" b="b" t="t" l="l"/>
              <a:pathLst>
                <a:path h="1426464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406" r="0" b="-7240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8961120" cy="14836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69"/>
                </a:lnSpc>
              </a:pPr>
              <a:r>
                <a:rPr lang="en-US" sz="2474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WAIT · intent unstable · no retrieval, no answer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15816" y="4039076"/>
            <a:ext cx="16651796" cy="1084136"/>
            <a:chOff x="0" y="0"/>
            <a:chExt cx="22202394" cy="144551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202394" cy="1445514"/>
            </a:xfrm>
            <a:custGeom>
              <a:avLst/>
              <a:gdLst/>
              <a:ahLst/>
              <a:cxnLst/>
              <a:rect r="r" b="b" t="t" l="l"/>
              <a:pathLst>
                <a:path h="1445514" w="22202394">
                  <a:moveTo>
                    <a:pt x="0" y="222377"/>
                  </a:moveTo>
                  <a:cubicBezTo>
                    <a:pt x="0" y="99568"/>
                    <a:pt x="99568" y="0"/>
                    <a:pt x="222377" y="0"/>
                  </a:cubicBezTo>
                  <a:lnTo>
                    <a:pt x="21980017" y="0"/>
                  </a:lnTo>
                  <a:cubicBezTo>
                    <a:pt x="22102826" y="0"/>
                    <a:pt x="22202394" y="99568"/>
                    <a:pt x="22202394" y="222377"/>
                  </a:cubicBezTo>
                  <a:lnTo>
                    <a:pt x="22202394" y="1223137"/>
                  </a:lnTo>
                  <a:cubicBezTo>
                    <a:pt x="22202394" y="1345946"/>
                    <a:pt x="22102826" y="1445514"/>
                    <a:pt x="21980017" y="1445514"/>
                  </a:cubicBezTo>
                  <a:lnTo>
                    <a:pt x="222377" y="1445514"/>
                  </a:lnTo>
                  <a:cubicBezTo>
                    <a:pt x="99568" y="1445514"/>
                    <a:pt x="0" y="1345946"/>
                    <a:pt x="0" y="1223137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097280" y="4293108"/>
            <a:ext cx="576072" cy="576072"/>
            <a:chOff x="0" y="0"/>
            <a:chExt cx="768096" cy="76809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0F766E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97280" y="4293108"/>
            <a:ext cx="576072" cy="576072"/>
            <a:chOff x="0" y="0"/>
            <a:chExt cx="768096" cy="76809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768096" cy="8252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39"/>
                </a:lnSpc>
              </a:pPr>
              <a:r>
                <a:rPr lang="en-US" sz="2699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2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920240" y="4046220"/>
            <a:ext cx="2331720" cy="1069848"/>
            <a:chOff x="0" y="0"/>
            <a:chExt cx="3108960" cy="142646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108960" cy="1426464"/>
            </a:xfrm>
            <a:custGeom>
              <a:avLst/>
              <a:gdLst/>
              <a:ahLst/>
              <a:cxnLst/>
              <a:rect r="r" b="b" t="t" l="l"/>
              <a:pathLst>
                <a:path h="1426464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868" t="0" r="-8868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3108960" cy="14836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39"/>
                </a:lnSpc>
              </a:pPr>
              <a:r>
                <a:rPr lang="en-US" sz="2699" b="true">
                  <a:solidFill>
                    <a:srgbClr val="0F1B3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Chunk 2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4251960" y="4046220"/>
            <a:ext cx="6172200" cy="1069848"/>
            <a:chOff x="0" y="0"/>
            <a:chExt cx="8229600" cy="142646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229600" cy="1426464"/>
            </a:xfrm>
            <a:custGeom>
              <a:avLst/>
              <a:gdLst/>
              <a:ahLst/>
              <a:cxnLst/>
              <a:rect r="r" b="b" t="t" l="l"/>
              <a:pathLst>
                <a:path h="1426464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413" r="0" b="-62413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57150"/>
              <a:ext cx="8229600" cy="14836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69"/>
                </a:lnSpc>
              </a:pPr>
              <a:r>
                <a:rPr lang="en-US" sz="2474" i="true">
                  <a:solidFill>
                    <a:srgbClr val="0F1B3D"/>
                  </a:solidFill>
                  <a:latin typeface="Times New Roman MT Italics"/>
                  <a:ea typeface="Times New Roman MT Italics"/>
                  <a:cs typeface="Times New Roman MT Italics"/>
                  <a:sym typeface="Times New Roman MT Italics"/>
                </a:rPr>
                <a:t>"a customer workshop in Pune for 30 people"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561320" y="4046220"/>
            <a:ext cx="6720840" cy="1069848"/>
            <a:chOff x="0" y="0"/>
            <a:chExt cx="8961120" cy="142646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961120" cy="1426464"/>
            </a:xfrm>
            <a:custGeom>
              <a:avLst/>
              <a:gdLst/>
              <a:ahLst/>
              <a:cxnLst/>
              <a:rect r="r" b="b" t="t" l="l"/>
              <a:pathLst>
                <a:path h="1426464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406" r="0" b="-72406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8961120" cy="14836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69"/>
                </a:lnSpc>
              </a:pPr>
              <a:r>
                <a:rPr lang="en-US" sz="2474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Speculative retrieval fires while user is still speaking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15816" y="5273516"/>
            <a:ext cx="16651796" cy="1084136"/>
            <a:chOff x="0" y="0"/>
            <a:chExt cx="22202394" cy="144551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202394" cy="1445514"/>
            </a:xfrm>
            <a:custGeom>
              <a:avLst/>
              <a:gdLst/>
              <a:ahLst/>
              <a:cxnLst/>
              <a:rect r="r" b="b" t="t" l="l"/>
              <a:pathLst>
                <a:path h="1445514" w="22202394">
                  <a:moveTo>
                    <a:pt x="0" y="222377"/>
                  </a:moveTo>
                  <a:cubicBezTo>
                    <a:pt x="0" y="99568"/>
                    <a:pt x="99568" y="0"/>
                    <a:pt x="222377" y="0"/>
                  </a:cubicBezTo>
                  <a:lnTo>
                    <a:pt x="21980017" y="0"/>
                  </a:lnTo>
                  <a:cubicBezTo>
                    <a:pt x="22102826" y="0"/>
                    <a:pt x="22202394" y="99568"/>
                    <a:pt x="22202394" y="222377"/>
                  </a:cubicBezTo>
                  <a:lnTo>
                    <a:pt x="22202394" y="1223137"/>
                  </a:lnTo>
                  <a:cubicBezTo>
                    <a:pt x="22202394" y="1345946"/>
                    <a:pt x="22102826" y="1445514"/>
                    <a:pt x="21980017" y="1445514"/>
                  </a:cubicBezTo>
                  <a:lnTo>
                    <a:pt x="222377" y="1445514"/>
                  </a:lnTo>
                  <a:cubicBezTo>
                    <a:pt x="99568" y="1445514"/>
                    <a:pt x="0" y="1345946"/>
                    <a:pt x="0" y="1223137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097280" y="5527548"/>
            <a:ext cx="576072" cy="576072"/>
            <a:chOff x="0" y="0"/>
            <a:chExt cx="768096" cy="76809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B45309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097280" y="5527548"/>
            <a:ext cx="576072" cy="576072"/>
            <a:chOff x="0" y="0"/>
            <a:chExt cx="768096" cy="76809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768096" cy="8252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39"/>
                </a:lnSpc>
              </a:pPr>
              <a:r>
                <a:rPr lang="en-US" sz="2699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3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920240" y="5280660"/>
            <a:ext cx="2331720" cy="1069848"/>
            <a:chOff x="0" y="0"/>
            <a:chExt cx="3108960" cy="142646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108960" cy="1426464"/>
            </a:xfrm>
            <a:custGeom>
              <a:avLst/>
              <a:gdLst/>
              <a:ahLst/>
              <a:cxnLst/>
              <a:rect r="r" b="b" t="t" l="l"/>
              <a:pathLst>
                <a:path h="1426464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868" t="0" r="-8868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57150"/>
              <a:ext cx="3108960" cy="14836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39"/>
                </a:lnSpc>
              </a:pPr>
              <a:r>
                <a:rPr lang="en-US" sz="2699" b="true">
                  <a:solidFill>
                    <a:srgbClr val="0F1B3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Chunk 3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4251960" y="5280660"/>
            <a:ext cx="6172200" cy="1069848"/>
            <a:chOff x="0" y="0"/>
            <a:chExt cx="8229600" cy="142646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229600" cy="1426464"/>
            </a:xfrm>
            <a:custGeom>
              <a:avLst/>
              <a:gdLst/>
              <a:ahLst/>
              <a:cxnLst/>
              <a:rect r="r" b="b" t="t" l="l"/>
              <a:pathLst>
                <a:path h="1426464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413" r="0" b="-62413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8229600" cy="14836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69"/>
                </a:lnSpc>
              </a:pPr>
              <a:r>
                <a:rPr lang="en-US" sz="2474" i="true">
                  <a:solidFill>
                    <a:srgbClr val="0F1B3D"/>
                  </a:solidFill>
                  <a:latin typeface="Times New Roman MT Italics"/>
                  <a:ea typeface="Times New Roman MT Italics"/>
                  <a:cs typeface="Times New Roman MT Italics"/>
                  <a:sym typeface="Times New Roman MT Italics"/>
                </a:rPr>
                <a:t>"and I need the cancellation policy"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561320" y="5280660"/>
            <a:ext cx="6720840" cy="1069848"/>
            <a:chOff x="0" y="0"/>
            <a:chExt cx="8961120" cy="142646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961120" cy="1426464"/>
            </a:xfrm>
            <a:custGeom>
              <a:avLst/>
              <a:gdLst/>
              <a:ahLst/>
              <a:cxnLst/>
              <a:rect r="r" b="b" t="t" l="l"/>
              <a:pathLst>
                <a:path h="1426464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406" r="0" b="-72406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57150"/>
              <a:ext cx="8961120" cy="14836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69"/>
                </a:lnSpc>
              </a:pPr>
              <a:r>
                <a:rPr lang="en-US" sz="2474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Second intent detected; delta retrieval, prior evidence reused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815816" y="6507956"/>
            <a:ext cx="16651796" cy="1084136"/>
            <a:chOff x="0" y="0"/>
            <a:chExt cx="22202394" cy="144551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2202394" cy="1445514"/>
            </a:xfrm>
            <a:custGeom>
              <a:avLst/>
              <a:gdLst/>
              <a:ahLst/>
              <a:cxnLst/>
              <a:rect r="r" b="b" t="t" l="l"/>
              <a:pathLst>
                <a:path h="1445514" w="22202394">
                  <a:moveTo>
                    <a:pt x="0" y="222377"/>
                  </a:moveTo>
                  <a:cubicBezTo>
                    <a:pt x="0" y="99568"/>
                    <a:pt x="99568" y="0"/>
                    <a:pt x="222377" y="0"/>
                  </a:cubicBezTo>
                  <a:lnTo>
                    <a:pt x="21980017" y="0"/>
                  </a:lnTo>
                  <a:cubicBezTo>
                    <a:pt x="22102826" y="0"/>
                    <a:pt x="22202394" y="99568"/>
                    <a:pt x="22202394" y="222377"/>
                  </a:cubicBezTo>
                  <a:lnTo>
                    <a:pt x="22202394" y="1223137"/>
                  </a:lnTo>
                  <a:cubicBezTo>
                    <a:pt x="22202394" y="1345946"/>
                    <a:pt x="22102826" y="1445514"/>
                    <a:pt x="21980017" y="1445514"/>
                  </a:cubicBezTo>
                  <a:lnTo>
                    <a:pt x="222377" y="1445514"/>
                  </a:lnTo>
                  <a:cubicBezTo>
                    <a:pt x="99568" y="1445514"/>
                    <a:pt x="0" y="1345946"/>
                    <a:pt x="0" y="1223137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1097280" y="6761988"/>
            <a:ext cx="576072" cy="576072"/>
            <a:chOff x="0" y="0"/>
            <a:chExt cx="768096" cy="76809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C2334D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097280" y="6761988"/>
            <a:ext cx="576072" cy="576072"/>
            <a:chOff x="0" y="0"/>
            <a:chExt cx="768096" cy="76809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57150"/>
              <a:ext cx="768096" cy="8252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39"/>
                </a:lnSpc>
              </a:pPr>
              <a:r>
                <a:rPr lang="en-US" sz="2699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4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920240" y="6515100"/>
            <a:ext cx="2331720" cy="1069848"/>
            <a:chOff x="0" y="0"/>
            <a:chExt cx="3108960" cy="142646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108960" cy="1426464"/>
            </a:xfrm>
            <a:custGeom>
              <a:avLst/>
              <a:gdLst/>
              <a:ahLst/>
              <a:cxnLst/>
              <a:rect r="r" b="b" t="t" l="l"/>
              <a:pathLst>
                <a:path h="1426464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868" t="0" r="-8868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57150"/>
              <a:ext cx="3108960" cy="14836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39"/>
                </a:lnSpc>
              </a:pPr>
              <a:r>
                <a:rPr lang="en-US" sz="2699" b="true">
                  <a:solidFill>
                    <a:srgbClr val="0F1B3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Chunk 4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4251960" y="6515100"/>
            <a:ext cx="6172200" cy="1069848"/>
            <a:chOff x="0" y="0"/>
            <a:chExt cx="8229600" cy="1426464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229600" cy="1426464"/>
            </a:xfrm>
            <a:custGeom>
              <a:avLst/>
              <a:gdLst/>
              <a:ahLst/>
              <a:cxnLst/>
              <a:rect r="r" b="b" t="t" l="l"/>
              <a:pathLst>
                <a:path h="1426464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413" r="0" b="-62413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57150"/>
              <a:ext cx="8229600" cy="14836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69"/>
                </a:lnSpc>
              </a:pPr>
              <a:r>
                <a:rPr lang="en-US" sz="2474" i="true">
                  <a:solidFill>
                    <a:srgbClr val="0F1B3D"/>
                  </a:solidFill>
                  <a:latin typeface="Times New Roman MT Italics"/>
                  <a:ea typeface="Times New Roman MT Italics"/>
                  <a:cs typeface="Times New Roman MT Italics"/>
                  <a:sym typeface="Times New Roman MT Italics"/>
                </a:rPr>
                <a:t>"and catering options"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0561320" y="6515100"/>
            <a:ext cx="6720840" cy="1069848"/>
            <a:chOff x="0" y="0"/>
            <a:chExt cx="8961120" cy="1426464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8961120" cy="1426464"/>
            </a:xfrm>
            <a:custGeom>
              <a:avLst/>
              <a:gdLst/>
              <a:ahLst/>
              <a:cxnLst/>
              <a:rect r="r" b="b" t="t" l="l"/>
              <a:pathLst>
                <a:path h="1426464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406" r="0" b="-72406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57150"/>
              <a:ext cx="8961120" cy="14836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69"/>
                </a:lnSpc>
              </a:pPr>
              <a:r>
                <a:rPr lang="en-US" sz="2474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Multi-intent decomposition: venue · cancellation · catering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815816" y="7742396"/>
            <a:ext cx="16651796" cy="1084136"/>
            <a:chOff x="0" y="0"/>
            <a:chExt cx="22202394" cy="1445514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2202394" cy="1445514"/>
            </a:xfrm>
            <a:custGeom>
              <a:avLst/>
              <a:gdLst/>
              <a:ahLst/>
              <a:cxnLst/>
              <a:rect r="r" b="b" t="t" l="l"/>
              <a:pathLst>
                <a:path h="1445514" w="22202394">
                  <a:moveTo>
                    <a:pt x="0" y="222377"/>
                  </a:moveTo>
                  <a:cubicBezTo>
                    <a:pt x="0" y="99568"/>
                    <a:pt x="99568" y="0"/>
                    <a:pt x="222377" y="0"/>
                  </a:cubicBezTo>
                  <a:lnTo>
                    <a:pt x="21980017" y="0"/>
                  </a:lnTo>
                  <a:cubicBezTo>
                    <a:pt x="22102826" y="0"/>
                    <a:pt x="22202394" y="99568"/>
                    <a:pt x="22202394" y="222377"/>
                  </a:cubicBezTo>
                  <a:lnTo>
                    <a:pt x="22202394" y="1223137"/>
                  </a:lnTo>
                  <a:cubicBezTo>
                    <a:pt x="22202394" y="1345946"/>
                    <a:pt x="22102826" y="1445514"/>
                    <a:pt x="21980017" y="1445514"/>
                  </a:cubicBezTo>
                  <a:lnTo>
                    <a:pt x="222377" y="1445514"/>
                  </a:lnTo>
                  <a:cubicBezTo>
                    <a:pt x="99568" y="1445514"/>
                    <a:pt x="0" y="1345946"/>
                    <a:pt x="0" y="1223137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83" id="83"/>
          <p:cNvGrpSpPr/>
          <p:nvPr/>
        </p:nvGrpSpPr>
        <p:grpSpPr>
          <a:xfrm rot="0">
            <a:off x="1097280" y="7996428"/>
            <a:ext cx="576072" cy="576072"/>
            <a:chOff x="0" y="0"/>
            <a:chExt cx="768096" cy="768096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0F766E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097280" y="7996428"/>
            <a:ext cx="576072" cy="576072"/>
            <a:chOff x="0" y="0"/>
            <a:chExt cx="768096" cy="76809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57150"/>
              <a:ext cx="768096" cy="8252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39"/>
                </a:lnSpc>
              </a:pPr>
              <a:r>
                <a:rPr lang="en-US" sz="2699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5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920240" y="7749540"/>
            <a:ext cx="2331720" cy="1069848"/>
            <a:chOff x="0" y="0"/>
            <a:chExt cx="3108960" cy="1426464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108960" cy="1426464"/>
            </a:xfrm>
            <a:custGeom>
              <a:avLst/>
              <a:gdLst/>
              <a:ahLst/>
              <a:cxnLst/>
              <a:rect r="r" b="b" t="t" l="l"/>
              <a:pathLst>
                <a:path h="1426464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868" t="0" r="-8868" b="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57150"/>
              <a:ext cx="3108960" cy="14836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39"/>
                </a:lnSpc>
              </a:pPr>
              <a:r>
                <a:rPr lang="en-US" sz="2699" b="true">
                  <a:solidFill>
                    <a:srgbClr val="0F1B3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End Utterance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0561320" y="7749540"/>
            <a:ext cx="6720840" cy="1069848"/>
            <a:chOff x="0" y="0"/>
            <a:chExt cx="8961120" cy="1426464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8961120" cy="1426464"/>
            </a:xfrm>
            <a:custGeom>
              <a:avLst/>
              <a:gdLst/>
              <a:ahLst/>
              <a:cxnLst/>
              <a:rect r="r" b="b" t="t" l="l"/>
              <a:pathLst>
                <a:path h="1426464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406" r="0" b="-72406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57150"/>
              <a:ext cx="8961120" cy="14836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69"/>
                </a:lnSpc>
              </a:pPr>
              <a:r>
                <a:rPr lang="en-US" sz="2474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Reuse cache → fuse → ground → verified answer with citations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815816" y="8976836"/>
            <a:ext cx="16651796" cy="562928"/>
            <a:chOff x="0" y="0"/>
            <a:chExt cx="22202394" cy="75057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2202394" cy="750570"/>
            </a:xfrm>
            <a:custGeom>
              <a:avLst/>
              <a:gdLst/>
              <a:ahLst/>
              <a:cxnLst/>
              <a:rect r="r" b="b" t="t" l="l"/>
              <a:pathLst>
                <a:path h="750570" w="22202394">
                  <a:moveTo>
                    <a:pt x="0" y="225171"/>
                  </a:moveTo>
                  <a:cubicBezTo>
                    <a:pt x="0" y="100838"/>
                    <a:pt x="100838" y="0"/>
                    <a:pt x="225171" y="0"/>
                  </a:cubicBezTo>
                  <a:lnTo>
                    <a:pt x="21977223" y="0"/>
                  </a:lnTo>
                  <a:cubicBezTo>
                    <a:pt x="22101556" y="0"/>
                    <a:pt x="22202394" y="100838"/>
                    <a:pt x="22202394" y="225171"/>
                  </a:cubicBezTo>
                  <a:lnTo>
                    <a:pt x="22202394" y="525399"/>
                  </a:lnTo>
                  <a:cubicBezTo>
                    <a:pt x="22202394" y="649732"/>
                    <a:pt x="22101556" y="750570"/>
                    <a:pt x="21977223" y="750570"/>
                  </a:cubicBezTo>
                  <a:lnTo>
                    <a:pt x="225171" y="750570"/>
                  </a:lnTo>
                  <a:cubicBezTo>
                    <a:pt x="100838" y="750570"/>
                    <a:pt x="0" y="649732"/>
                    <a:pt x="0" y="525399"/>
                  </a:cubicBezTo>
                  <a:close/>
                </a:path>
              </a:pathLst>
            </a:custGeom>
            <a:solidFill>
              <a:srgbClr val="EAF0FB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96" id="96"/>
          <p:cNvGrpSpPr/>
          <p:nvPr/>
        </p:nvGrpSpPr>
        <p:grpSpPr>
          <a:xfrm rot="0">
            <a:off x="1097280" y="8983980"/>
            <a:ext cx="16184880" cy="653399"/>
            <a:chOff x="0" y="0"/>
            <a:chExt cx="21579840" cy="871199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1579839" cy="871199"/>
            </a:xfrm>
            <a:custGeom>
              <a:avLst/>
              <a:gdLst/>
              <a:ahLst/>
              <a:cxnLst/>
              <a:rect r="r" b="b" t="t" l="l"/>
              <a:pathLst>
                <a:path h="871199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871199"/>
                  </a:lnTo>
                  <a:lnTo>
                    <a:pt x="0" y="8711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0666" r="0" b="-424633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47625"/>
              <a:ext cx="21579840" cy="9188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9"/>
                </a:lnSpc>
              </a:pPr>
              <a:r>
                <a:rPr lang="en-US" sz="1924">
                  <a:solidFill>
                    <a:srgbClr val="0F1B3D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Controls: Send Chunk · End Utterance · Reset · Demo Scenario (prefills next chunk; you still press Send). Live indicator: ordinary RAG retrieves after speech; ours is already retrieving.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48640"/>
            <a:ext cx="12344400" cy="440753"/>
            <a:chOff x="0" y="0"/>
            <a:chExt cx="16459200" cy="587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587671"/>
            </a:xfrm>
            <a:custGeom>
              <a:avLst/>
              <a:gdLst/>
              <a:ahLst/>
              <a:cxnLst/>
              <a:rect r="r" b="b" t="t" l="l"/>
              <a:pathLst>
                <a:path h="587671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87671"/>
                  </a:lnTo>
                  <a:lnTo>
                    <a:pt x="0" y="58767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9048" r="0" b="-49240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6459200" cy="6352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b="true" sz="2299" spc="574">
                  <a:solidFill>
                    <a:srgbClr val="0F766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11 · TOOLS &amp; TECH STACK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596360" cy="965200"/>
            <a:chOff x="0" y="0"/>
            <a:chExt cx="22128480" cy="1286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286933"/>
            </a:xfrm>
            <a:custGeom>
              <a:avLst/>
              <a:gdLst/>
              <a:ahLst/>
              <a:cxnLst/>
              <a:rect r="r" b="b" t="t" l="l"/>
              <a:pathLst>
                <a:path h="1286933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286933"/>
                  </a:lnTo>
                  <a:lnTo>
                    <a:pt x="0" y="128693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5303" r="0" b="-28477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22128480" cy="13821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99"/>
                </a:lnSpc>
              </a:pPr>
              <a:r>
                <a:rPr lang="en-US" sz="4999" b="true">
                  <a:solidFill>
                    <a:srgbClr val="0F1B3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What it is built with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9669780"/>
            <a:ext cx="13716000" cy="342900"/>
            <a:chOff x="0" y="0"/>
            <a:chExt cx="18288000" cy="457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288000" cy="457200"/>
            </a:xfrm>
            <a:custGeom>
              <a:avLst/>
              <a:gdLst/>
              <a:ahLst/>
              <a:cxnLst/>
              <a:rect r="r" b="b" t="t" l="l"/>
              <a:pathLst>
                <a:path h="457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9401" r="0" b="-72940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8288000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699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SAMSUNG PRISM GenAI Hackathon  ·  Theme 04 Streaming Live RAG  ·  Team Cracked Code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596360" y="9669780"/>
            <a:ext cx="864108" cy="403669"/>
            <a:chOff x="0" y="0"/>
            <a:chExt cx="1152144" cy="5382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52144" cy="538225"/>
            </a:xfrm>
            <a:custGeom>
              <a:avLst/>
              <a:gdLst/>
              <a:ahLst/>
              <a:cxnLst/>
              <a:rect r="r" b="b" t="t" l="l"/>
              <a:pathLst>
                <a:path h="538225" w="1152144">
                  <a:moveTo>
                    <a:pt x="0" y="0"/>
                  </a:moveTo>
                  <a:lnTo>
                    <a:pt x="1152144" y="0"/>
                  </a:lnTo>
                  <a:lnTo>
                    <a:pt x="1152144" y="538225"/>
                  </a:lnTo>
                  <a:lnTo>
                    <a:pt x="0" y="53822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14" t="0" r="-914" b="1505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152144" cy="5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19"/>
                </a:lnSpc>
              </a:pPr>
              <a:r>
                <a:rPr lang="en-US" sz="2099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12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15816" y="2393156"/>
            <a:ext cx="16651796" cy="1042988"/>
            <a:chOff x="0" y="0"/>
            <a:chExt cx="22202394" cy="13906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202394" cy="1390650"/>
            </a:xfrm>
            <a:custGeom>
              <a:avLst/>
              <a:gdLst/>
              <a:ahLst/>
              <a:cxnLst/>
              <a:rect r="r" b="b" t="t" l="l"/>
              <a:pathLst>
                <a:path h="1390650" w="22202394">
                  <a:moveTo>
                    <a:pt x="0" y="222504"/>
                  </a:moveTo>
                  <a:cubicBezTo>
                    <a:pt x="0" y="99568"/>
                    <a:pt x="99568" y="0"/>
                    <a:pt x="222504" y="0"/>
                  </a:cubicBezTo>
                  <a:lnTo>
                    <a:pt x="21979889" y="0"/>
                  </a:lnTo>
                  <a:cubicBezTo>
                    <a:pt x="22102826" y="0"/>
                    <a:pt x="22202394" y="99568"/>
                    <a:pt x="22202394" y="222504"/>
                  </a:cubicBezTo>
                  <a:lnTo>
                    <a:pt x="22202394" y="1168146"/>
                  </a:lnTo>
                  <a:cubicBezTo>
                    <a:pt x="22202394" y="1291082"/>
                    <a:pt x="22102826" y="1390650"/>
                    <a:pt x="21979889" y="1390650"/>
                  </a:cubicBezTo>
                  <a:lnTo>
                    <a:pt x="222504" y="1390650"/>
                  </a:lnTo>
                  <a:cubicBezTo>
                    <a:pt x="99568" y="1390650"/>
                    <a:pt x="0" y="1291082"/>
                    <a:pt x="0" y="116814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097280" y="2633472"/>
            <a:ext cx="3017520" cy="562356"/>
            <a:chOff x="0" y="0"/>
            <a:chExt cx="4023360" cy="74980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023360" cy="749808"/>
            </a:xfrm>
            <a:custGeom>
              <a:avLst/>
              <a:gdLst/>
              <a:ahLst/>
              <a:cxnLst/>
              <a:rect r="r" b="b" t="t" l="l"/>
              <a:pathLst>
                <a:path h="749808" w="40233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3840480" y="0"/>
                  </a:lnTo>
                  <a:cubicBezTo>
                    <a:pt x="3941445" y="0"/>
                    <a:pt x="4023360" y="81915"/>
                    <a:pt x="4023360" y="182880"/>
                  </a:cubicBezTo>
                  <a:lnTo>
                    <a:pt x="4023360" y="566928"/>
                  </a:lnTo>
                  <a:cubicBezTo>
                    <a:pt x="4023360" y="667893"/>
                    <a:pt x="3941445" y="749808"/>
                    <a:pt x="3840480" y="749808"/>
                  </a:cubicBezTo>
                  <a:lnTo>
                    <a:pt x="182880" y="749808"/>
                  </a:lnTo>
                  <a:cubicBezTo>
                    <a:pt x="81915" y="749808"/>
                    <a:pt x="0" y="667893"/>
                    <a:pt x="0" y="566928"/>
                  </a:cubicBezTo>
                  <a:close/>
                </a:path>
              </a:pathLst>
            </a:custGeom>
            <a:solidFill>
              <a:srgbClr val="1428A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97280" y="2633472"/>
            <a:ext cx="3017520" cy="562356"/>
            <a:chOff x="0" y="0"/>
            <a:chExt cx="4023360" cy="74980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023360" cy="749808"/>
            </a:xfrm>
            <a:custGeom>
              <a:avLst/>
              <a:gdLst/>
              <a:ahLst/>
              <a:cxnLst/>
              <a:rect r="r" b="b" t="t" l="l"/>
              <a:pathLst>
                <a:path h="74980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749808"/>
                  </a:lnTo>
                  <a:lnTo>
                    <a:pt x="0" y="749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553" r="0" b="-5455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4023360" cy="797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59"/>
                </a:lnSpc>
              </a:pPr>
              <a:r>
                <a:rPr lang="en-US" sz="2549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Interface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457700" y="2400300"/>
            <a:ext cx="12755880" cy="1028700"/>
            <a:chOff x="0" y="0"/>
            <a:chExt cx="17007840" cy="1371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007839" cy="1371600"/>
            </a:xfrm>
            <a:custGeom>
              <a:avLst/>
              <a:gdLst/>
              <a:ahLst/>
              <a:cxnLst/>
              <a:rect r="r" b="b" t="t" l="l"/>
              <a:pathLst>
                <a:path h="1371600" w="17007839">
                  <a:moveTo>
                    <a:pt x="0" y="0"/>
                  </a:moveTo>
                  <a:lnTo>
                    <a:pt x="17007839" y="0"/>
                  </a:lnTo>
                  <a:lnTo>
                    <a:pt x="17007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1614" r="0" b="-19161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17007840" cy="1428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19"/>
                </a:lnSpc>
              </a:pPr>
              <a:r>
                <a:rPr lang="en-US" sz="2349">
                  <a:solidFill>
                    <a:srgbClr val="0F1B3D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  Streamlit live demo · manual chunk-by-chunk control · pipeline inspector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15816" y="3586448"/>
            <a:ext cx="16651796" cy="1042988"/>
            <a:chOff x="0" y="0"/>
            <a:chExt cx="22202394" cy="13906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202394" cy="1390650"/>
            </a:xfrm>
            <a:custGeom>
              <a:avLst/>
              <a:gdLst/>
              <a:ahLst/>
              <a:cxnLst/>
              <a:rect r="r" b="b" t="t" l="l"/>
              <a:pathLst>
                <a:path h="1390650" w="22202394">
                  <a:moveTo>
                    <a:pt x="0" y="222504"/>
                  </a:moveTo>
                  <a:cubicBezTo>
                    <a:pt x="0" y="99568"/>
                    <a:pt x="99568" y="0"/>
                    <a:pt x="222504" y="0"/>
                  </a:cubicBezTo>
                  <a:lnTo>
                    <a:pt x="21979889" y="0"/>
                  </a:lnTo>
                  <a:cubicBezTo>
                    <a:pt x="22102826" y="0"/>
                    <a:pt x="22202394" y="99568"/>
                    <a:pt x="22202394" y="222504"/>
                  </a:cubicBezTo>
                  <a:lnTo>
                    <a:pt x="22202394" y="1168146"/>
                  </a:lnTo>
                  <a:cubicBezTo>
                    <a:pt x="22202394" y="1291082"/>
                    <a:pt x="22102826" y="1390650"/>
                    <a:pt x="21979889" y="1390650"/>
                  </a:cubicBezTo>
                  <a:lnTo>
                    <a:pt x="222504" y="1390650"/>
                  </a:lnTo>
                  <a:cubicBezTo>
                    <a:pt x="99568" y="1390650"/>
                    <a:pt x="0" y="1291082"/>
                    <a:pt x="0" y="116814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097280" y="3826764"/>
            <a:ext cx="3017520" cy="562356"/>
            <a:chOff x="0" y="0"/>
            <a:chExt cx="4023360" cy="74980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023360" cy="749808"/>
            </a:xfrm>
            <a:custGeom>
              <a:avLst/>
              <a:gdLst/>
              <a:ahLst/>
              <a:cxnLst/>
              <a:rect r="r" b="b" t="t" l="l"/>
              <a:pathLst>
                <a:path h="749808" w="40233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3840480" y="0"/>
                  </a:lnTo>
                  <a:cubicBezTo>
                    <a:pt x="3941445" y="0"/>
                    <a:pt x="4023360" y="81915"/>
                    <a:pt x="4023360" y="182880"/>
                  </a:cubicBezTo>
                  <a:lnTo>
                    <a:pt x="4023360" y="566928"/>
                  </a:lnTo>
                  <a:cubicBezTo>
                    <a:pt x="4023360" y="667893"/>
                    <a:pt x="3941445" y="749808"/>
                    <a:pt x="3840480" y="749808"/>
                  </a:cubicBezTo>
                  <a:lnTo>
                    <a:pt x="182880" y="749808"/>
                  </a:lnTo>
                  <a:cubicBezTo>
                    <a:pt x="81915" y="749808"/>
                    <a:pt x="0" y="667893"/>
                    <a:pt x="0" y="566928"/>
                  </a:cubicBezTo>
                  <a:close/>
                </a:path>
              </a:pathLst>
            </a:custGeom>
            <a:solidFill>
              <a:srgbClr val="0F766E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97280" y="3826764"/>
            <a:ext cx="3017520" cy="562356"/>
            <a:chOff x="0" y="0"/>
            <a:chExt cx="4023360" cy="74980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023360" cy="749808"/>
            </a:xfrm>
            <a:custGeom>
              <a:avLst/>
              <a:gdLst/>
              <a:ahLst/>
              <a:cxnLst/>
              <a:rect r="r" b="b" t="t" l="l"/>
              <a:pathLst>
                <a:path h="74980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749808"/>
                  </a:lnTo>
                  <a:lnTo>
                    <a:pt x="0" y="749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553" r="0" b="-5455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4023360" cy="797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59"/>
                </a:lnSpc>
              </a:pPr>
              <a:r>
                <a:rPr lang="en-US" sz="2549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Pipeline modules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457700" y="3593592"/>
            <a:ext cx="12755880" cy="1028700"/>
            <a:chOff x="0" y="0"/>
            <a:chExt cx="17007840" cy="13716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7007839" cy="1371600"/>
            </a:xfrm>
            <a:custGeom>
              <a:avLst/>
              <a:gdLst/>
              <a:ahLst/>
              <a:cxnLst/>
              <a:rect r="r" b="b" t="t" l="l"/>
              <a:pathLst>
                <a:path h="1371600" w="17007839">
                  <a:moveTo>
                    <a:pt x="0" y="0"/>
                  </a:moveTo>
                  <a:lnTo>
                    <a:pt x="17007839" y="0"/>
                  </a:lnTo>
                  <a:lnTo>
                    <a:pt x="17007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1614" r="0" b="-191614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17007840" cy="1428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19"/>
                </a:lnSpc>
              </a:pPr>
              <a:r>
                <a:rPr lang="en-US" sz="2349">
                  <a:solidFill>
                    <a:srgbClr val="0F1B3D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Controller · Decomposer · RRF fusion · Reranker · Generator · Grounding verifier · Answer ledger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15816" y="4779740"/>
            <a:ext cx="16651796" cy="1042988"/>
            <a:chOff x="0" y="0"/>
            <a:chExt cx="22202394" cy="13906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2202394" cy="1390650"/>
            </a:xfrm>
            <a:custGeom>
              <a:avLst/>
              <a:gdLst/>
              <a:ahLst/>
              <a:cxnLst/>
              <a:rect r="r" b="b" t="t" l="l"/>
              <a:pathLst>
                <a:path h="1390650" w="22202394">
                  <a:moveTo>
                    <a:pt x="0" y="222504"/>
                  </a:moveTo>
                  <a:cubicBezTo>
                    <a:pt x="0" y="99568"/>
                    <a:pt x="99568" y="0"/>
                    <a:pt x="222504" y="0"/>
                  </a:cubicBezTo>
                  <a:lnTo>
                    <a:pt x="21979889" y="0"/>
                  </a:lnTo>
                  <a:cubicBezTo>
                    <a:pt x="22102826" y="0"/>
                    <a:pt x="22202394" y="99568"/>
                    <a:pt x="22202394" y="222504"/>
                  </a:cubicBezTo>
                  <a:lnTo>
                    <a:pt x="22202394" y="1168146"/>
                  </a:lnTo>
                  <a:cubicBezTo>
                    <a:pt x="22202394" y="1291082"/>
                    <a:pt x="22102826" y="1390650"/>
                    <a:pt x="21979889" y="1390650"/>
                  </a:cubicBezTo>
                  <a:lnTo>
                    <a:pt x="222504" y="1390650"/>
                  </a:lnTo>
                  <a:cubicBezTo>
                    <a:pt x="99568" y="1390650"/>
                    <a:pt x="0" y="1291082"/>
                    <a:pt x="0" y="116814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097280" y="5020056"/>
            <a:ext cx="3017520" cy="562356"/>
            <a:chOff x="0" y="0"/>
            <a:chExt cx="4023360" cy="74980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023360" cy="749808"/>
            </a:xfrm>
            <a:custGeom>
              <a:avLst/>
              <a:gdLst/>
              <a:ahLst/>
              <a:cxnLst/>
              <a:rect r="r" b="b" t="t" l="l"/>
              <a:pathLst>
                <a:path h="749808" w="40233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3840480" y="0"/>
                  </a:lnTo>
                  <a:cubicBezTo>
                    <a:pt x="3941445" y="0"/>
                    <a:pt x="4023360" y="81915"/>
                    <a:pt x="4023360" y="182880"/>
                  </a:cubicBezTo>
                  <a:lnTo>
                    <a:pt x="4023360" y="566928"/>
                  </a:lnTo>
                  <a:cubicBezTo>
                    <a:pt x="4023360" y="667893"/>
                    <a:pt x="3941445" y="749808"/>
                    <a:pt x="3840480" y="749808"/>
                  </a:cubicBezTo>
                  <a:lnTo>
                    <a:pt x="182880" y="749808"/>
                  </a:lnTo>
                  <a:cubicBezTo>
                    <a:pt x="81915" y="749808"/>
                    <a:pt x="0" y="667893"/>
                    <a:pt x="0" y="566928"/>
                  </a:cubicBezTo>
                  <a:close/>
                </a:path>
              </a:pathLst>
            </a:custGeom>
            <a:solidFill>
              <a:srgbClr val="B45309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97280" y="5020056"/>
            <a:ext cx="3017520" cy="562356"/>
            <a:chOff x="0" y="0"/>
            <a:chExt cx="4023360" cy="74980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023360" cy="749808"/>
            </a:xfrm>
            <a:custGeom>
              <a:avLst/>
              <a:gdLst/>
              <a:ahLst/>
              <a:cxnLst/>
              <a:rect r="r" b="b" t="t" l="l"/>
              <a:pathLst>
                <a:path h="74980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749808"/>
                  </a:lnTo>
                  <a:lnTo>
                    <a:pt x="0" y="749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553" r="0" b="-5455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4023360" cy="797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59"/>
                </a:lnSpc>
              </a:pPr>
              <a:r>
                <a:rPr lang="en-US" sz="2549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Retrieval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4457700" y="4786884"/>
            <a:ext cx="12755880" cy="1028700"/>
            <a:chOff x="0" y="0"/>
            <a:chExt cx="17007840" cy="13716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7007839" cy="1371600"/>
            </a:xfrm>
            <a:custGeom>
              <a:avLst/>
              <a:gdLst/>
              <a:ahLst/>
              <a:cxnLst/>
              <a:rect r="r" b="b" t="t" l="l"/>
              <a:pathLst>
                <a:path h="1371600" w="17007839">
                  <a:moveTo>
                    <a:pt x="0" y="0"/>
                  </a:moveTo>
                  <a:lnTo>
                    <a:pt x="17007839" y="0"/>
                  </a:lnTo>
                  <a:lnTo>
                    <a:pt x="17007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1614" r="0" b="-19161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17007840" cy="1428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19"/>
                </a:lnSpc>
              </a:pPr>
              <a:r>
                <a:rPr lang="en-US" sz="2349">
                  <a:solidFill>
                    <a:srgbClr val="0F1B3D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Indexed policy corpus · parallel sub-query retrieval · contradiction screen  [add embedding model / vector store]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15816" y="5973032"/>
            <a:ext cx="16651796" cy="1042988"/>
            <a:chOff x="0" y="0"/>
            <a:chExt cx="22202394" cy="139065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2202394" cy="1390650"/>
            </a:xfrm>
            <a:custGeom>
              <a:avLst/>
              <a:gdLst/>
              <a:ahLst/>
              <a:cxnLst/>
              <a:rect r="r" b="b" t="t" l="l"/>
              <a:pathLst>
                <a:path h="1390650" w="22202394">
                  <a:moveTo>
                    <a:pt x="0" y="222504"/>
                  </a:moveTo>
                  <a:cubicBezTo>
                    <a:pt x="0" y="99568"/>
                    <a:pt x="99568" y="0"/>
                    <a:pt x="222504" y="0"/>
                  </a:cubicBezTo>
                  <a:lnTo>
                    <a:pt x="21979889" y="0"/>
                  </a:lnTo>
                  <a:cubicBezTo>
                    <a:pt x="22102826" y="0"/>
                    <a:pt x="22202394" y="99568"/>
                    <a:pt x="22202394" y="222504"/>
                  </a:cubicBezTo>
                  <a:lnTo>
                    <a:pt x="22202394" y="1168146"/>
                  </a:lnTo>
                  <a:cubicBezTo>
                    <a:pt x="22202394" y="1291082"/>
                    <a:pt x="22102826" y="1390650"/>
                    <a:pt x="21979889" y="1390650"/>
                  </a:cubicBezTo>
                  <a:lnTo>
                    <a:pt x="222504" y="1390650"/>
                  </a:lnTo>
                  <a:cubicBezTo>
                    <a:pt x="99568" y="1390650"/>
                    <a:pt x="0" y="1291082"/>
                    <a:pt x="0" y="116814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097280" y="6213348"/>
            <a:ext cx="3017520" cy="562356"/>
            <a:chOff x="0" y="0"/>
            <a:chExt cx="4023360" cy="74980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023360" cy="749808"/>
            </a:xfrm>
            <a:custGeom>
              <a:avLst/>
              <a:gdLst/>
              <a:ahLst/>
              <a:cxnLst/>
              <a:rect r="r" b="b" t="t" l="l"/>
              <a:pathLst>
                <a:path h="749808" w="40233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3840480" y="0"/>
                  </a:lnTo>
                  <a:cubicBezTo>
                    <a:pt x="3941445" y="0"/>
                    <a:pt x="4023360" y="81915"/>
                    <a:pt x="4023360" y="182880"/>
                  </a:cubicBezTo>
                  <a:lnTo>
                    <a:pt x="4023360" y="566928"/>
                  </a:lnTo>
                  <a:cubicBezTo>
                    <a:pt x="4023360" y="667893"/>
                    <a:pt x="3941445" y="749808"/>
                    <a:pt x="3840480" y="749808"/>
                  </a:cubicBezTo>
                  <a:lnTo>
                    <a:pt x="182880" y="749808"/>
                  </a:lnTo>
                  <a:cubicBezTo>
                    <a:pt x="81915" y="749808"/>
                    <a:pt x="0" y="667893"/>
                    <a:pt x="0" y="566928"/>
                  </a:cubicBezTo>
                  <a:close/>
                </a:path>
              </a:pathLst>
            </a:custGeom>
            <a:solidFill>
              <a:srgbClr val="C2334D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097280" y="6213348"/>
            <a:ext cx="3017520" cy="562356"/>
            <a:chOff x="0" y="0"/>
            <a:chExt cx="4023360" cy="74980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023360" cy="749808"/>
            </a:xfrm>
            <a:custGeom>
              <a:avLst/>
              <a:gdLst/>
              <a:ahLst/>
              <a:cxnLst/>
              <a:rect r="r" b="b" t="t" l="l"/>
              <a:pathLst>
                <a:path h="74980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749808"/>
                  </a:lnTo>
                  <a:lnTo>
                    <a:pt x="0" y="749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553" r="0" b="-54553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4023360" cy="797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59"/>
                </a:lnSpc>
              </a:pPr>
              <a:r>
                <a:rPr lang="en-US" sz="2549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LLM layer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4457700" y="5980176"/>
            <a:ext cx="12755880" cy="1028700"/>
            <a:chOff x="0" y="0"/>
            <a:chExt cx="17007840" cy="13716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7007839" cy="1371600"/>
            </a:xfrm>
            <a:custGeom>
              <a:avLst/>
              <a:gdLst/>
              <a:ahLst/>
              <a:cxnLst/>
              <a:rect r="r" b="b" t="t" l="l"/>
              <a:pathLst>
                <a:path h="1371600" w="17007839">
                  <a:moveTo>
                    <a:pt x="0" y="0"/>
                  </a:moveTo>
                  <a:lnTo>
                    <a:pt x="17007839" y="0"/>
                  </a:lnTo>
                  <a:lnTo>
                    <a:pt x="17007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1614" r="0" b="-191614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57150"/>
              <a:ext cx="17007840" cy="1428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19"/>
                </a:lnSpc>
              </a:pPr>
              <a:r>
                <a:rPr lang="en-US" sz="2349">
                  <a:solidFill>
                    <a:srgbClr val="0F1B3D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OpenAI-compatible client factory · token-counting wrapper · context-budget guard · Groq-hosted API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815816" y="7166324"/>
            <a:ext cx="16651796" cy="1042988"/>
            <a:chOff x="0" y="0"/>
            <a:chExt cx="22202394" cy="139065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2202394" cy="1390650"/>
            </a:xfrm>
            <a:custGeom>
              <a:avLst/>
              <a:gdLst/>
              <a:ahLst/>
              <a:cxnLst/>
              <a:rect r="r" b="b" t="t" l="l"/>
              <a:pathLst>
                <a:path h="1390650" w="22202394">
                  <a:moveTo>
                    <a:pt x="0" y="222504"/>
                  </a:moveTo>
                  <a:cubicBezTo>
                    <a:pt x="0" y="99568"/>
                    <a:pt x="99568" y="0"/>
                    <a:pt x="222504" y="0"/>
                  </a:cubicBezTo>
                  <a:lnTo>
                    <a:pt x="21979889" y="0"/>
                  </a:lnTo>
                  <a:cubicBezTo>
                    <a:pt x="22102826" y="0"/>
                    <a:pt x="22202394" y="99568"/>
                    <a:pt x="22202394" y="222504"/>
                  </a:cubicBezTo>
                  <a:lnTo>
                    <a:pt x="22202394" y="1168146"/>
                  </a:lnTo>
                  <a:cubicBezTo>
                    <a:pt x="22202394" y="1291082"/>
                    <a:pt x="22102826" y="1390650"/>
                    <a:pt x="21979889" y="1390650"/>
                  </a:cubicBezTo>
                  <a:lnTo>
                    <a:pt x="222504" y="1390650"/>
                  </a:lnTo>
                  <a:cubicBezTo>
                    <a:pt x="99568" y="1390650"/>
                    <a:pt x="0" y="1291082"/>
                    <a:pt x="0" y="116814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097280" y="7406640"/>
            <a:ext cx="3017520" cy="562356"/>
            <a:chOff x="0" y="0"/>
            <a:chExt cx="4023360" cy="74980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023360" cy="749808"/>
            </a:xfrm>
            <a:custGeom>
              <a:avLst/>
              <a:gdLst/>
              <a:ahLst/>
              <a:cxnLst/>
              <a:rect r="r" b="b" t="t" l="l"/>
              <a:pathLst>
                <a:path h="749808" w="40233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3840480" y="0"/>
                  </a:lnTo>
                  <a:cubicBezTo>
                    <a:pt x="3941445" y="0"/>
                    <a:pt x="4023360" y="81915"/>
                    <a:pt x="4023360" y="182880"/>
                  </a:cubicBezTo>
                  <a:lnTo>
                    <a:pt x="4023360" y="566928"/>
                  </a:lnTo>
                  <a:cubicBezTo>
                    <a:pt x="4023360" y="667893"/>
                    <a:pt x="3941445" y="749808"/>
                    <a:pt x="3840480" y="749808"/>
                  </a:cubicBezTo>
                  <a:lnTo>
                    <a:pt x="182880" y="749808"/>
                  </a:lnTo>
                  <a:cubicBezTo>
                    <a:pt x="81915" y="749808"/>
                    <a:pt x="0" y="667893"/>
                    <a:pt x="0" y="566928"/>
                  </a:cubicBezTo>
                  <a:close/>
                </a:path>
              </a:pathLst>
            </a:custGeom>
            <a:solidFill>
              <a:srgbClr val="B45309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097280" y="7406640"/>
            <a:ext cx="3017520" cy="562356"/>
            <a:chOff x="0" y="0"/>
            <a:chExt cx="4023360" cy="74980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023360" cy="749808"/>
            </a:xfrm>
            <a:custGeom>
              <a:avLst/>
              <a:gdLst/>
              <a:ahLst/>
              <a:cxnLst/>
              <a:rect r="r" b="b" t="t" l="l"/>
              <a:pathLst>
                <a:path h="74980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749808"/>
                  </a:lnTo>
                  <a:lnTo>
                    <a:pt x="0" y="749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553" r="0" b="-54553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4023360" cy="797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59"/>
                </a:lnSpc>
              </a:pPr>
              <a:r>
                <a:rPr lang="en-US" sz="2549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Observability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4457700" y="7173468"/>
            <a:ext cx="12755880" cy="1028700"/>
            <a:chOff x="0" y="0"/>
            <a:chExt cx="17007840" cy="13716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7007839" cy="1371600"/>
            </a:xfrm>
            <a:custGeom>
              <a:avLst/>
              <a:gdLst/>
              <a:ahLst/>
              <a:cxnLst/>
              <a:rect r="r" b="b" t="t" l="l"/>
              <a:pathLst>
                <a:path h="1371600" w="17007839">
                  <a:moveTo>
                    <a:pt x="0" y="0"/>
                  </a:moveTo>
                  <a:lnTo>
                    <a:pt x="17007839" y="0"/>
                  </a:lnTo>
                  <a:lnTo>
                    <a:pt x="17007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1614" r="0" b="-191614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57150"/>
              <a:ext cx="17007840" cy="1428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19"/>
                </a:lnSpc>
              </a:pPr>
              <a:r>
                <a:rPr lang="en-US" sz="2349">
                  <a:solidFill>
                    <a:srgbClr val="0F1B3D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JSONL event logs: timestamps, retrieval triggers, source maps, version transitions, tokens, cost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815816" y="8359616"/>
            <a:ext cx="16651796" cy="1042988"/>
            <a:chOff x="0" y="0"/>
            <a:chExt cx="22202394" cy="139065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2202394" cy="1390650"/>
            </a:xfrm>
            <a:custGeom>
              <a:avLst/>
              <a:gdLst/>
              <a:ahLst/>
              <a:cxnLst/>
              <a:rect r="r" b="b" t="t" l="l"/>
              <a:pathLst>
                <a:path h="1390650" w="22202394">
                  <a:moveTo>
                    <a:pt x="0" y="222504"/>
                  </a:moveTo>
                  <a:cubicBezTo>
                    <a:pt x="0" y="99568"/>
                    <a:pt x="99568" y="0"/>
                    <a:pt x="222504" y="0"/>
                  </a:cubicBezTo>
                  <a:lnTo>
                    <a:pt x="21979889" y="0"/>
                  </a:lnTo>
                  <a:cubicBezTo>
                    <a:pt x="22102826" y="0"/>
                    <a:pt x="22202394" y="99568"/>
                    <a:pt x="22202394" y="222504"/>
                  </a:cubicBezTo>
                  <a:lnTo>
                    <a:pt x="22202394" y="1168146"/>
                  </a:lnTo>
                  <a:cubicBezTo>
                    <a:pt x="22202394" y="1291082"/>
                    <a:pt x="22102826" y="1390650"/>
                    <a:pt x="21979889" y="1390650"/>
                  </a:cubicBezTo>
                  <a:lnTo>
                    <a:pt x="222504" y="1390650"/>
                  </a:lnTo>
                  <a:cubicBezTo>
                    <a:pt x="99568" y="1390650"/>
                    <a:pt x="0" y="1291082"/>
                    <a:pt x="0" y="116814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097280" y="8599932"/>
            <a:ext cx="3017520" cy="562356"/>
            <a:chOff x="0" y="0"/>
            <a:chExt cx="4023360" cy="74980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023360" cy="749808"/>
            </a:xfrm>
            <a:custGeom>
              <a:avLst/>
              <a:gdLst/>
              <a:ahLst/>
              <a:cxnLst/>
              <a:rect r="r" b="b" t="t" l="l"/>
              <a:pathLst>
                <a:path h="749808" w="40233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3840480" y="0"/>
                  </a:lnTo>
                  <a:cubicBezTo>
                    <a:pt x="3941445" y="0"/>
                    <a:pt x="4023360" y="81915"/>
                    <a:pt x="4023360" y="182880"/>
                  </a:cubicBezTo>
                  <a:lnTo>
                    <a:pt x="4023360" y="566928"/>
                  </a:lnTo>
                  <a:cubicBezTo>
                    <a:pt x="4023360" y="667893"/>
                    <a:pt x="3941445" y="749808"/>
                    <a:pt x="3840480" y="749808"/>
                  </a:cubicBezTo>
                  <a:lnTo>
                    <a:pt x="182880" y="749808"/>
                  </a:lnTo>
                  <a:cubicBezTo>
                    <a:pt x="81915" y="749808"/>
                    <a:pt x="0" y="667893"/>
                    <a:pt x="0" y="566928"/>
                  </a:cubicBezTo>
                  <a:close/>
                </a:path>
              </a:pathLst>
            </a:custGeom>
            <a:solidFill>
              <a:srgbClr val="0F766E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097280" y="8599932"/>
            <a:ext cx="3017520" cy="562356"/>
            <a:chOff x="0" y="0"/>
            <a:chExt cx="4023360" cy="74980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023360" cy="749808"/>
            </a:xfrm>
            <a:custGeom>
              <a:avLst/>
              <a:gdLst/>
              <a:ahLst/>
              <a:cxnLst/>
              <a:rect r="r" b="b" t="t" l="l"/>
              <a:pathLst>
                <a:path h="74980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749808"/>
                  </a:lnTo>
                  <a:lnTo>
                    <a:pt x="0" y="749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553" r="0" b="-54553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4023360" cy="797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59"/>
                </a:lnSpc>
              </a:pPr>
              <a:r>
                <a:rPr lang="en-US" sz="2549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Quality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4457700" y="8366760"/>
            <a:ext cx="12755880" cy="1028700"/>
            <a:chOff x="0" y="0"/>
            <a:chExt cx="17007840" cy="13716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7007839" cy="1371600"/>
            </a:xfrm>
            <a:custGeom>
              <a:avLst/>
              <a:gdLst/>
              <a:ahLst/>
              <a:cxnLst/>
              <a:rect r="r" b="b" t="t" l="l"/>
              <a:pathLst>
                <a:path h="1371600" w="17007839">
                  <a:moveTo>
                    <a:pt x="0" y="0"/>
                  </a:moveTo>
                  <a:lnTo>
                    <a:pt x="17007839" y="0"/>
                  </a:lnTo>
                  <a:lnTo>
                    <a:pt x="17007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1614" r="0" b="-191614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57150"/>
              <a:ext cx="17007840" cy="1428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19"/>
                </a:lnSpc>
              </a:pPr>
              <a:r>
                <a:rPr lang="en-US" sz="2349">
                  <a:solidFill>
                    <a:srgbClr val="0F1B3D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Python 3.11 · pytest, 73 passing · eval.benchmark: 13 scenarios, 15 turns · Docker  [confirm]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48640"/>
            <a:ext cx="12344400" cy="426974"/>
            <a:chOff x="0" y="0"/>
            <a:chExt cx="16459200" cy="5692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569298"/>
            </a:xfrm>
            <a:custGeom>
              <a:avLst/>
              <a:gdLst/>
              <a:ahLst/>
              <a:cxnLst/>
              <a:rect r="r" b="b" t="t" l="l"/>
              <a:pathLst>
                <a:path h="569298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69298"/>
                  </a:lnTo>
                  <a:lnTo>
                    <a:pt x="0" y="56929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5153" r="0" b="-5115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6459200" cy="6169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549">
                  <a:solidFill>
                    <a:srgbClr val="0F766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12 · RESULTS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596360" cy="1011809"/>
            <a:chOff x="0" y="0"/>
            <a:chExt cx="22128480" cy="13490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349078"/>
            </a:xfrm>
            <a:custGeom>
              <a:avLst/>
              <a:gdLst/>
              <a:ahLst/>
              <a:cxnLst/>
              <a:rect r="r" b="b" t="t" l="l"/>
              <a:pathLst>
                <a:path h="1349078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349078"/>
                  </a:lnTo>
                  <a:lnTo>
                    <a:pt x="0" y="134907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2160" r="0" b="-26705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22128480" cy="14538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0F1B3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What we measured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1988820"/>
            <a:ext cx="16596360" cy="548640"/>
            <a:chOff x="0" y="0"/>
            <a:chExt cx="2212848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1284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59"/>
                </a:lnSpc>
              </a:pPr>
              <a:r>
                <a:rPr lang="en-US" sz="2549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13 scenarios / 15 turns, run after the 73-test suite passed (2 tests deselected).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9669780"/>
            <a:ext cx="13716000" cy="342900"/>
            <a:chOff x="0" y="0"/>
            <a:chExt cx="18288000" cy="457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88000" cy="457200"/>
            </a:xfrm>
            <a:custGeom>
              <a:avLst/>
              <a:gdLst/>
              <a:ahLst/>
              <a:cxnLst/>
              <a:rect r="r" b="b" t="t" l="l"/>
              <a:pathLst>
                <a:path h="457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9401" r="0" b="-72940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8288000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699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SAMSUNG PRISM GenAI Hackathon  ·  Theme 04 Streaming Live RAG  ·  Team Cracked Code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596360" y="9669780"/>
            <a:ext cx="864108" cy="366585"/>
            <a:chOff x="0" y="0"/>
            <a:chExt cx="1152144" cy="4887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52144" cy="488780"/>
            </a:xfrm>
            <a:custGeom>
              <a:avLst/>
              <a:gdLst/>
              <a:ahLst/>
              <a:cxnLst/>
              <a:rect r="r" b="b" t="t" l="l"/>
              <a:pathLst>
                <a:path h="488780" w="1152144">
                  <a:moveTo>
                    <a:pt x="0" y="0"/>
                  </a:moveTo>
                  <a:lnTo>
                    <a:pt x="1152144" y="0"/>
                  </a:lnTo>
                  <a:lnTo>
                    <a:pt x="1152144" y="488780"/>
                  </a:lnTo>
                  <a:lnTo>
                    <a:pt x="0" y="4887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14" t="0" r="-914" b="646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152144" cy="526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79"/>
                </a:lnSpc>
              </a:pPr>
              <a:r>
                <a:rPr lang="en-US" sz="1899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13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15816" y="2804636"/>
            <a:ext cx="3991928" cy="1865948"/>
            <a:chOff x="0" y="0"/>
            <a:chExt cx="5322570" cy="248793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322570" cy="2487930"/>
            </a:xfrm>
            <a:custGeom>
              <a:avLst/>
              <a:gdLst/>
              <a:ahLst/>
              <a:cxnLst/>
              <a:rect r="r" b="b" t="t" l="l"/>
              <a:pathLst>
                <a:path h="2487930" w="5322570">
                  <a:moveTo>
                    <a:pt x="0" y="221107"/>
                  </a:moveTo>
                  <a:cubicBezTo>
                    <a:pt x="0" y="99060"/>
                    <a:pt x="99060" y="0"/>
                    <a:pt x="221107" y="0"/>
                  </a:cubicBezTo>
                  <a:lnTo>
                    <a:pt x="5101463" y="0"/>
                  </a:lnTo>
                  <a:cubicBezTo>
                    <a:pt x="5223637" y="0"/>
                    <a:pt x="5322570" y="99060"/>
                    <a:pt x="5322570" y="221107"/>
                  </a:cubicBezTo>
                  <a:lnTo>
                    <a:pt x="5322570" y="2266823"/>
                  </a:lnTo>
                  <a:cubicBezTo>
                    <a:pt x="5322570" y="2388997"/>
                    <a:pt x="5223510" y="2487930"/>
                    <a:pt x="5101463" y="2487930"/>
                  </a:cubicBezTo>
                  <a:lnTo>
                    <a:pt x="221107" y="2487930"/>
                  </a:lnTo>
                  <a:cubicBezTo>
                    <a:pt x="99060" y="2487930"/>
                    <a:pt x="0" y="2388870"/>
                    <a:pt x="0" y="2266823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028700" y="2871597"/>
            <a:ext cx="356616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5199" b="true">
                <a:solidFill>
                  <a:srgbClr val="0F766E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73 / 73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3751707"/>
            <a:ext cx="356616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2374" b="true">
                <a:solidFill>
                  <a:srgbClr val="0F1B3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Automated tests passed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4145280"/>
            <a:ext cx="356616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9"/>
              </a:lnSpc>
            </a:pPr>
            <a:r>
              <a:rPr lang="en-US" sz="1974">
                <a:solidFill>
                  <a:srgbClr val="55627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2 deselected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5067776" y="2804636"/>
            <a:ext cx="3991928" cy="1865948"/>
            <a:chOff x="0" y="0"/>
            <a:chExt cx="5322570" cy="248793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22570" cy="2487930"/>
            </a:xfrm>
            <a:custGeom>
              <a:avLst/>
              <a:gdLst/>
              <a:ahLst/>
              <a:cxnLst/>
              <a:rect r="r" b="b" t="t" l="l"/>
              <a:pathLst>
                <a:path h="2487930" w="5322570">
                  <a:moveTo>
                    <a:pt x="0" y="221107"/>
                  </a:moveTo>
                  <a:cubicBezTo>
                    <a:pt x="0" y="99060"/>
                    <a:pt x="99060" y="0"/>
                    <a:pt x="221107" y="0"/>
                  </a:cubicBezTo>
                  <a:lnTo>
                    <a:pt x="5101463" y="0"/>
                  </a:lnTo>
                  <a:cubicBezTo>
                    <a:pt x="5223637" y="0"/>
                    <a:pt x="5322570" y="99060"/>
                    <a:pt x="5322570" y="221107"/>
                  </a:cubicBezTo>
                  <a:lnTo>
                    <a:pt x="5322570" y="2266823"/>
                  </a:lnTo>
                  <a:cubicBezTo>
                    <a:pt x="5322570" y="2388997"/>
                    <a:pt x="5223510" y="2487930"/>
                    <a:pt x="5101463" y="2487930"/>
                  </a:cubicBezTo>
                  <a:lnTo>
                    <a:pt x="221107" y="2487930"/>
                  </a:lnTo>
                  <a:cubicBezTo>
                    <a:pt x="99060" y="2487930"/>
                    <a:pt x="0" y="2388870"/>
                    <a:pt x="0" y="2266823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5280660" y="2871597"/>
            <a:ext cx="356616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5199" b="true">
                <a:solidFill>
                  <a:srgbClr val="0F766E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100%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280660" y="3751707"/>
            <a:ext cx="356616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2274" b="true">
                <a:solidFill>
                  <a:srgbClr val="0F1B3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Raw Recall@10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280660" y="4145280"/>
            <a:ext cx="356616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9"/>
              </a:lnSpc>
            </a:pPr>
            <a:r>
              <a:rPr lang="en-US" sz="1974">
                <a:solidFill>
                  <a:srgbClr val="55627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answerable turns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319736" y="2804636"/>
            <a:ext cx="3991928" cy="1865948"/>
            <a:chOff x="0" y="0"/>
            <a:chExt cx="5322570" cy="248793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322570" cy="2487930"/>
            </a:xfrm>
            <a:custGeom>
              <a:avLst/>
              <a:gdLst/>
              <a:ahLst/>
              <a:cxnLst/>
              <a:rect r="r" b="b" t="t" l="l"/>
              <a:pathLst>
                <a:path h="2487930" w="5322570">
                  <a:moveTo>
                    <a:pt x="0" y="221107"/>
                  </a:moveTo>
                  <a:cubicBezTo>
                    <a:pt x="0" y="99060"/>
                    <a:pt x="99060" y="0"/>
                    <a:pt x="221107" y="0"/>
                  </a:cubicBezTo>
                  <a:lnTo>
                    <a:pt x="5101463" y="0"/>
                  </a:lnTo>
                  <a:cubicBezTo>
                    <a:pt x="5223637" y="0"/>
                    <a:pt x="5322570" y="99060"/>
                    <a:pt x="5322570" y="221107"/>
                  </a:cubicBezTo>
                  <a:lnTo>
                    <a:pt x="5322570" y="2266823"/>
                  </a:lnTo>
                  <a:cubicBezTo>
                    <a:pt x="5322570" y="2388997"/>
                    <a:pt x="5223510" y="2487930"/>
                    <a:pt x="5101463" y="2487930"/>
                  </a:cubicBezTo>
                  <a:lnTo>
                    <a:pt x="221107" y="2487930"/>
                  </a:lnTo>
                  <a:cubicBezTo>
                    <a:pt x="99060" y="2487930"/>
                    <a:pt x="0" y="2388870"/>
                    <a:pt x="0" y="2266823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9532620" y="2871597"/>
            <a:ext cx="356616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5199" b="true">
                <a:solidFill>
                  <a:srgbClr val="1428A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100%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532620" y="3751707"/>
            <a:ext cx="356616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2274" b="true">
                <a:solidFill>
                  <a:srgbClr val="0F1B3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Controller accuracy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532620" y="4145280"/>
            <a:ext cx="356616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9"/>
              </a:lnSpc>
            </a:pPr>
            <a:r>
              <a:rPr lang="en-US" sz="1974">
                <a:solidFill>
                  <a:srgbClr val="55627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all evaluated turns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3571696" y="2804636"/>
            <a:ext cx="3895916" cy="1865948"/>
            <a:chOff x="0" y="0"/>
            <a:chExt cx="5194554" cy="248793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94554" cy="2487930"/>
            </a:xfrm>
            <a:custGeom>
              <a:avLst/>
              <a:gdLst/>
              <a:ahLst/>
              <a:cxnLst/>
              <a:rect r="r" b="b" t="t" l="l"/>
              <a:pathLst>
                <a:path h="2487930" w="5194554">
                  <a:moveTo>
                    <a:pt x="0" y="221107"/>
                  </a:moveTo>
                  <a:cubicBezTo>
                    <a:pt x="0" y="99060"/>
                    <a:pt x="99060" y="0"/>
                    <a:pt x="221107" y="0"/>
                  </a:cubicBezTo>
                  <a:lnTo>
                    <a:pt x="4973447" y="0"/>
                  </a:lnTo>
                  <a:cubicBezTo>
                    <a:pt x="5095621" y="0"/>
                    <a:pt x="5194554" y="99060"/>
                    <a:pt x="5194554" y="221107"/>
                  </a:cubicBezTo>
                  <a:lnTo>
                    <a:pt x="5194554" y="2266823"/>
                  </a:lnTo>
                  <a:cubicBezTo>
                    <a:pt x="5194554" y="2388997"/>
                    <a:pt x="5095494" y="2487930"/>
                    <a:pt x="4973447" y="2487930"/>
                  </a:cubicBezTo>
                  <a:lnTo>
                    <a:pt x="221107" y="2487930"/>
                  </a:lnTo>
                  <a:cubicBezTo>
                    <a:pt x="99060" y="2487930"/>
                    <a:pt x="0" y="2388870"/>
                    <a:pt x="0" y="2266823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13784580" y="2871597"/>
            <a:ext cx="3470148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5199" b="true">
                <a:solidFill>
                  <a:srgbClr val="B45309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0%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784580" y="3751707"/>
            <a:ext cx="3470148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2274" b="true">
                <a:solidFill>
                  <a:srgbClr val="0F1B3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Fabricated citations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784580" y="4145280"/>
            <a:ext cx="3470148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9"/>
              </a:lnSpc>
            </a:pPr>
            <a:r>
              <a:rPr lang="en-US" sz="1974">
                <a:solidFill>
                  <a:srgbClr val="55627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100% citation validity</a:t>
            </a:r>
          </a:p>
        </p:txBody>
      </p:sp>
      <p:pic>
        <p:nvPicPr>
          <p:cNvPr name="Picture 37" id="3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98099" y="4037524"/>
            <a:ext cx="11484055" cy="6197719"/>
          </a:xfrm>
          <a:prstGeom prst="rect">
            <a:avLst/>
          </a:prstGeom>
        </p:spPr>
      </p:pic>
      <p:grpSp>
        <p:nvGrpSpPr>
          <p:cNvPr name="Group 38" id="38"/>
          <p:cNvGrpSpPr/>
          <p:nvPr/>
        </p:nvGrpSpPr>
        <p:grpSpPr>
          <a:xfrm rot="0">
            <a:off x="11034236" y="4930616"/>
            <a:ext cx="6433375" cy="4471988"/>
            <a:chOff x="0" y="0"/>
            <a:chExt cx="8577834" cy="59626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577835" cy="5962650"/>
            </a:xfrm>
            <a:custGeom>
              <a:avLst/>
              <a:gdLst/>
              <a:ahLst/>
              <a:cxnLst/>
              <a:rect r="r" b="b" t="t" l="l"/>
              <a:pathLst>
                <a:path h="5962650" w="8577835">
                  <a:moveTo>
                    <a:pt x="0" y="220091"/>
                  </a:moveTo>
                  <a:cubicBezTo>
                    <a:pt x="0" y="98552"/>
                    <a:pt x="98552" y="0"/>
                    <a:pt x="220091" y="0"/>
                  </a:cubicBezTo>
                  <a:lnTo>
                    <a:pt x="8357743" y="0"/>
                  </a:lnTo>
                  <a:cubicBezTo>
                    <a:pt x="8479282" y="0"/>
                    <a:pt x="8577835" y="98552"/>
                    <a:pt x="8577835" y="220091"/>
                  </a:cubicBezTo>
                  <a:lnTo>
                    <a:pt x="8577835" y="5742559"/>
                  </a:lnTo>
                  <a:cubicBezTo>
                    <a:pt x="8577835" y="5864098"/>
                    <a:pt x="8479282" y="5962650"/>
                    <a:pt x="8357743" y="5962650"/>
                  </a:cubicBezTo>
                  <a:lnTo>
                    <a:pt x="220091" y="5962650"/>
                  </a:lnTo>
                  <a:cubicBezTo>
                    <a:pt x="98552" y="5962650"/>
                    <a:pt x="0" y="5864098"/>
                    <a:pt x="0" y="5742559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11384280" y="5095875"/>
            <a:ext cx="576072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0F1B3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Latency breakdown (mean)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1384280" y="5760720"/>
            <a:ext cx="3154680" cy="548640"/>
            <a:chOff x="0" y="0"/>
            <a:chExt cx="420624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206240" cy="731520"/>
            </a:xfrm>
            <a:custGeom>
              <a:avLst/>
              <a:gdLst/>
              <a:ahLst/>
              <a:cxnLst/>
              <a:rect r="r" b="b" t="t" l="l"/>
              <a:pathLst>
                <a:path h="73152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038" r="0" b="-6203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42062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29"/>
                </a:lnSpc>
              </a:pPr>
              <a:r>
                <a:rPr lang="en-US" sz="2274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Retrieval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4538960" y="5760720"/>
            <a:ext cx="2606040" cy="548640"/>
            <a:chOff x="0" y="0"/>
            <a:chExt cx="347472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474720" cy="731520"/>
            </a:xfrm>
            <a:custGeom>
              <a:avLst/>
              <a:gdLst/>
              <a:ahLst/>
              <a:cxnLst/>
              <a:rect r="r" b="b" t="t" l="l"/>
              <a:pathLst>
                <a:path h="73152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34747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179"/>
                </a:lnSpc>
              </a:pPr>
              <a:r>
                <a:rPr lang="en-US" sz="2649" b="true">
                  <a:solidFill>
                    <a:srgbClr val="0F766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9 ms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384280" y="6446520"/>
            <a:ext cx="3154680" cy="548640"/>
            <a:chOff x="0" y="0"/>
            <a:chExt cx="4206240" cy="7315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206240" cy="731520"/>
            </a:xfrm>
            <a:custGeom>
              <a:avLst/>
              <a:gdLst/>
              <a:ahLst/>
              <a:cxnLst/>
              <a:rect r="r" b="b" t="t" l="l"/>
              <a:pathLst>
                <a:path h="73152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038" r="0" b="-6203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42062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29"/>
                </a:lnSpc>
              </a:pPr>
              <a:r>
                <a:rPr lang="en-US" sz="2274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Generator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4538960" y="6446520"/>
            <a:ext cx="2606040" cy="548640"/>
            <a:chOff x="0" y="0"/>
            <a:chExt cx="347472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474720" cy="731520"/>
            </a:xfrm>
            <a:custGeom>
              <a:avLst/>
              <a:gdLst/>
              <a:ahLst/>
              <a:cxnLst/>
              <a:rect r="r" b="b" t="t" l="l"/>
              <a:pathLst>
                <a:path h="73152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34747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179"/>
                </a:lnSpc>
              </a:pPr>
              <a:r>
                <a:rPr lang="en-US" sz="2649" b="true">
                  <a:solidFill>
                    <a:srgbClr val="B45309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3.09 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384280" y="7132320"/>
            <a:ext cx="3154680" cy="548640"/>
            <a:chOff x="0" y="0"/>
            <a:chExt cx="4206240" cy="731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206240" cy="731520"/>
            </a:xfrm>
            <a:custGeom>
              <a:avLst/>
              <a:gdLst/>
              <a:ahLst/>
              <a:cxnLst/>
              <a:rect r="r" b="b" t="t" l="l"/>
              <a:pathLst>
                <a:path h="73152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038" r="0" b="-6203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42062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29"/>
                </a:lnSpc>
              </a:pPr>
              <a:r>
                <a:rPr lang="en-US" sz="2274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Verifier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4538960" y="7132320"/>
            <a:ext cx="2606040" cy="548640"/>
            <a:chOff x="0" y="0"/>
            <a:chExt cx="3474720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474720" cy="731520"/>
            </a:xfrm>
            <a:custGeom>
              <a:avLst/>
              <a:gdLst/>
              <a:ahLst/>
              <a:cxnLst/>
              <a:rect r="r" b="b" t="t" l="l"/>
              <a:pathLst>
                <a:path h="73152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57150"/>
              <a:ext cx="34747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179"/>
                </a:lnSpc>
              </a:pPr>
              <a:r>
                <a:rPr lang="en-US" sz="2649" b="true">
                  <a:solidFill>
                    <a:srgbClr val="C2334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9.40 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1384280" y="7818120"/>
            <a:ext cx="3154680" cy="548640"/>
            <a:chOff x="0" y="0"/>
            <a:chExt cx="4206240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206240" cy="731520"/>
            </a:xfrm>
            <a:custGeom>
              <a:avLst/>
              <a:gdLst/>
              <a:ahLst/>
              <a:cxnLst/>
              <a:rect r="r" b="b" t="t" l="l"/>
              <a:pathLst>
                <a:path h="73152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038" r="0" b="-62038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42062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29"/>
                </a:lnSpc>
              </a:pPr>
              <a:r>
                <a:rPr lang="en-US" sz="2274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Response proxy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4538960" y="7818120"/>
            <a:ext cx="2606040" cy="548640"/>
            <a:chOff x="0" y="0"/>
            <a:chExt cx="3474720" cy="7315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474720" cy="731520"/>
            </a:xfrm>
            <a:custGeom>
              <a:avLst/>
              <a:gdLst/>
              <a:ahLst/>
              <a:cxnLst/>
              <a:rect r="r" b="b" t="t" l="l"/>
              <a:pathLst>
                <a:path h="73152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57150"/>
              <a:ext cx="34747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179"/>
                </a:lnSpc>
              </a:pPr>
              <a:r>
                <a:rPr lang="en-US" sz="2649" b="true">
                  <a:solidFill>
                    <a:srgbClr val="1428A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3.10 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1384280" y="8503920"/>
            <a:ext cx="3154680" cy="548640"/>
            <a:chOff x="0" y="0"/>
            <a:chExt cx="4206240" cy="7315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206240" cy="731520"/>
            </a:xfrm>
            <a:custGeom>
              <a:avLst/>
              <a:gdLst/>
              <a:ahLst/>
              <a:cxnLst/>
              <a:rect r="r" b="b" t="t" l="l"/>
              <a:pathLst>
                <a:path h="73152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038" r="0" b="-62038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42062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29"/>
                </a:lnSpc>
              </a:pPr>
              <a:r>
                <a:rPr lang="en-US" sz="2274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Cost / 15 turns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4538960" y="8503920"/>
            <a:ext cx="2606040" cy="548640"/>
            <a:chOff x="0" y="0"/>
            <a:chExt cx="3474720" cy="7315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474720" cy="731520"/>
            </a:xfrm>
            <a:custGeom>
              <a:avLst/>
              <a:gdLst/>
              <a:ahLst/>
              <a:cxnLst/>
              <a:rect r="r" b="b" t="t" l="l"/>
              <a:pathLst>
                <a:path h="73152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57150"/>
              <a:ext cx="34747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179"/>
                </a:lnSpc>
              </a:pPr>
              <a:r>
                <a:rPr lang="en-US" sz="2649" b="true">
                  <a:solidFill>
                    <a:srgbClr val="55627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$0.0848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48640"/>
            <a:ext cx="12344400" cy="426974"/>
            <a:chOff x="0" y="0"/>
            <a:chExt cx="16459200" cy="5692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569298"/>
            </a:xfrm>
            <a:custGeom>
              <a:avLst/>
              <a:gdLst/>
              <a:ahLst/>
              <a:cxnLst/>
              <a:rect r="r" b="b" t="t" l="l"/>
              <a:pathLst>
                <a:path h="569298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69298"/>
                  </a:lnTo>
                  <a:lnTo>
                    <a:pt x="0" y="56929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5153" r="0" b="-5115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6459200" cy="6169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549">
                  <a:solidFill>
                    <a:srgbClr val="0F766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13 · CATEGORY BREAKDOWN &amp; HONEST LIMITATIONS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596360" cy="965200"/>
            <a:chOff x="0" y="0"/>
            <a:chExt cx="22128480" cy="1286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286933"/>
            </a:xfrm>
            <a:custGeom>
              <a:avLst/>
              <a:gdLst/>
              <a:ahLst/>
              <a:cxnLst/>
              <a:rect r="r" b="b" t="t" l="l"/>
              <a:pathLst>
                <a:path h="1286933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286933"/>
                  </a:lnTo>
                  <a:lnTo>
                    <a:pt x="0" y="128693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5303" r="0" b="-28477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22128480" cy="13821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99"/>
                </a:lnSpc>
              </a:pPr>
              <a:r>
                <a:rPr lang="en-US" sz="4999" b="true">
                  <a:solidFill>
                    <a:srgbClr val="0F1B3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Where we are strong, and where we are improving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9669780"/>
            <a:ext cx="13716000" cy="342900"/>
            <a:chOff x="0" y="0"/>
            <a:chExt cx="18288000" cy="457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288000" cy="457200"/>
            </a:xfrm>
            <a:custGeom>
              <a:avLst/>
              <a:gdLst/>
              <a:ahLst/>
              <a:cxnLst/>
              <a:rect r="r" b="b" t="t" l="l"/>
              <a:pathLst>
                <a:path h="457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9401" r="0" b="-72940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8288000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699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SAMSUNG PRISM GenAI Hackathon  ·  Theme 04 Streaming Live RAG  ·  Team Cracked Code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596360" y="9669780"/>
            <a:ext cx="864108" cy="380364"/>
            <a:chOff x="0" y="0"/>
            <a:chExt cx="1152144" cy="50715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52144" cy="507153"/>
            </a:xfrm>
            <a:custGeom>
              <a:avLst/>
              <a:gdLst/>
              <a:ahLst/>
              <a:cxnLst/>
              <a:rect r="r" b="b" t="t" l="l"/>
              <a:pathLst>
                <a:path h="507153" w="1152144">
                  <a:moveTo>
                    <a:pt x="0" y="0"/>
                  </a:moveTo>
                  <a:lnTo>
                    <a:pt x="1152144" y="0"/>
                  </a:lnTo>
                  <a:lnTo>
                    <a:pt x="1152144" y="507153"/>
                  </a:lnTo>
                  <a:lnTo>
                    <a:pt x="0" y="50715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14" t="0" r="-914" b="984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152144" cy="5452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399"/>
                </a:lnSpc>
              </a:pPr>
              <a:r>
                <a:rPr lang="en-US" sz="1999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14</a:t>
              </a:r>
            </a:p>
          </p:txBody>
        </p:sp>
      </p:grp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822960" y="2331720"/>
          <a:ext cx="8991600" cy="4114800"/>
        </p:xfrm>
        <a:graphic>
          <a:graphicData uri="http://schemas.openxmlformats.org/drawingml/2006/table">
            <a:tbl>
              <a:tblPr/>
              <a:tblGrid>
                <a:gridCol w="2576214"/>
                <a:gridCol w="1235018"/>
                <a:gridCol w="1771496"/>
                <a:gridCol w="1771496"/>
                <a:gridCol w="1637377"/>
              </a:tblGrid>
              <a:tr h="685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5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FFFFFF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Category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5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FFFFFF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Turns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5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FFFFFF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Controller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5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FFFFFF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Fused R@10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5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FFFFFF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Grounded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5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F1B3D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single_intent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59"/>
                        </a:lnSpc>
                        <a:defRPr/>
                      </a:pPr>
                      <a:r>
                        <a:rPr lang="en-US" sz="2299">
                          <a:solidFill>
                            <a:srgbClr val="55627F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6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59"/>
                        </a:lnSpc>
                        <a:defRPr/>
                      </a:pPr>
                      <a:r>
                        <a:rPr lang="en-US" sz="2299">
                          <a:solidFill>
                            <a:srgbClr val="55627F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100%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59"/>
                        </a:lnSpc>
                        <a:defRPr/>
                      </a:pPr>
                      <a:r>
                        <a:rPr lang="en-US" sz="2299">
                          <a:solidFill>
                            <a:srgbClr val="55627F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100%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59"/>
                        </a:lnSpc>
                        <a:defRPr/>
                      </a:pPr>
                      <a:r>
                        <a:rPr lang="en-US" sz="2299">
                          <a:solidFill>
                            <a:srgbClr val="55627F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58.3%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5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F1B3D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multi_intent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59"/>
                        </a:lnSpc>
                        <a:defRPr/>
                      </a:pPr>
                      <a:r>
                        <a:rPr lang="en-US" sz="2299">
                          <a:solidFill>
                            <a:srgbClr val="55627F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59"/>
                        </a:lnSpc>
                        <a:defRPr/>
                      </a:pPr>
                      <a:r>
                        <a:rPr lang="en-US" sz="2299">
                          <a:solidFill>
                            <a:srgbClr val="55627F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100%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59"/>
                        </a:lnSpc>
                        <a:defRPr/>
                      </a:pPr>
                      <a:r>
                        <a:rPr lang="en-US" sz="2299">
                          <a:solidFill>
                            <a:srgbClr val="55627F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100%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59"/>
                        </a:lnSpc>
                        <a:defRPr/>
                      </a:pPr>
                      <a:r>
                        <a:rPr lang="en-US" sz="2299">
                          <a:solidFill>
                            <a:srgbClr val="55627F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100%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5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F1B3D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refinement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59"/>
                        </a:lnSpc>
                        <a:defRPr/>
                      </a:pPr>
                      <a:r>
                        <a:rPr lang="en-US" sz="2299">
                          <a:solidFill>
                            <a:srgbClr val="55627F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59"/>
                        </a:lnSpc>
                        <a:defRPr/>
                      </a:pPr>
                      <a:r>
                        <a:rPr lang="en-US" sz="2299">
                          <a:solidFill>
                            <a:srgbClr val="55627F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100%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59"/>
                        </a:lnSpc>
                        <a:defRPr/>
                      </a:pPr>
                      <a:r>
                        <a:rPr lang="en-US" sz="2299">
                          <a:solidFill>
                            <a:srgbClr val="55627F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100%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59"/>
                        </a:lnSpc>
                        <a:defRPr/>
                      </a:pPr>
                      <a:r>
                        <a:rPr lang="en-US" sz="2299">
                          <a:solidFill>
                            <a:srgbClr val="55627F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0.0%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5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F1B3D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unanswerable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59"/>
                        </a:lnSpc>
                        <a:defRPr/>
                      </a:pPr>
                      <a:r>
                        <a:rPr lang="en-US" sz="2299">
                          <a:solidFill>
                            <a:srgbClr val="55627F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59"/>
                        </a:lnSpc>
                        <a:defRPr/>
                      </a:pPr>
                      <a:r>
                        <a:rPr lang="en-US" sz="2299">
                          <a:solidFill>
                            <a:srgbClr val="55627F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100%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59"/>
                        </a:lnSpc>
                        <a:defRPr/>
                      </a:pPr>
                      <a:r>
                        <a:rPr lang="en-US" sz="2299">
                          <a:solidFill>
                            <a:srgbClr val="55627F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N/A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59"/>
                        </a:lnSpc>
                        <a:defRPr/>
                      </a:pPr>
                      <a:r>
                        <a:rPr lang="en-US" sz="2299">
                          <a:solidFill>
                            <a:srgbClr val="55627F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50.0%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5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F1B3D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contradiction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59"/>
                        </a:lnSpc>
                        <a:defRPr/>
                      </a:pPr>
                      <a:r>
                        <a:rPr lang="en-US" sz="2299">
                          <a:solidFill>
                            <a:srgbClr val="55627F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59"/>
                        </a:lnSpc>
                        <a:defRPr/>
                      </a:pPr>
                      <a:r>
                        <a:rPr lang="en-US" sz="2299">
                          <a:solidFill>
                            <a:srgbClr val="55627F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100%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59"/>
                        </a:lnSpc>
                        <a:defRPr/>
                      </a:pPr>
                      <a:r>
                        <a:rPr lang="en-US" sz="2299">
                          <a:solidFill>
                            <a:srgbClr val="55627F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100%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59"/>
                        </a:lnSpc>
                        <a:defRPr/>
                      </a:pPr>
                      <a:r>
                        <a:rPr lang="en-US" sz="2299">
                          <a:solidFill>
                            <a:srgbClr val="55627F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100%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5" id="15"/>
          <p:cNvGrpSpPr/>
          <p:nvPr/>
        </p:nvGrpSpPr>
        <p:grpSpPr>
          <a:xfrm rot="0">
            <a:off x="815816" y="6850856"/>
            <a:ext cx="4403408" cy="1865948"/>
            <a:chOff x="0" y="0"/>
            <a:chExt cx="5871210" cy="248793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871210" cy="2487930"/>
            </a:xfrm>
            <a:custGeom>
              <a:avLst/>
              <a:gdLst/>
              <a:ahLst/>
              <a:cxnLst/>
              <a:rect r="r" b="b" t="t" l="l"/>
              <a:pathLst>
                <a:path h="2487930" w="5871210">
                  <a:moveTo>
                    <a:pt x="0" y="221107"/>
                  </a:moveTo>
                  <a:cubicBezTo>
                    <a:pt x="0" y="99060"/>
                    <a:pt x="99060" y="0"/>
                    <a:pt x="221107" y="0"/>
                  </a:cubicBezTo>
                  <a:lnTo>
                    <a:pt x="5650103" y="0"/>
                  </a:lnTo>
                  <a:cubicBezTo>
                    <a:pt x="5772277" y="0"/>
                    <a:pt x="5871210" y="99060"/>
                    <a:pt x="5871210" y="221107"/>
                  </a:cubicBezTo>
                  <a:lnTo>
                    <a:pt x="5871210" y="2266823"/>
                  </a:lnTo>
                  <a:cubicBezTo>
                    <a:pt x="5871210" y="2388997"/>
                    <a:pt x="5772150" y="2487930"/>
                    <a:pt x="5650103" y="2487930"/>
                  </a:cubicBezTo>
                  <a:lnTo>
                    <a:pt x="221107" y="2487930"/>
                  </a:lnTo>
                  <a:cubicBezTo>
                    <a:pt x="99060" y="2487930"/>
                    <a:pt x="0" y="2388870"/>
                    <a:pt x="0" y="2266823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028700" y="6908292"/>
            <a:ext cx="397764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59"/>
              </a:lnSpc>
            </a:pPr>
            <a:r>
              <a:rPr lang="en-US" sz="5299" b="true">
                <a:solidFill>
                  <a:srgbClr val="C2334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50%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7797927"/>
            <a:ext cx="397764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9"/>
              </a:lnSpc>
            </a:pPr>
            <a:r>
              <a:rPr lang="en-US" sz="2574" b="true">
                <a:solidFill>
                  <a:srgbClr val="0F1B3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Citation groundedness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8181975"/>
            <a:ext cx="39776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9"/>
              </a:lnSpc>
            </a:pPr>
            <a:r>
              <a:rPr lang="en-US" sz="2074">
                <a:solidFill>
                  <a:srgbClr val="55627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overall; gate is 85%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5479256" y="6850856"/>
            <a:ext cx="4403408" cy="1865948"/>
            <a:chOff x="0" y="0"/>
            <a:chExt cx="5871210" cy="248793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871210" cy="2487930"/>
            </a:xfrm>
            <a:custGeom>
              <a:avLst/>
              <a:gdLst/>
              <a:ahLst/>
              <a:cxnLst/>
              <a:rect r="r" b="b" t="t" l="l"/>
              <a:pathLst>
                <a:path h="2487930" w="5871210">
                  <a:moveTo>
                    <a:pt x="0" y="221107"/>
                  </a:moveTo>
                  <a:cubicBezTo>
                    <a:pt x="0" y="99060"/>
                    <a:pt x="99060" y="0"/>
                    <a:pt x="221107" y="0"/>
                  </a:cubicBezTo>
                  <a:lnTo>
                    <a:pt x="5650103" y="0"/>
                  </a:lnTo>
                  <a:cubicBezTo>
                    <a:pt x="5772277" y="0"/>
                    <a:pt x="5871210" y="99060"/>
                    <a:pt x="5871210" y="221107"/>
                  </a:cubicBezTo>
                  <a:lnTo>
                    <a:pt x="5871210" y="2266823"/>
                  </a:lnTo>
                  <a:cubicBezTo>
                    <a:pt x="5871210" y="2388997"/>
                    <a:pt x="5772150" y="2487930"/>
                    <a:pt x="5650103" y="2487930"/>
                  </a:cubicBezTo>
                  <a:lnTo>
                    <a:pt x="221107" y="2487930"/>
                  </a:lnTo>
                  <a:cubicBezTo>
                    <a:pt x="99060" y="2487930"/>
                    <a:pt x="0" y="2388870"/>
                    <a:pt x="0" y="2266823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5692140" y="6908292"/>
            <a:ext cx="397764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59"/>
              </a:lnSpc>
            </a:pPr>
            <a:r>
              <a:rPr lang="en-US" sz="5299" b="true">
                <a:solidFill>
                  <a:srgbClr val="C2334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0%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692140" y="7788402"/>
            <a:ext cx="397764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9"/>
              </a:lnSpc>
            </a:pPr>
            <a:r>
              <a:rPr lang="en-US" sz="2674" b="true">
                <a:solidFill>
                  <a:srgbClr val="0F1B3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Refinement grounded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692140" y="8181975"/>
            <a:ext cx="39776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9"/>
              </a:lnSpc>
            </a:pPr>
            <a:r>
              <a:rPr lang="en-US" sz="2074">
                <a:solidFill>
                  <a:srgbClr val="55627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top fix priority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279856" y="2324576"/>
            <a:ext cx="7187756" cy="7078028"/>
            <a:chOff x="0" y="0"/>
            <a:chExt cx="9583674" cy="943737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583674" cy="9437370"/>
            </a:xfrm>
            <a:custGeom>
              <a:avLst/>
              <a:gdLst/>
              <a:ahLst/>
              <a:cxnLst/>
              <a:rect r="r" b="b" t="t" l="l"/>
              <a:pathLst>
                <a:path h="9437370" w="9583674">
                  <a:moveTo>
                    <a:pt x="0" y="219837"/>
                  </a:moveTo>
                  <a:cubicBezTo>
                    <a:pt x="0" y="98425"/>
                    <a:pt x="98425" y="0"/>
                    <a:pt x="219837" y="0"/>
                  </a:cubicBezTo>
                  <a:lnTo>
                    <a:pt x="9363837" y="0"/>
                  </a:lnTo>
                  <a:cubicBezTo>
                    <a:pt x="9485249" y="0"/>
                    <a:pt x="9583674" y="98425"/>
                    <a:pt x="9583674" y="219837"/>
                  </a:cubicBezTo>
                  <a:lnTo>
                    <a:pt x="9583674" y="9217533"/>
                  </a:lnTo>
                  <a:cubicBezTo>
                    <a:pt x="9583674" y="9338945"/>
                    <a:pt x="9485249" y="9437370"/>
                    <a:pt x="9363837" y="9437370"/>
                  </a:cubicBezTo>
                  <a:lnTo>
                    <a:pt x="219837" y="9437370"/>
                  </a:lnTo>
                  <a:cubicBezTo>
                    <a:pt x="98425" y="9437370"/>
                    <a:pt x="0" y="9338945"/>
                    <a:pt x="0" y="9217533"/>
                  </a:cubicBezTo>
                  <a:close/>
                </a:path>
              </a:pathLst>
            </a:custGeom>
            <a:solidFill>
              <a:srgbClr val="FDECE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0629900" y="2558415"/>
            <a:ext cx="644652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b="true" sz="2549" spc="463">
                <a:solidFill>
                  <a:srgbClr val="C2334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HONEST LIMITATIONS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629900" y="3166110"/>
            <a:ext cx="6515100" cy="488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3386" indent="-221693" lvl="1">
              <a:lnSpc>
                <a:spcPts val="2939"/>
              </a:lnSpc>
              <a:buFont typeface="Arial"/>
              <a:buChar char="•"/>
            </a:pPr>
            <a:r>
              <a:rPr lang="en-US" sz="2449">
                <a:solidFill>
                  <a:srgbClr val="0F1B3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Groundedness (claims citing the expected chunks) is 50% overall and 0% on refinement turns, below our 85% gate. Refinement citations are the top fix.</a:t>
            </a:r>
          </a:p>
          <a:p>
            <a:pPr algn="l" marL="443386" indent="-221693" lvl="1">
              <a:lnSpc>
                <a:spcPts val="2939"/>
              </a:lnSpc>
              <a:buFont typeface="Arial"/>
              <a:buChar char="•"/>
            </a:pPr>
            <a:r>
              <a:rPr lang="en-US" sz="2449">
                <a:solidFill>
                  <a:srgbClr val="0F1B3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pipeline runs synchronously (stream=False), so true streaming TTFT is not yet measured. Mean turn latency of 80.5 s is dominated by LLM API calls and rate limits, not retrieval.</a:t>
            </a:r>
          </a:p>
          <a:p>
            <a:pPr algn="l" marL="443386" indent="-221693" lvl="1">
              <a:lnSpc>
                <a:spcPts val="2939"/>
              </a:lnSpc>
              <a:buFont typeface="Arial"/>
              <a:buChar char="•"/>
            </a:pPr>
            <a:r>
              <a:rPr lang="en-US" sz="2449">
                <a:solidFill>
                  <a:srgbClr val="0F1B3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Small in-house evaluation set: results are indicative, not a held-out benchmark.</a:t>
            </a:r>
          </a:p>
          <a:p>
            <a:pPr algn="l" marL="443386" indent="-221693" lvl="1">
              <a:lnSpc>
                <a:spcPts val="2939"/>
              </a:lnSpc>
              <a:buFont typeface="Arial"/>
              <a:buChar char="•"/>
            </a:pPr>
            <a:r>
              <a:rPr lang="en-US" sz="2449">
                <a:solidFill>
                  <a:srgbClr val="0F1B3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Fabricated citations stay at 0%: failures are lack of relevance, never invention.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48640"/>
            <a:ext cx="12344400" cy="426974"/>
            <a:chOff x="0" y="0"/>
            <a:chExt cx="16459200" cy="5692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569298"/>
            </a:xfrm>
            <a:custGeom>
              <a:avLst/>
              <a:gdLst/>
              <a:ahLst/>
              <a:cxnLst/>
              <a:rect r="r" b="b" t="t" l="l"/>
              <a:pathLst>
                <a:path h="569298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69298"/>
                  </a:lnTo>
                  <a:lnTo>
                    <a:pt x="0" y="56929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5153" r="0" b="-5115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6459200" cy="6169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549">
                  <a:solidFill>
                    <a:srgbClr val="0F766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14 · IMPACT &amp; USE CASES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596360" cy="1011809"/>
            <a:chOff x="0" y="0"/>
            <a:chExt cx="22128480" cy="13490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349078"/>
            </a:xfrm>
            <a:custGeom>
              <a:avLst/>
              <a:gdLst/>
              <a:ahLst/>
              <a:cxnLst/>
              <a:rect r="r" b="b" t="t" l="l"/>
              <a:pathLst>
                <a:path h="1349078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349078"/>
                  </a:lnTo>
                  <a:lnTo>
                    <a:pt x="0" y="134907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2160" r="0" b="-26705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22128480" cy="14538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0F1B3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A better interaction model for conversational assistants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1988820"/>
            <a:ext cx="16596360" cy="548640"/>
            <a:chOff x="0" y="0"/>
            <a:chExt cx="2212848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1284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The architecture generalizes to any assistant that needs fast, grounded answers over a large knowledge base.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9669780"/>
            <a:ext cx="13716000" cy="342900"/>
            <a:chOff x="0" y="0"/>
            <a:chExt cx="18288000" cy="457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88000" cy="457200"/>
            </a:xfrm>
            <a:custGeom>
              <a:avLst/>
              <a:gdLst/>
              <a:ahLst/>
              <a:cxnLst/>
              <a:rect r="r" b="b" t="t" l="l"/>
              <a:pathLst>
                <a:path h="457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9401" r="0" b="-72940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8288000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699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SAMSUNG PRISM GenAI Hackathon  ·  Theme 04 Streaming Live RAG  ·  Team Cracked Code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596360" y="9669780"/>
            <a:ext cx="864108" cy="366585"/>
            <a:chOff x="0" y="0"/>
            <a:chExt cx="1152144" cy="4887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52144" cy="488780"/>
            </a:xfrm>
            <a:custGeom>
              <a:avLst/>
              <a:gdLst/>
              <a:ahLst/>
              <a:cxnLst/>
              <a:rect r="r" b="b" t="t" l="l"/>
              <a:pathLst>
                <a:path h="488780" w="1152144">
                  <a:moveTo>
                    <a:pt x="0" y="0"/>
                  </a:moveTo>
                  <a:lnTo>
                    <a:pt x="1152144" y="0"/>
                  </a:lnTo>
                  <a:lnTo>
                    <a:pt x="1152144" y="488780"/>
                  </a:lnTo>
                  <a:lnTo>
                    <a:pt x="0" y="4887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14" t="0" r="-914" b="646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152144" cy="526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79"/>
                </a:lnSpc>
              </a:pPr>
              <a:r>
                <a:rPr lang="en-US" sz="1899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15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15816" y="3010376"/>
            <a:ext cx="5432108" cy="3031808"/>
            <a:chOff x="0" y="0"/>
            <a:chExt cx="7242810" cy="404241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242810" cy="4042410"/>
            </a:xfrm>
            <a:custGeom>
              <a:avLst/>
              <a:gdLst/>
              <a:ahLst/>
              <a:cxnLst/>
              <a:rect r="r" b="b" t="t" l="l"/>
              <a:pathLst>
                <a:path h="4042410" w="7242810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7022338" y="0"/>
                  </a:lnTo>
                  <a:cubicBezTo>
                    <a:pt x="7144131" y="0"/>
                    <a:pt x="7242810" y="98679"/>
                    <a:pt x="7242810" y="220472"/>
                  </a:cubicBezTo>
                  <a:lnTo>
                    <a:pt x="7242810" y="3821938"/>
                  </a:lnTo>
                  <a:cubicBezTo>
                    <a:pt x="7242810" y="3943731"/>
                    <a:pt x="7144131" y="4042410"/>
                    <a:pt x="7022338" y="4042410"/>
                  </a:cubicBezTo>
                  <a:lnTo>
                    <a:pt x="220472" y="4042410"/>
                  </a:lnTo>
                  <a:cubicBezTo>
                    <a:pt x="98679" y="4042410"/>
                    <a:pt x="0" y="3943731"/>
                    <a:pt x="0" y="382193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097280" y="3291840"/>
            <a:ext cx="576072" cy="576072"/>
            <a:chOff x="0" y="0"/>
            <a:chExt cx="768096" cy="7680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0F766E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97280" y="3291840"/>
            <a:ext cx="576072" cy="576072"/>
            <a:chOff x="0" y="0"/>
            <a:chExt cx="768096" cy="76809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1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097280" y="3989070"/>
            <a:ext cx="48691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9"/>
              </a:lnSpc>
            </a:pPr>
            <a:r>
              <a:rPr lang="en-US" sz="2949" b="true">
                <a:solidFill>
                  <a:srgbClr val="0F1B3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Voice assistants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97280" y="4574667"/>
            <a:ext cx="4869180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2274">
                <a:solidFill>
                  <a:srgbClr val="55627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Answers begin forming while the user is still speaking: lower perceived latency on-device.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439376" y="3010376"/>
            <a:ext cx="5432108" cy="3031808"/>
            <a:chOff x="0" y="0"/>
            <a:chExt cx="7242810" cy="404241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242810" cy="4042410"/>
            </a:xfrm>
            <a:custGeom>
              <a:avLst/>
              <a:gdLst/>
              <a:ahLst/>
              <a:cxnLst/>
              <a:rect r="r" b="b" t="t" l="l"/>
              <a:pathLst>
                <a:path h="4042410" w="7242810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7022338" y="0"/>
                  </a:lnTo>
                  <a:cubicBezTo>
                    <a:pt x="7144131" y="0"/>
                    <a:pt x="7242810" y="98679"/>
                    <a:pt x="7242810" y="220472"/>
                  </a:cubicBezTo>
                  <a:lnTo>
                    <a:pt x="7242810" y="3821938"/>
                  </a:lnTo>
                  <a:cubicBezTo>
                    <a:pt x="7242810" y="3943731"/>
                    <a:pt x="7144131" y="4042410"/>
                    <a:pt x="7022338" y="4042410"/>
                  </a:cubicBezTo>
                  <a:lnTo>
                    <a:pt x="220472" y="4042410"/>
                  </a:lnTo>
                  <a:cubicBezTo>
                    <a:pt x="98679" y="4042410"/>
                    <a:pt x="0" y="3943731"/>
                    <a:pt x="0" y="382193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6720840" y="3291840"/>
            <a:ext cx="576072" cy="576072"/>
            <a:chOff x="0" y="0"/>
            <a:chExt cx="768096" cy="76809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1428A0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720840" y="3291840"/>
            <a:ext cx="576072" cy="576072"/>
            <a:chOff x="0" y="0"/>
            <a:chExt cx="768096" cy="76809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2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6720840" y="3989070"/>
            <a:ext cx="48691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9"/>
              </a:lnSpc>
            </a:pPr>
            <a:r>
              <a:rPr lang="en-US" sz="2949" b="true">
                <a:solidFill>
                  <a:srgbClr val="0F1B3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Enterprise policy support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720840" y="4574667"/>
            <a:ext cx="4869180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2274">
                <a:solidFill>
                  <a:srgbClr val="55627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Travel reimbursement, event booking, vendor terms and cancellation rules in one question.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2062936" y="3010376"/>
            <a:ext cx="5432108" cy="3031808"/>
            <a:chOff x="0" y="0"/>
            <a:chExt cx="7242810" cy="404241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242810" cy="4042410"/>
            </a:xfrm>
            <a:custGeom>
              <a:avLst/>
              <a:gdLst/>
              <a:ahLst/>
              <a:cxnLst/>
              <a:rect r="r" b="b" t="t" l="l"/>
              <a:pathLst>
                <a:path h="4042410" w="7242810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7022338" y="0"/>
                  </a:lnTo>
                  <a:cubicBezTo>
                    <a:pt x="7144131" y="0"/>
                    <a:pt x="7242810" y="98679"/>
                    <a:pt x="7242810" y="220472"/>
                  </a:cubicBezTo>
                  <a:lnTo>
                    <a:pt x="7242810" y="3821938"/>
                  </a:lnTo>
                  <a:cubicBezTo>
                    <a:pt x="7242810" y="3943731"/>
                    <a:pt x="7144131" y="4042410"/>
                    <a:pt x="7022338" y="4042410"/>
                  </a:cubicBezTo>
                  <a:lnTo>
                    <a:pt x="220472" y="4042410"/>
                  </a:lnTo>
                  <a:cubicBezTo>
                    <a:pt x="98679" y="4042410"/>
                    <a:pt x="0" y="3943731"/>
                    <a:pt x="0" y="382193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2344400" y="3291840"/>
            <a:ext cx="576072" cy="576072"/>
            <a:chOff x="0" y="0"/>
            <a:chExt cx="768096" cy="76809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B45309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344400" y="3291840"/>
            <a:ext cx="576072" cy="576072"/>
            <a:chOff x="0" y="0"/>
            <a:chExt cx="768096" cy="76809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3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2344400" y="3989070"/>
            <a:ext cx="48691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9"/>
              </a:lnSpc>
            </a:pPr>
            <a:r>
              <a:rPr lang="en-US" sz="2949" b="true">
                <a:solidFill>
                  <a:srgbClr val="0F1B3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Support and travel desks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344400" y="4574667"/>
            <a:ext cx="486918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2274">
                <a:solidFill>
                  <a:srgbClr val="55627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Compound customer requests resolved in one grounded answer with sources.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815816" y="6507956"/>
            <a:ext cx="3991928" cy="1865948"/>
            <a:chOff x="0" y="0"/>
            <a:chExt cx="5322570" cy="248793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322570" cy="2487930"/>
            </a:xfrm>
            <a:custGeom>
              <a:avLst/>
              <a:gdLst/>
              <a:ahLst/>
              <a:cxnLst/>
              <a:rect r="r" b="b" t="t" l="l"/>
              <a:pathLst>
                <a:path h="2487930" w="5322570">
                  <a:moveTo>
                    <a:pt x="0" y="221107"/>
                  </a:moveTo>
                  <a:cubicBezTo>
                    <a:pt x="0" y="99060"/>
                    <a:pt x="99060" y="0"/>
                    <a:pt x="221107" y="0"/>
                  </a:cubicBezTo>
                  <a:lnTo>
                    <a:pt x="5101463" y="0"/>
                  </a:lnTo>
                  <a:cubicBezTo>
                    <a:pt x="5223637" y="0"/>
                    <a:pt x="5322570" y="99060"/>
                    <a:pt x="5322570" y="221107"/>
                  </a:cubicBezTo>
                  <a:lnTo>
                    <a:pt x="5322570" y="2266823"/>
                  </a:lnTo>
                  <a:cubicBezTo>
                    <a:pt x="5322570" y="2388997"/>
                    <a:pt x="5223510" y="2487930"/>
                    <a:pt x="5101463" y="2487930"/>
                  </a:cubicBezTo>
                  <a:lnTo>
                    <a:pt x="221107" y="2487930"/>
                  </a:lnTo>
                  <a:cubicBezTo>
                    <a:pt x="99060" y="2487930"/>
                    <a:pt x="0" y="2388870"/>
                    <a:pt x="0" y="2266823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sp>
        <p:nvSpPr>
          <p:cNvPr name="TextBox 46" id="46"/>
          <p:cNvSpPr txBox="true"/>
          <p:nvPr/>
        </p:nvSpPr>
        <p:spPr>
          <a:xfrm rot="0">
            <a:off x="1028700" y="6574917"/>
            <a:ext cx="356616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5199" b="true">
                <a:solidFill>
                  <a:srgbClr val="0F766E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~9 ms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28700" y="7455027"/>
            <a:ext cx="356616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2274" b="true">
                <a:solidFill>
                  <a:srgbClr val="0F1B3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Retrieval stage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28700" y="7848600"/>
            <a:ext cx="356616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9"/>
              </a:lnSpc>
            </a:pPr>
            <a:r>
              <a:rPr lang="en-US" sz="1974">
                <a:solidFill>
                  <a:srgbClr val="55627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mean latency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5067776" y="6507956"/>
            <a:ext cx="3991928" cy="1865948"/>
            <a:chOff x="0" y="0"/>
            <a:chExt cx="5322570" cy="248793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322570" cy="2487930"/>
            </a:xfrm>
            <a:custGeom>
              <a:avLst/>
              <a:gdLst/>
              <a:ahLst/>
              <a:cxnLst/>
              <a:rect r="r" b="b" t="t" l="l"/>
              <a:pathLst>
                <a:path h="2487930" w="5322570">
                  <a:moveTo>
                    <a:pt x="0" y="221107"/>
                  </a:moveTo>
                  <a:cubicBezTo>
                    <a:pt x="0" y="99060"/>
                    <a:pt x="99060" y="0"/>
                    <a:pt x="221107" y="0"/>
                  </a:cubicBezTo>
                  <a:lnTo>
                    <a:pt x="5101463" y="0"/>
                  </a:lnTo>
                  <a:cubicBezTo>
                    <a:pt x="5223637" y="0"/>
                    <a:pt x="5322570" y="99060"/>
                    <a:pt x="5322570" y="221107"/>
                  </a:cubicBezTo>
                  <a:lnTo>
                    <a:pt x="5322570" y="2266823"/>
                  </a:lnTo>
                  <a:cubicBezTo>
                    <a:pt x="5322570" y="2388997"/>
                    <a:pt x="5223510" y="2487930"/>
                    <a:pt x="5101463" y="2487930"/>
                  </a:cubicBezTo>
                  <a:lnTo>
                    <a:pt x="221107" y="2487930"/>
                  </a:lnTo>
                  <a:cubicBezTo>
                    <a:pt x="99060" y="2487930"/>
                    <a:pt x="0" y="2388870"/>
                    <a:pt x="0" y="2266823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sp>
        <p:nvSpPr>
          <p:cNvPr name="TextBox 51" id="51"/>
          <p:cNvSpPr txBox="true"/>
          <p:nvPr/>
        </p:nvSpPr>
        <p:spPr>
          <a:xfrm rot="0">
            <a:off x="5280660" y="6574917"/>
            <a:ext cx="356616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5199" b="true">
                <a:solidFill>
                  <a:srgbClr val="C2334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0%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280660" y="7455027"/>
            <a:ext cx="356616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2274" b="true">
                <a:solidFill>
                  <a:srgbClr val="0F1B3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Fabricated citations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280660" y="7848600"/>
            <a:ext cx="356616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9"/>
              </a:lnSpc>
            </a:pPr>
            <a:r>
              <a:rPr lang="en-US" sz="1974">
                <a:solidFill>
                  <a:srgbClr val="55627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valid corpus IDs only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9319736" y="6507956"/>
            <a:ext cx="3991928" cy="1865948"/>
            <a:chOff x="0" y="0"/>
            <a:chExt cx="5322570" cy="248793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322570" cy="2487930"/>
            </a:xfrm>
            <a:custGeom>
              <a:avLst/>
              <a:gdLst/>
              <a:ahLst/>
              <a:cxnLst/>
              <a:rect r="r" b="b" t="t" l="l"/>
              <a:pathLst>
                <a:path h="2487930" w="5322570">
                  <a:moveTo>
                    <a:pt x="0" y="221107"/>
                  </a:moveTo>
                  <a:cubicBezTo>
                    <a:pt x="0" y="99060"/>
                    <a:pt x="99060" y="0"/>
                    <a:pt x="221107" y="0"/>
                  </a:cubicBezTo>
                  <a:lnTo>
                    <a:pt x="5101463" y="0"/>
                  </a:lnTo>
                  <a:cubicBezTo>
                    <a:pt x="5223637" y="0"/>
                    <a:pt x="5322570" y="99060"/>
                    <a:pt x="5322570" y="221107"/>
                  </a:cubicBezTo>
                  <a:lnTo>
                    <a:pt x="5322570" y="2266823"/>
                  </a:lnTo>
                  <a:cubicBezTo>
                    <a:pt x="5322570" y="2388997"/>
                    <a:pt x="5223510" y="2487930"/>
                    <a:pt x="5101463" y="2487930"/>
                  </a:cubicBezTo>
                  <a:lnTo>
                    <a:pt x="221107" y="2487930"/>
                  </a:lnTo>
                  <a:cubicBezTo>
                    <a:pt x="99060" y="2487930"/>
                    <a:pt x="0" y="2388870"/>
                    <a:pt x="0" y="2266823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sp>
        <p:nvSpPr>
          <p:cNvPr name="TextBox 56" id="56"/>
          <p:cNvSpPr txBox="true"/>
          <p:nvPr/>
        </p:nvSpPr>
        <p:spPr>
          <a:xfrm rot="0">
            <a:off x="9532620" y="6574917"/>
            <a:ext cx="356616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5199" b="true">
                <a:solidFill>
                  <a:srgbClr val="B45309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~$0.006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532620" y="7455027"/>
            <a:ext cx="356616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2274" b="true">
                <a:solidFill>
                  <a:srgbClr val="0F1B3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Modelled cost / turn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532620" y="7848600"/>
            <a:ext cx="356616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9"/>
              </a:lnSpc>
            </a:pPr>
            <a:r>
              <a:rPr lang="en-US" sz="1974">
                <a:solidFill>
                  <a:srgbClr val="55627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$0.0848 over 15 turns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13571696" y="6507956"/>
            <a:ext cx="3895916" cy="1865948"/>
            <a:chOff x="0" y="0"/>
            <a:chExt cx="5194554" cy="248793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194554" cy="2487930"/>
            </a:xfrm>
            <a:custGeom>
              <a:avLst/>
              <a:gdLst/>
              <a:ahLst/>
              <a:cxnLst/>
              <a:rect r="r" b="b" t="t" l="l"/>
              <a:pathLst>
                <a:path h="2487930" w="5194554">
                  <a:moveTo>
                    <a:pt x="0" y="221107"/>
                  </a:moveTo>
                  <a:cubicBezTo>
                    <a:pt x="0" y="99060"/>
                    <a:pt x="99060" y="0"/>
                    <a:pt x="221107" y="0"/>
                  </a:cubicBezTo>
                  <a:lnTo>
                    <a:pt x="4973447" y="0"/>
                  </a:lnTo>
                  <a:cubicBezTo>
                    <a:pt x="5095621" y="0"/>
                    <a:pt x="5194554" y="99060"/>
                    <a:pt x="5194554" y="221107"/>
                  </a:cubicBezTo>
                  <a:lnTo>
                    <a:pt x="5194554" y="2266823"/>
                  </a:lnTo>
                  <a:cubicBezTo>
                    <a:pt x="5194554" y="2388997"/>
                    <a:pt x="5095494" y="2487930"/>
                    <a:pt x="4973447" y="2487930"/>
                  </a:cubicBezTo>
                  <a:lnTo>
                    <a:pt x="221107" y="2487930"/>
                  </a:lnTo>
                  <a:cubicBezTo>
                    <a:pt x="99060" y="2487930"/>
                    <a:pt x="0" y="2388870"/>
                    <a:pt x="0" y="2266823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sp>
        <p:nvSpPr>
          <p:cNvPr name="TextBox 61" id="61"/>
          <p:cNvSpPr txBox="true"/>
          <p:nvPr/>
        </p:nvSpPr>
        <p:spPr>
          <a:xfrm rot="0">
            <a:off x="13784580" y="6574917"/>
            <a:ext cx="3470148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5199" b="true">
                <a:solidFill>
                  <a:srgbClr val="1428A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5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4263046" y="6953250"/>
            <a:ext cx="3470148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2274" b="true">
                <a:solidFill>
                  <a:srgbClr val="0F1B3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Scenario categories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3784580" y="7432167"/>
            <a:ext cx="3470148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9"/>
              </a:lnSpc>
            </a:pPr>
            <a:r>
              <a:rPr lang="en-US" sz="1974">
                <a:solidFill>
                  <a:srgbClr val="55627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single · multi · refine · gap · conflict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822960" y="8721090"/>
            <a:ext cx="1645920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9"/>
              </a:lnSpc>
            </a:pPr>
            <a:r>
              <a:rPr lang="en-US" sz="2349" i="true">
                <a:solidFill>
                  <a:srgbClr val="0F1B3D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Corpus-grounded by design: no external web, no cross-session profile, session-scoped memory only.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48640"/>
            <a:ext cx="12344400" cy="411480"/>
            <a:chOff x="0" y="0"/>
            <a:chExt cx="164592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64592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b="true" sz="2099" spc="524">
                  <a:solidFill>
                    <a:srgbClr val="0F766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15 · WHAT SETS US APART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596360" cy="988504"/>
            <a:chOff x="0" y="0"/>
            <a:chExt cx="22128480" cy="13180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318006"/>
            </a:xfrm>
            <a:custGeom>
              <a:avLst/>
              <a:gdLst/>
              <a:ahLst/>
              <a:cxnLst/>
              <a:rect r="r" b="b" t="t" l="l"/>
              <a:pathLst>
                <a:path h="1318006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318006"/>
                  </a:lnTo>
                  <a:lnTo>
                    <a:pt x="0" y="131800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577" r="0" b="-27570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22128480" cy="14227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19"/>
                </a:lnSpc>
              </a:pPr>
              <a:r>
                <a:rPr lang="en-US" sz="5099" b="true">
                  <a:solidFill>
                    <a:srgbClr val="0F1B3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Six differentiators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9669780"/>
            <a:ext cx="13716000" cy="342900"/>
            <a:chOff x="0" y="0"/>
            <a:chExt cx="18288000" cy="457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288000" cy="457200"/>
            </a:xfrm>
            <a:custGeom>
              <a:avLst/>
              <a:gdLst/>
              <a:ahLst/>
              <a:cxnLst/>
              <a:rect r="r" b="b" t="t" l="l"/>
              <a:pathLst>
                <a:path h="457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9401" r="0" b="-72940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8288000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699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SAMSUNG PRISM GenAI Hackathon  ·  Theme 04 Streaming Live RAG  ·  Team Cracked Code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596360" y="9669780"/>
            <a:ext cx="864108" cy="343281"/>
            <a:chOff x="0" y="0"/>
            <a:chExt cx="1152144" cy="45770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52144" cy="457708"/>
            </a:xfrm>
            <a:custGeom>
              <a:avLst/>
              <a:gdLst/>
              <a:ahLst/>
              <a:cxnLst/>
              <a:rect r="r" b="b" t="t" l="l"/>
              <a:pathLst>
                <a:path h="457708" w="1152144">
                  <a:moveTo>
                    <a:pt x="0" y="0"/>
                  </a:moveTo>
                  <a:lnTo>
                    <a:pt x="1152144" y="0"/>
                  </a:lnTo>
                  <a:lnTo>
                    <a:pt x="1152144" y="457708"/>
                  </a:lnTo>
                  <a:lnTo>
                    <a:pt x="0" y="4577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14" t="0" r="-914" b="11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152144" cy="4958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59"/>
                </a:lnSpc>
              </a:pPr>
              <a:r>
                <a:rPr lang="en-US" sz="1799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16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15816" y="2324576"/>
            <a:ext cx="5432108" cy="3511867"/>
            <a:chOff x="0" y="0"/>
            <a:chExt cx="7242810" cy="46824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242810" cy="4682490"/>
            </a:xfrm>
            <a:custGeom>
              <a:avLst/>
              <a:gdLst/>
              <a:ahLst/>
              <a:cxnLst/>
              <a:rect r="r" b="b" t="t" l="l"/>
              <a:pathLst>
                <a:path h="4682490" w="7242810">
                  <a:moveTo>
                    <a:pt x="0" y="220345"/>
                  </a:moveTo>
                  <a:cubicBezTo>
                    <a:pt x="0" y="98679"/>
                    <a:pt x="98679" y="0"/>
                    <a:pt x="220345" y="0"/>
                  </a:cubicBezTo>
                  <a:lnTo>
                    <a:pt x="7022464" y="0"/>
                  </a:lnTo>
                  <a:cubicBezTo>
                    <a:pt x="7144131" y="0"/>
                    <a:pt x="7242810" y="98679"/>
                    <a:pt x="7242810" y="220345"/>
                  </a:cubicBezTo>
                  <a:lnTo>
                    <a:pt x="7242810" y="4462145"/>
                  </a:lnTo>
                  <a:cubicBezTo>
                    <a:pt x="7242810" y="4583811"/>
                    <a:pt x="7144131" y="4682490"/>
                    <a:pt x="7022464" y="4682490"/>
                  </a:cubicBezTo>
                  <a:lnTo>
                    <a:pt x="220345" y="4682490"/>
                  </a:lnTo>
                  <a:cubicBezTo>
                    <a:pt x="98679" y="4682490"/>
                    <a:pt x="0" y="4583811"/>
                    <a:pt x="0" y="446214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097280" y="2606040"/>
            <a:ext cx="576072" cy="576072"/>
            <a:chOff x="0" y="0"/>
            <a:chExt cx="768096" cy="76809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1428A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97280" y="2606040"/>
            <a:ext cx="576072" cy="576072"/>
            <a:chOff x="0" y="0"/>
            <a:chExt cx="768096" cy="76809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399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1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851660" y="2606040"/>
            <a:ext cx="4251960" cy="576072"/>
            <a:chOff x="0" y="0"/>
            <a:chExt cx="5669280" cy="76809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669280" cy="768096"/>
            </a:xfrm>
            <a:custGeom>
              <a:avLst/>
              <a:gdLst/>
              <a:ahLst/>
              <a:cxnLst/>
              <a:rect r="r" b="b" t="t" l="l"/>
              <a:pathLst>
                <a:path h="768096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3818" r="0" b="-9381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566928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59"/>
                </a:lnSpc>
              </a:pPr>
              <a:r>
                <a:rPr lang="en-US" sz="2549" b="true">
                  <a:solidFill>
                    <a:srgbClr val="0F1B3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Speculative pre-fetch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097280" y="3449955"/>
            <a:ext cx="486918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9"/>
              </a:lnSpc>
            </a:pPr>
            <a:r>
              <a:rPr lang="en-US" sz="2174">
                <a:solidFill>
                  <a:srgbClr val="0F1B3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Cache warms while the user speaks; zero LLM calls until speech ends.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97280" y="4958715"/>
            <a:ext cx="486918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9"/>
              </a:lnSpc>
            </a:pPr>
            <a:r>
              <a:rPr lang="en-US" b="true" sz="2024" i="true">
                <a:solidFill>
                  <a:srgbClr val="C2334D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Ordinary RAG: starts after the turn ends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439376" y="2324576"/>
            <a:ext cx="5432108" cy="3511867"/>
            <a:chOff x="0" y="0"/>
            <a:chExt cx="7242810" cy="468249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242810" cy="4682490"/>
            </a:xfrm>
            <a:custGeom>
              <a:avLst/>
              <a:gdLst/>
              <a:ahLst/>
              <a:cxnLst/>
              <a:rect r="r" b="b" t="t" l="l"/>
              <a:pathLst>
                <a:path h="4682490" w="7242810">
                  <a:moveTo>
                    <a:pt x="0" y="220345"/>
                  </a:moveTo>
                  <a:cubicBezTo>
                    <a:pt x="0" y="98679"/>
                    <a:pt x="98679" y="0"/>
                    <a:pt x="220345" y="0"/>
                  </a:cubicBezTo>
                  <a:lnTo>
                    <a:pt x="7022464" y="0"/>
                  </a:lnTo>
                  <a:cubicBezTo>
                    <a:pt x="7144131" y="0"/>
                    <a:pt x="7242810" y="98679"/>
                    <a:pt x="7242810" y="220345"/>
                  </a:cubicBezTo>
                  <a:lnTo>
                    <a:pt x="7242810" y="4462145"/>
                  </a:lnTo>
                  <a:cubicBezTo>
                    <a:pt x="7242810" y="4583811"/>
                    <a:pt x="7144131" y="4682490"/>
                    <a:pt x="7022464" y="4682490"/>
                  </a:cubicBezTo>
                  <a:lnTo>
                    <a:pt x="220345" y="4682490"/>
                  </a:lnTo>
                  <a:cubicBezTo>
                    <a:pt x="98679" y="4682490"/>
                    <a:pt x="0" y="4583811"/>
                    <a:pt x="0" y="446214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6720840" y="2606040"/>
            <a:ext cx="576072" cy="576072"/>
            <a:chOff x="0" y="0"/>
            <a:chExt cx="768096" cy="76809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0F766E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720840" y="2606040"/>
            <a:ext cx="576072" cy="576072"/>
            <a:chOff x="0" y="0"/>
            <a:chExt cx="768096" cy="76809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399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2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475220" y="2606040"/>
            <a:ext cx="4251960" cy="576072"/>
            <a:chOff x="0" y="0"/>
            <a:chExt cx="5669280" cy="76809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669280" cy="768096"/>
            </a:xfrm>
            <a:custGeom>
              <a:avLst/>
              <a:gdLst/>
              <a:ahLst/>
              <a:cxnLst/>
              <a:rect r="r" b="b" t="t" l="l"/>
              <a:pathLst>
                <a:path h="768096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3818" r="0" b="-93818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566928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59"/>
                </a:lnSpc>
              </a:pPr>
              <a:r>
                <a:rPr lang="en-US" sz="2549" b="true">
                  <a:solidFill>
                    <a:srgbClr val="0F1B3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Fail-closed verifier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6720840" y="3449955"/>
            <a:ext cx="486918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9"/>
              </a:lnSpc>
            </a:pPr>
            <a:r>
              <a:rPr lang="en-US" sz="2174">
                <a:solidFill>
                  <a:srgbClr val="0F1B3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Parse errors, API failures or bad schema never default to "supported".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720840" y="4958715"/>
            <a:ext cx="486918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9"/>
              </a:lnSpc>
            </a:pPr>
            <a:r>
              <a:rPr lang="en-US" b="true" sz="2324" i="true">
                <a:solidFill>
                  <a:srgbClr val="C2334D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Ordinary RAG: unverified claims pass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2062936" y="2324576"/>
            <a:ext cx="5432108" cy="3511867"/>
            <a:chOff x="0" y="0"/>
            <a:chExt cx="7242810" cy="468249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242810" cy="4682490"/>
            </a:xfrm>
            <a:custGeom>
              <a:avLst/>
              <a:gdLst/>
              <a:ahLst/>
              <a:cxnLst/>
              <a:rect r="r" b="b" t="t" l="l"/>
              <a:pathLst>
                <a:path h="4682490" w="7242810">
                  <a:moveTo>
                    <a:pt x="0" y="220345"/>
                  </a:moveTo>
                  <a:cubicBezTo>
                    <a:pt x="0" y="98679"/>
                    <a:pt x="98679" y="0"/>
                    <a:pt x="220345" y="0"/>
                  </a:cubicBezTo>
                  <a:lnTo>
                    <a:pt x="7022464" y="0"/>
                  </a:lnTo>
                  <a:cubicBezTo>
                    <a:pt x="7144131" y="0"/>
                    <a:pt x="7242810" y="98679"/>
                    <a:pt x="7242810" y="220345"/>
                  </a:cubicBezTo>
                  <a:lnTo>
                    <a:pt x="7242810" y="4462145"/>
                  </a:lnTo>
                  <a:cubicBezTo>
                    <a:pt x="7242810" y="4583811"/>
                    <a:pt x="7144131" y="4682490"/>
                    <a:pt x="7022464" y="4682490"/>
                  </a:cubicBezTo>
                  <a:lnTo>
                    <a:pt x="220345" y="4682490"/>
                  </a:lnTo>
                  <a:cubicBezTo>
                    <a:pt x="98679" y="4682490"/>
                    <a:pt x="0" y="4583811"/>
                    <a:pt x="0" y="446214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2344400" y="2606040"/>
            <a:ext cx="576072" cy="576072"/>
            <a:chOff x="0" y="0"/>
            <a:chExt cx="768096" cy="76809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B45309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344400" y="2606040"/>
            <a:ext cx="576072" cy="576072"/>
            <a:chOff x="0" y="0"/>
            <a:chExt cx="768096" cy="76809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399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3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098780" y="2606040"/>
            <a:ext cx="4251960" cy="576072"/>
            <a:chOff x="0" y="0"/>
            <a:chExt cx="5669280" cy="76809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669280" cy="768096"/>
            </a:xfrm>
            <a:custGeom>
              <a:avLst/>
              <a:gdLst/>
              <a:ahLst/>
              <a:cxnLst/>
              <a:rect r="r" b="b" t="t" l="l"/>
              <a:pathLst>
                <a:path h="768096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3818" r="0" b="-93818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566928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59"/>
                </a:lnSpc>
              </a:pPr>
              <a:r>
                <a:rPr lang="en-US" sz="2549" b="true">
                  <a:solidFill>
                    <a:srgbClr val="0F1B3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No cherry-picking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2344400" y="3449955"/>
            <a:ext cx="486918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9"/>
              </a:lnSpc>
            </a:pPr>
            <a:r>
              <a:rPr lang="en-US" sz="2174">
                <a:solidFill>
                  <a:srgbClr val="0F1B3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Contradicting sources are both surfaced and flagged unresolved.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344400" y="4958715"/>
            <a:ext cx="486918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9"/>
              </a:lnSpc>
            </a:pPr>
            <a:r>
              <a:rPr lang="en-US" b="true" sz="2024" i="true">
                <a:solidFill>
                  <a:srgbClr val="C2334D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Ordinary RAG: silently picks one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815816" y="6027896"/>
            <a:ext cx="5432108" cy="3511867"/>
            <a:chOff x="0" y="0"/>
            <a:chExt cx="7242810" cy="468249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242810" cy="4682490"/>
            </a:xfrm>
            <a:custGeom>
              <a:avLst/>
              <a:gdLst/>
              <a:ahLst/>
              <a:cxnLst/>
              <a:rect r="r" b="b" t="t" l="l"/>
              <a:pathLst>
                <a:path h="4682490" w="7242810">
                  <a:moveTo>
                    <a:pt x="0" y="220345"/>
                  </a:moveTo>
                  <a:cubicBezTo>
                    <a:pt x="0" y="98679"/>
                    <a:pt x="98679" y="0"/>
                    <a:pt x="220345" y="0"/>
                  </a:cubicBezTo>
                  <a:lnTo>
                    <a:pt x="7022464" y="0"/>
                  </a:lnTo>
                  <a:cubicBezTo>
                    <a:pt x="7144131" y="0"/>
                    <a:pt x="7242810" y="98679"/>
                    <a:pt x="7242810" y="220345"/>
                  </a:cubicBezTo>
                  <a:lnTo>
                    <a:pt x="7242810" y="4462145"/>
                  </a:lnTo>
                  <a:cubicBezTo>
                    <a:pt x="7242810" y="4583811"/>
                    <a:pt x="7144131" y="4682490"/>
                    <a:pt x="7022464" y="4682490"/>
                  </a:cubicBezTo>
                  <a:lnTo>
                    <a:pt x="220345" y="4682490"/>
                  </a:lnTo>
                  <a:cubicBezTo>
                    <a:pt x="98679" y="4682490"/>
                    <a:pt x="0" y="4583811"/>
                    <a:pt x="0" y="446214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097280" y="6309360"/>
            <a:ext cx="576072" cy="576072"/>
            <a:chOff x="0" y="0"/>
            <a:chExt cx="768096" cy="76809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C2334D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097280" y="6309360"/>
            <a:ext cx="576072" cy="576072"/>
            <a:chOff x="0" y="0"/>
            <a:chExt cx="768096" cy="76809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399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4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851660" y="6309360"/>
            <a:ext cx="4251960" cy="576072"/>
            <a:chOff x="0" y="0"/>
            <a:chExt cx="5669280" cy="76809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669280" cy="768096"/>
            </a:xfrm>
            <a:custGeom>
              <a:avLst/>
              <a:gdLst/>
              <a:ahLst/>
              <a:cxnLst/>
              <a:rect r="r" b="b" t="t" l="l"/>
              <a:pathLst>
                <a:path h="768096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3818" r="0" b="-93818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566928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59"/>
                </a:lnSpc>
              </a:pPr>
              <a:r>
                <a:rPr lang="en-US" sz="2549" b="true">
                  <a:solidFill>
                    <a:srgbClr val="0F1B3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Refine, don't restart</a:t>
              </a: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1097280" y="7153275"/>
            <a:ext cx="486918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9"/>
              </a:lnSpc>
            </a:pPr>
            <a:r>
              <a:rPr lang="en-US" sz="2174">
                <a:solidFill>
                  <a:srgbClr val="0F1B3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Ledger supersedes only affected claims, answer v1 → v2.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097280" y="8662035"/>
            <a:ext cx="486918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9"/>
              </a:lnSpc>
            </a:pPr>
            <a:r>
              <a:rPr lang="en-US" b="true" sz="2024" i="true">
                <a:solidFill>
                  <a:srgbClr val="C2334D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Ordinary RAG: discards context, re-runs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6439376" y="6027896"/>
            <a:ext cx="5432108" cy="3511867"/>
            <a:chOff x="0" y="0"/>
            <a:chExt cx="7242810" cy="468249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242810" cy="4682490"/>
            </a:xfrm>
            <a:custGeom>
              <a:avLst/>
              <a:gdLst/>
              <a:ahLst/>
              <a:cxnLst/>
              <a:rect r="r" b="b" t="t" l="l"/>
              <a:pathLst>
                <a:path h="4682490" w="7242810">
                  <a:moveTo>
                    <a:pt x="0" y="220345"/>
                  </a:moveTo>
                  <a:cubicBezTo>
                    <a:pt x="0" y="98679"/>
                    <a:pt x="98679" y="0"/>
                    <a:pt x="220345" y="0"/>
                  </a:cubicBezTo>
                  <a:lnTo>
                    <a:pt x="7022464" y="0"/>
                  </a:lnTo>
                  <a:cubicBezTo>
                    <a:pt x="7144131" y="0"/>
                    <a:pt x="7242810" y="98679"/>
                    <a:pt x="7242810" y="220345"/>
                  </a:cubicBezTo>
                  <a:lnTo>
                    <a:pt x="7242810" y="4462145"/>
                  </a:lnTo>
                  <a:cubicBezTo>
                    <a:pt x="7242810" y="4583811"/>
                    <a:pt x="7144131" y="4682490"/>
                    <a:pt x="7022464" y="4682490"/>
                  </a:cubicBezTo>
                  <a:lnTo>
                    <a:pt x="220345" y="4682490"/>
                  </a:lnTo>
                  <a:cubicBezTo>
                    <a:pt x="98679" y="4682490"/>
                    <a:pt x="0" y="4583811"/>
                    <a:pt x="0" y="446214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6720840" y="6309360"/>
            <a:ext cx="576072" cy="576072"/>
            <a:chOff x="0" y="0"/>
            <a:chExt cx="768096" cy="76809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1428A0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6720840" y="6309360"/>
            <a:ext cx="576072" cy="576072"/>
            <a:chOff x="0" y="0"/>
            <a:chExt cx="768096" cy="76809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399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5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7475220" y="6309360"/>
            <a:ext cx="4251960" cy="576072"/>
            <a:chOff x="0" y="0"/>
            <a:chExt cx="5669280" cy="76809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669280" cy="768096"/>
            </a:xfrm>
            <a:custGeom>
              <a:avLst/>
              <a:gdLst/>
              <a:ahLst/>
              <a:cxnLst/>
              <a:rect r="r" b="b" t="t" l="l"/>
              <a:pathLst>
                <a:path h="768096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3818" r="0" b="-93818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566928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59"/>
                </a:lnSpc>
              </a:pPr>
              <a:r>
                <a:rPr lang="en-US" sz="2549" b="true">
                  <a:solidFill>
                    <a:srgbClr val="0F1B3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Suppress presentation turns</a:t>
              </a:r>
            </a:p>
          </p:txBody>
        </p:sp>
      </p:grpSp>
      <p:sp>
        <p:nvSpPr>
          <p:cNvPr name="TextBox 72" id="72"/>
          <p:cNvSpPr txBox="true"/>
          <p:nvPr/>
        </p:nvSpPr>
        <p:spPr>
          <a:xfrm rot="0">
            <a:off x="6720840" y="7153275"/>
            <a:ext cx="486918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9"/>
              </a:lnSpc>
            </a:pPr>
            <a:r>
              <a:rPr lang="en-US" sz="2174">
                <a:solidFill>
                  <a:srgbClr val="0F1B3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"Repeat in two bullets" makes zero retrieval calls.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6720840" y="8662035"/>
            <a:ext cx="486918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9"/>
              </a:lnSpc>
            </a:pPr>
            <a:r>
              <a:rPr lang="en-US" b="true" sz="2024" i="true">
                <a:solidFill>
                  <a:srgbClr val="C2334D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Ordinary RAG: wastes tokens, risks drift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12062936" y="6027896"/>
            <a:ext cx="5432108" cy="3511867"/>
            <a:chOff x="0" y="0"/>
            <a:chExt cx="7242810" cy="468249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242810" cy="4682490"/>
            </a:xfrm>
            <a:custGeom>
              <a:avLst/>
              <a:gdLst/>
              <a:ahLst/>
              <a:cxnLst/>
              <a:rect r="r" b="b" t="t" l="l"/>
              <a:pathLst>
                <a:path h="4682490" w="7242810">
                  <a:moveTo>
                    <a:pt x="0" y="220345"/>
                  </a:moveTo>
                  <a:cubicBezTo>
                    <a:pt x="0" y="98679"/>
                    <a:pt x="98679" y="0"/>
                    <a:pt x="220345" y="0"/>
                  </a:cubicBezTo>
                  <a:lnTo>
                    <a:pt x="7022464" y="0"/>
                  </a:lnTo>
                  <a:cubicBezTo>
                    <a:pt x="7144131" y="0"/>
                    <a:pt x="7242810" y="98679"/>
                    <a:pt x="7242810" y="220345"/>
                  </a:cubicBezTo>
                  <a:lnTo>
                    <a:pt x="7242810" y="4462145"/>
                  </a:lnTo>
                  <a:cubicBezTo>
                    <a:pt x="7242810" y="4583811"/>
                    <a:pt x="7144131" y="4682490"/>
                    <a:pt x="7022464" y="4682490"/>
                  </a:cubicBezTo>
                  <a:lnTo>
                    <a:pt x="220345" y="4682490"/>
                  </a:lnTo>
                  <a:cubicBezTo>
                    <a:pt x="98679" y="4682490"/>
                    <a:pt x="0" y="4583811"/>
                    <a:pt x="0" y="446214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12344400" y="6309360"/>
            <a:ext cx="576072" cy="576072"/>
            <a:chOff x="0" y="0"/>
            <a:chExt cx="768096" cy="76809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0F766E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2344400" y="6309360"/>
            <a:ext cx="576072" cy="576072"/>
            <a:chOff x="0" y="0"/>
            <a:chExt cx="768096" cy="76809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399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6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3098780" y="6309360"/>
            <a:ext cx="4251960" cy="576072"/>
            <a:chOff x="0" y="0"/>
            <a:chExt cx="5669280" cy="768096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669280" cy="768096"/>
            </a:xfrm>
            <a:custGeom>
              <a:avLst/>
              <a:gdLst/>
              <a:ahLst/>
              <a:cxnLst/>
              <a:rect r="r" b="b" t="t" l="l"/>
              <a:pathLst>
                <a:path h="768096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3818" r="0" b="-93818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47625"/>
              <a:ext cx="566928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59"/>
                </a:lnSpc>
              </a:pPr>
              <a:r>
                <a:rPr lang="en-US" sz="2549" b="true">
                  <a:solidFill>
                    <a:srgbClr val="0F1B3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Judge-drivable demo</a:t>
              </a:r>
            </a:p>
          </p:txBody>
        </p:sp>
      </p:grpSp>
      <p:sp>
        <p:nvSpPr>
          <p:cNvPr name="TextBox 84" id="84"/>
          <p:cNvSpPr txBox="true"/>
          <p:nvPr/>
        </p:nvSpPr>
        <p:spPr>
          <a:xfrm rot="0">
            <a:off x="12344400" y="7153275"/>
            <a:ext cx="486918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9"/>
              </a:lnSpc>
            </a:pPr>
            <a:r>
              <a:rPr lang="en-US" sz="2174">
                <a:solidFill>
                  <a:srgbClr val="0F1B3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Type chunks live and watch controller, retrieval and grounding react.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2344400" y="8662035"/>
            <a:ext cx="486918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9"/>
              </a:lnSpc>
            </a:pPr>
            <a:r>
              <a:rPr lang="en-US" b="true" sz="2024" i="true">
                <a:solidFill>
                  <a:srgbClr val="C2334D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Ordinary RAG: opaque black box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48640"/>
            <a:ext cx="12344400" cy="411480"/>
            <a:chOff x="0" y="0"/>
            <a:chExt cx="164592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459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0F766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16 · WHAT'S NEXT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596360" cy="960120"/>
            <a:chOff x="0" y="0"/>
            <a:chExt cx="2212848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6812" r="0" b="-28681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22128480" cy="1375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F1B3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From working prototype to production-grade streaming RAG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1988820"/>
            <a:ext cx="16596360" cy="548640"/>
            <a:chOff x="0" y="0"/>
            <a:chExt cx="2212848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1284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Each step targets a measured gap, not complexity for its own sake.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9669780"/>
            <a:ext cx="13716000" cy="342900"/>
            <a:chOff x="0" y="0"/>
            <a:chExt cx="18288000" cy="457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88000" cy="457200"/>
            </a:xfrm>
            <a:custGeom>
              <a:avLst/>
              <a:gdLst/>
              <a:ahLst/>
              <a:cxnLst/>
              <a:rect r="r" b="b" t="t" l="l"/>
              <a:pathLst>
                <a:path h="457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9401" r="0" b="-72940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8288000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SAMSUNG PRISM GenAI Hackathon  ·  Theme 04 Streaming Live RAG  ·  Team Cracked Code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596360" y="9669780"/>
            <a:ext cx="864108" cy="342900"/>
            <a:chOff x="0" y="0"/>
            <a:chExt cx="1152144" cy="457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52144" cy="457200"/>
            </a:xfrm>
            <a:custGeom>
              <a:avLst/>
              <a:gdLst/>
              <a:ahLst/>
              <a:cxnLst/>
              <a:rect r="r" b="b" t="t" l="l"/>
              <a:pathLst>
                <a:path h="457200" w="1152144">
                  <a:moveTo>
                    <a:pt x="0" y="0"/>
                  </a:moveTo>
                  <a:lnTo>
                    <a:pt x="1152144" y="0"/>
                  </a:lnTo>
                  <a:lnTo>
                    <a:pt x="115214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14" t="0" r="-914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152144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5627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17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 rot="8880">
            <a:off x="1764001" y="3762375"/>
            <a:ext cx="14714268" cy="0"/>
          </a:xfrm>
          <a:prstGeom prst="line">
            <a:avLst/>
          </a:prstGeom>
          <a:ln cap="rnd" w="19050">
            <a:solidFill>
              <a:srgbClr val="D5DDE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851660" y="3497580"/>
            <a:ext cx="576072" cy="576072"/>
            <a:chOff x="0" y="0"/>
            <a:chExt cx="768096" cy="76809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0F766E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851660" y="3497580"/>
            <a:ext cx="576072" cy="576072"/>
            <a:chOff x="0" y="0"/>
            <a:chExt cx="768096" cy="76809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1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822960" y="4282440"/>
            <a:ext cx="301752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b="true" sz="1650" spc="299">
                <a:solidFill>
                  <a:srgbClr val="55627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PHASE 1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15816" y="4862036"/>
            <a:ext cx="3168967" cy="3306128"/>
            <a:chOff x="0" y="0"/>
            <a:chExt cx="4225290" cy="440817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225290" cy="4408170"/>
            </a:xfrm>
            <a:custGeom>
              <a:avLst/>
              <a:gdLst/>
              <a:ahLst/>
              <a:cxnLst/>
              <a:rect r="r" b="b" t="t" l="l"/>
              <a:pathLst>
                <a:path h="4408170" w="4225290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4004818" y="0"/>
                  </a:lnTo>
                  <a:cubicBezTo>
                    <a:pt x="4126611" y="0"/>
                    <a:pt x="4225290" y="98679"/>
                    <a:pt x="4225290" y="220472"/>
                  </a:cubicBezTo>
                  <a:lnTo>
                    <a:pt x="4225290" y="4187698"/>
                  </a:lnTo>
                  <a:cubicBezTo>
                    <a:pt x="4225290" y="4309491"/>
                    <a:pt x="4126611" y="4408170"/>
                    <a:pt x="4004818" y="4408170"/>
                  </a:cubicBezTo>
                  <a:lnTo>
                    <a:pt x="220472" y="4408170"/>
                  </a:lnTo>
                  <a:cubicBezTo>
                    <a:pt x="98679" y="4408170"/>
                    <a:pt x="0" y="4309491"/>
                    <a:pt x="0" y="418769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1028700" y="5027295"/>
            <a:ext cx="27432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 b="true">
                <a:solidFill>
                  <a:srgbClr val="0F1B3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True token streaming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" y="6134100"/>
            <a:ext cx="27432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5627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stream=True to report real time-to-first-token.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5212080" y="3497580"/>
            <a:ext cx="576072" cy="576072"/>
            <a:chOff x="0" y="0"/>
            <a:chExt cx="768096" cy="76809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B45309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5212080" y="3497580"/>
            <a:ext cx="576072" cy="576072"/>
            <a:chOff x="0" y="0"/>
            <a:chExt cx="768096" cy="76809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2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4183380" y="4282440"/>
            <a:ext cx="301752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b="true" sz="1650" spc="299">
                <a:solidFill>
                  <a:srgbClr val="55627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PHASE 2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4176236" y="4862036"/>
            <a:ext cx="3168967" cy="3306128"/>
            <a:chOff x="0" y="0"/>
            <a:chExt cx="4225290" cy="440817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225290" cy="4408170"/>
            </a:xfrm>
            <a:custGeom>
              <a:avLst/>
              <a:gdLst/>
              <a:ahLst/>
              <a:cxnLst/>
              <a:rect r="r" b="b" t="t" l="l"/>
              <a:pathLst>
                <a:path h="4408170" w="4225290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4004818" y="0"/>
                  </a:lnTo>
                  <a:cubicBezTo>
                    <a:pt x="4126611" y="0"/>
                    <a:pt x="4225290" y="98679"/>
                    <a:pt x="4225290" y="220472"/>
                  </a:cubicBezTo>
                  <a:lnTo>
                    <a:pt x="4225290" y="4187698"/>
                  </a:lnTo>
                  <a:cubicBezTo>
                    <a:pt x="4225290" y="4309491"/>
                    <a:pt x="4126611" y="4408170"/>
                    <a:pt x="4004818" y="4408170"/>
                  </a:cubicBezTo>
                  <a:lnTo>
                    <a:pt x="220472" y="4408170"/>
                  </a:lnTo>
                  <a:cubicBezTo>
                    <a:pt x="98679" y="4408170"/>
                    <a:pt x="0" y="4309491"/>
                    <a:pt x="0" y="418769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4389120" y="5027295"/>
            <a:ext cx="27432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 b="true">
                <a:solidFill>
                  <a:srgbClr val="0F1B3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Faster verification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389120" y="6134100"/>
            <a:ext cx="274320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5627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Batch and parallel claim checks; lighter verifier to cut the 9.4 s stage.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8572500" y="3497580"/>
            <a:ext cx="576072" cy="576072"/>
            <a:chOff x="0" y="0"/>
            <a:chExt cx="768096" cy="76809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C2334D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8572500" y="3497580"/>
            <a:ext cx="576072" cy="576072"/>
            <a:chOff x="0" y="0"/>
            <a:chExt cx="768096" cy="76809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3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7543800" y="4282440"/>
            <a:ext cx="301752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b="true" sz="1650" spc="299">
                <a:solidFill>
                  <a:srgbClr val="55627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PHASE 3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7536656" y="4862036"/>
            <a:ext cx="3168967" cy="3306128"/>
            <a:chOff x="0" y="0"/>
            <a:chExt cx="4225290" cy="440817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225290" cy="4408170"/>
            </a:xfrm>
            <a:custGeom>
              <a:avLst/>
              <a:gdLst/>
              <a:ahLst/>
              <a:cxnLst/>
              <a:rect r="r" b="b" t="t" l="l"/>
              <a:pathLst>
                <a:path h="4408170" w="4225290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4004818" y="0"/>
                  </a:lnTo>
                  <a:cubicBezTo>
                    <a:pt x="4126611" y="0"/>
                    <a:pt x="4225290" y="98679"/>
                    <a:pt x="4225290" y="220472"/>
                  </a:cubicBezTo>
                  <a:lnTo>
                    <a:pt x="4225290" y="4187698"/>
                  </a:lnTo>
                  <a:cubicBezTo>
                    <a:pt x="4225290" y="4309491"/>
                    <a:pt x="4126611" y="4408170"/>
                    <a:pt x="4004818" y="4408170"/>
                  </a:cubicBezTo>
                  <a:lnTo>
                    <a:pt x="220472" y="4408170"/>
                  </a:lnTo>
                  <a:cubicBezTo>
                    <a:pt x="98679" y="4408170"/>
                    <a:pt x="0" y="4309491"/>
                    <a:pt x="0" y="418769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sp>
        <p:nvSpPr>
          <p:cNvPr name="TextBox 46" id="46"/>
          <p:cNvSpPr txBox="true"/>
          <p:nvPr/>
        </p:nvSpPr>
        <p:spPr>
          <a:xfrm rot="0">
            <a:off x="7749540" y="5027295"/>
            <a:ext cx="27432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 b="true">
                <a:solidFill>
                  <a:srgbClr val="0F1B3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Refinement citations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749540" y="6134100"/>
            <a:ext cx="274320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5627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Lift refinement groundedness to the 85% gate.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1932920" y="3497580"/>
            <a:ext cx="576072" cy="576072"/>
            <a:chOff x="0" y="0"/>
            <a:chExt cx="768096" cy="76809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1428A0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1932920" y="3497580"/>
            <a:ext cx="576072" cy="576072"/>
            <a:chOff x="0" y="0"/>
            <a:chExt cx="768096" cy="76809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4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0904220" y="4282440"/>
            <a:ext cx="301752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b="true" sz="1650" spc="299">
                <a:solidFill>
                  <a:srgbClr val="55627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PHASE 4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0897076" y="4862036"/>
            <a:ext cx="3168967" cy="3306128"/>
            <a:chOff x="0" y="0"/>
            <a:chExt cx="4225290" cy="440817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225290" cy="4408170"/>
            </a:xfrm>
            <a:custGeom>
              <a:avLst/>
              <a:gdLst/>
              <a:ahLst/>
              <a:cxnLst/>
              <a:rect r="r" b="b" t="t" l="l"/>
              <a:pathLst>
                <a:path h="4408170" w="4225290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4004818" y="0"/>
                  </a:lnTo>
                  <a:cubicBezTo>
                    <a:pt x="4126611" y="0"/>
                    <a:pt x="4225290" y="98679"/>
                    <a:pt x="4225290" y="220472"/>
                  </a:cubicBezTo>
                  <a:lnTo>
                    <a:pt x="4225290" y="4187698"/>
                  </a:lnTo>
                  <a:cubicBezTo>
                    <a:pt x="4225290" y="4309491"/>
                    <a:pt x="4126611" y="4408170"/>
                    <a:pt x="4004818" y="4408170"/>
                  </a:cubicBezTo>
                  <a:lnTo>
                    <a:pt x="220472" y="4408170"/>
                  </a:lnTo>
                  <a:cubicBezTo>
                    <a:pt x="98679" y="4408170"/>
                    <a:pt x="0" y="4309491"/>
                    <a:pt x="0" y="418769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sp>
        <p:nvSpPr>
          <p:cNvPr name="TextBox 56" id="56"/>
          <p:cNvSpPr txBox="true"/>
          <p:nvPr/>
        </p:nvSpPr>
        <p:spPr>
          <a:xfrm rot="0">
            <a:off x="11109960" y="5027295"/>
            <a:ext cx="27432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 b="true">
                <a:solidFill>
                  <a:srgbClr val="0F1B3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Real speech input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1109960" y="6134100"/>
            <a:ext cx="274320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5627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Streaming STT plugged into the existing chunk interface.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15293340" y="3497580"/>
            <a:ext cx="576072" cy="576072"/>
            <a:chOff x="0" y="0"/>
            <a:chExt cx="768096" cy="76809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0F766E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5293340" y="3497580"/>
            <a:ext cx="576072" cy="576072"/>
            <a:chOff x="0" y="0"/>
            <a:chExt cx="768096" cy="76809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5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4264640" y="4282440"/>
            <a:ext cx="301752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b="true" sz="1650" spc="299">
                <a:solidFill>
                  <a:srgbClr val="55627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PHASE 5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14257496" y="4862036"/>
            <a:ext cx="3168967" cy="3306128"/>
            <a:chOff x="0" y="0"/>
            <a:chExt cx="4225290" cy="440817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225290" cy="4408170"/>
            </a:xfrm>
            <a:custGeom>
              <a:avLst/>
              <a:gdLst/>
              <a:ahLst/>
              <a:cxnLst/>
              <a:rect r="r" b="b" t="t" l="l"/>
              <a:pathLst>
                <a:path h="4408170" w="4225290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4004818" y="0"/>
                  </a:lnTo>
                  <a:cubicBezTo>
                    <a:pt x="4126611" y="0"/>
                    <a:pt x="4225290" y="98679"/>
                    <a:pt x="4225290" y="220472"/>
                  </a:cubicBezTo>
                  <a:lnTo>
                    <a:pt x="4225290" y="4187698"/>
                  </a:lnTo>
                  <a:cubicBezTo>
                    <a:pt x="4225290" y="4309491"/>
                    <a:pt x="4126611" y="4408170"/>
                    <a:pt x="4004818" y="4408170"/>
                  </a:cubicBezTo>
                  <a:lnTo>
                    <a:pt x="220472" y="4408170"/>
                  </a:lnTo>
                  <a:cubicBezTo>
                    <a:pt x="98679" y="4408170"/>
                    <a:pt x="0" y="4309491"/>
                    <a:pt x="0" y="418769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sp>
        <p:nvSpPr>
          <p:cNvPr name="TextBox 66" id="66"/>
          <p:cNvSpPr txBox="true"/>
          <p:nvPr/>
        </p:nvSpPr>
        <p:spPr>
          <a:xfrm rot="0">
            <a:off x="14470380" y="5027295"/>
            <a:ext cx="27432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 b="true">
                <a:solidFill>
                  <a:srgbClr val="0F1B3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Scale + worklet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4470380" y="6134100"/>
            <a:ext cx="274320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5627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Larger corpus, held-out streaming sets, Samsung mentor worklet.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815816" y="8496776"/>
            <a:ext cx="16651796" cy="837248"/>
            <a:chOff x="0" y="0"/>
            <a:chExt cx="22202394" cy="111633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2202394" cy="1116330"/>
            </a:xfrm>
            <a:custGeom>
              <a:avLst/>
              <a:gdLst/>
              <a:ahLst/>
              <a:cxnLst/>
              <a:rect r="r" b="b" t="t" l="l"/>
              <a:pathLst>
                <a:path h="1116330" w="22202394">
                  <a:moveTo>
                    <a:pt x="0" y="223266"/>
                  </a:moveTo>
                  <a:cubicBezTo>
                    <a:pt x="0" y="99949"/>
                    <a:pt x="99949" y="0"/>
                    <a:pt x="223266" y="0"/>
                  </a:cubicBezTo>
                  <a:lnTo>
                    <a:pt x="21979128" y="0"/>
                  </a:lnTo>
                  <a:cubicBezTo>
                    <a:pt x="22102445" y="0"/>
                    <a:pt x="22202394" y="99949"/>
                    <a:pt x="22202394" y="223266"/>
                  </a:cubicBezTo>
                  <a:lnTo>
                    <a:pt x="22202394" y="893064"/>
                  </a:lnTo>
                  <a:cubicBezTo>
                    <a:pt x="22202394" y="1016381"/>
                    <a:pt x="22102445" y="1116330"/>
                    <a:pt x="21979128" y="1116330"/>
                  </a:cubicBezTo>
                  <a:lnTo>
                    <a:pt x="223266" y="1116330"/>
                  </a:lnTo>
                  <a:cubicBezTo>
                    <a:pt x="99949" y="1116330"/>
                    <a:pt x="0" y="1016381"/>
                    <a:pt x="0" y="893064"/>
                  </a:cubicBezTo>
                  <a:close/>
                </a:path>
              </a:pathLst>
            </a:custGeom>
            <a:solidFill>
              <a:srgbClr val="EAF0FB"/>
            </a:solidFill>
            <a:ln w="14288" cap="sq">
              <a:solidFill>
                <a:srgbClr val="D5DDEB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165860" y="8503920"/>
            <a:ext cx="16047720" cy="822960"/>
            <a:chOff x="0" y="0"/>
            <a:chExt cx="21396960" cy="109728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1396961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9958" r="0" b="-329958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2139696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0F766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North star: production-grade streaming retrieval for Samsung voice experiences that feels instantaneous without compromising evidence.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0A1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962888" y="1755648"/>
            <a:ext cx="603504" cy="603504"/>
            <a:chOff x="0" y="0"/>
            <a:chExt cx="804672" cy="8046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7FA2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883128" y="3264408"/>
            <a:ext cx="603504" cy="603504"/>
            <a:chOff x="0" y="0"/>
            <a:chExt cx="804672" cy="8046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4FD1C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648688" y="5184648"/>
            <a:ext cx="603504" cy="603504"/>
            <a:chOff x="0" y="0"/>
            <a:chExt cx="804672" cy="8046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FB718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431768" y="6556248"/>
            <a:ext cx="603504" cy="603504"/>
            <a:chOff x="0" y="0"/>
            <a:chExt cx="804672" cy="80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FBBF2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139928" y="6967728"/>
            <a:ext cx="603504" cy="603504"/>
            <a:chOff x="0" y="0"/>
            <a:chExt cx="804672" cy="80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4FD1C5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97280" y="2562225"/>
            <a:ext cx="10972800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9000" b="true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Thank you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7280" y="4459605"/>
            <a:ext cx="1165860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3499" b="true">
                <a:solidFill>
                  <a:srgbClr val="4FD1C5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Retrieve while the user is still speaking.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97280" y="5831205"/>
            <a:ext cx="123444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Team Cracked Code  ·  VIT Vellore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97280" y="6457950"/>
            <a:ext cx="1234440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Pallavi Yadav  ·  Merril Baiju  ·  Abdur Rahuman  ·  Gowdham B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97280" y="9014460"/>
            <a:ext cx="150876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Built for the Samsung PRISM Generative AI Hackathon, 3rd Edition 2026–27, organised by Samsung R&amp;D Institute India.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DAHWsDt0nIE</dc:identifier>
  <dcterms:modified xsi:type="dcterms:W3CDTF">2011-08-01T06:04:30Z</dcterms:modified>
  <cp:revision>1</cp:revision>
  <dc:title> PRISM_GENAI_HACKATHON_Y2026</dc:title>
</cp:coreProperties>
</file>